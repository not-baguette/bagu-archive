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7" r:id="rId13"/>
    <p:sldId id="268" r:id="rId14"/>
    <p:sldId id="269" r:id="rId15"/>
    <p:sldId id="270" r:id="rId16"/>
    <p:sldId id="278" r:id="rId17"/>
    <p:sldId id="271" r:id="rId18"/>
    <p:sldId id="272" r:id="rId19"/>
    <p:sldId id="273" r:id="rId20"/>
    <p:sldId id="274" r:id="rId21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3"/>
  </p:normalViewPr>
  <p:slideViewPr>
    <p:cSldViewPr>
      <p:cViewPr varScale="1">
        <p:scale>
          <a:sx n="106" d="100"/>
          <a:sy n="106" d="100"/>
        </p:scale>
        <p:origin x="1288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0606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0606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00606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3593" y="835156"/>
            <a:ext cx="4606213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00606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8058" y="1874081"/>
            <a:ext cx="8856345" cy="4967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93202" y="1647825"/>
            <a:ext cx="7706995" cy="7360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4700" spc="-20" dirty="0"/>
              <a:t>Rekayasa Piranti Lunak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46300" y="3095625"/>
            <a:ext cx="6737427" cy="18851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4000" spc="-20" dirty="0">
                <a:solidFill>
                  <a:srgbClr val="006064"/>
                </a:solidFill>
                <a:latin typeface="Arial"/>
                <a:ea typeface="+mj-ea"/>
                <a:cs typeface="Arial"/>
              </a:rPr>
              <a:t>#8</a:t>
            </a:r>
          </a:p>
          <a:p>
            <a:pPr marL="12700">
              <a:spcBef>
                <a:spcPts val="100"/>
              </a:spcBef>
            </a:pPr>
            <a:endParaRPr sz="4000" spc="-20" dirty="0">
              <a:solidFill>
                <a:srgbClr val="006064"/>
              </a:solidFill>
              <a:latin typeface="Arial"/>
              <a:ea typeface="+mj-ea"/>
              <a:cs typeface="Arial"/>
            </a:endParaRPr>
          </a:p>
          <a:p>
            <a:pPr marL="12700" algn="ctr">
              <a:spcBef>
                <a:spcPts val="100"/>
              </a:spcBef>
            </a:pPr>
            <a:r>
              <a:rPr sz="4000" spc="-20" dirty="0">
                <a:solidFill>
                  <a:srgbClr val="006064"/>
                </a:solidFill>
                <a:latin typeface="Arial"/>
                <a:ea typeface="+mj-ea"/>
                <a:cs typeface="Arial"/>
              </a:rPr>
              <a:t>DFD and Flowcharts</a:t>
            </a:r>
            <a:endParaRPr lang="en-ID" sz="4000" spc="-20" dirty="0">
              <a:solidFill>
                <a:srgbClr val="006064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9F13CD-E444-8E43-B4D4-01175C5D7E8B}"/>
              </a:ext>
            </a:extLst>
          </p:cNvPr>
          <p:cNvSpPr txBox="1"/>
          <p:nvPr/>
        </p:nvSpPr>
        <p:spPr>
          <a:xfrm>
            <a:off x="6870700" y="5972020"/>
            <a:ext cx="36127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Eunike Endariahna S, </a:t>
            </a:r>
            <a:r>
              <a:rPr lang="en-ID" dirty="0" err="1"/>
              <a:t>S.Kom</a:t>
            </a:r>
            <a:r>
              <a:rPr lang="en-ID" dirty="0"/>
              <a:t>., M.T.I</a:t>
            </a:r>
          </a:p>
          <a:p>
            <a:br>
              <a:rPr lang="en-ID" dirty="0"/>
            </a:br>
            <a:r>
              <a:rPr lang="en-ID" dirty="0" err="1"/>
              <a:t>Fakultas</a:t>
            </a:r>
            <a:r>
              <a:rPr lang="en-ID" dirty="0"/>
              <a:t> Teknik &amp; </a:t>
            </a:r>
            <a:r>
              <a:rPr lang="en-ID" dirty="0" err="1"/>
              <a:t>Informatika</a:t>
            </a:r>
            <a:endParaRPr lang="en-ID" dirty="0"/>
          </a:p>
          <a:p>
            <a:r>
              <a:rPr lang="en-ID" dirty="0"/>
              <a:t>Prodi </a:t>
            </a:r>
            <a:r>
              <a:rPr lang="en-ID" dirty="0" err="1"/>
              <a:t>Informatika</a:t>
            </a:r>
            <a:r>
              <a:rPr lang="en-ID" dirty="0"/>
              <a:t>, </a:t>
            </a:r>
            <a:r>
              <a:rPr lang="en-ID" dirty="0" err="1"/>
              <a:t>Ganjil</a:t>
            </a:r>
            <a:r>
              <a:rPr lang="en-ID" dirty="0"/>
              <a:t> 2020/2021</a:t>
            </a:r>
          </a:p>
          <a:p>
            <a:r>
              <a:rPr lang="en-ID" dirty="0"/>
              <a:t>Universitas Multimedia Nusantara</a:t>
            </a:r>
          </a:p>
          <a:p>
            <a:br>
              <a:rPr lang="en-ID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6266" y="1157733"/>
            <a:ext cx="569722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-20" dirty="0"/>
              <a:t>Data </a:t>
            </a:r>
            <a:r>
              <a:rPr sz="4700" spc="-15" dirty="0"/>
              <a:t>Flow</a:t>
            </a:r>
            <a:r>
              <a:rPr sz="4700" spc="-90" dirty="0"/>
              <a:t> </a:t>
            </a:r>
            <a:r>
              <a:rPr sz="4700" spc="-20" dirty="0"/>
              <a:t>Diagrams</a:t>
            </a:r>
            <a:endParaRPr sz="4700" dirty="0"/>
          </a:p>
        </p:txBody>
      </p:sp>
      <p:sp>
        <p:nvSpPr>
          <p:cNvPr id="3" name="object 3"/>
          <p:cNvSpPr/>
          <p:nvPr/>
        </p:nvSpPr>
        <p:spPr>
          <a:xfrm>
            <a:off x="2151799" y="2083942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33996" y="2632455"/>
            <a:ext cx="8101330" cy="3115853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98700"/>
              </a:lnSpc>
              <a:spcBef>
                <a:spcPts val="145"/>
              </a:spcBef>
            </a:pPr>
            <a:r>
              <a:rPr sz="3000" spc="-175" dirty="0">
                <a:latin typeface="Arial"/>
                <a:cs typeface="Arial"/>
              </a:rPr>
              <a:t>To </a:t>
            </a:r>
            <a:r>
              <a:rPr sz="3000" spc="-15" dirty="0">
                <a:latin typeface="Arial"/>
                <a:cs typeface="Arial"/>
              </a:rPr>
              <a:t>conceptualize </a:t>
            </a:r>
            <a:r>
              <a:rPr sz="3000" spc="-10" dirty="0">
                <a:latin typeface="Arial"/>
                <a:cs typeface="Arial"/>
              </a:rPr>
              <a:t>how data </a:t>
            </a:r>
            <a:r>
              <a:rPr sz="3000" spc="-15" dirty="0">
                <a:latin typeface="Arial"/>
                <a:cs typeface="Arial"/>
              </a:rPr>
              <a:t>move </a:t>
            </a:r>
            <a:r>
              <a:rPr sz="3000" spc="-10" dirty="0">
                <a:latin typeface="Arial"/>
                <a:cs typeface="Arial"/>
              </a:rPr>
              <a:t>through the  </a:t>
            </a:r>
            <a:r>
              <a:rPr sz="3000" spc="-15" dirty="0">
                <a:latin typeface="Arial"/>
                <a:cs typeface="Arial"/>
              </a:rPr>
              <a:t>organization, </a:t>
            </a:r>
            <a:r>
              <a:rPr sz="3000" spc="-10" dirty="0">
                <a:latin typeface="Arial"/>
                <a:cs typeface="Arial"/>
              </a:rPr>
              <a:t>the </a:t>
            </a:r>
            <a:r>
              <a:rPr sz="3000" spc="-15" dirty="0">
                <a:latin typeface="Arial"/>
                <a:cs typeface="Arial"/>
              </a:rPr>
              <a:t>processes </a:t>
            </a:r>
            <a:r>
              <a:rPr sz="3000" spc="-10" dirty="0">
                <a:latin typeface="Arial"/>
                <a:cs typeface="Arial"/>
              </a:rPr>
              <a:t>or </a:t>
            </a:r>
            <a:r>
              <a:rPr sz="3000" spc="-15" dirty="0">
                <a:latin typeface="Arial"/>
                <a:cs typeface="Arial"/>
              </a:rPr>
              <a:t>transformation  </a:t>
            </a:r>
            <a:r>
              <a:rPr sz="3000" spc="-10" dirty="0">
                <a:latin typeface="Arial"/>
                <a:cs typeface="Arial"/>
              </a:rPr>
              <a:t>that the data undergo, and what the outputs</a:t>
            </a:r>
            <a:r>
              <a:rPr sz="3000" spc="-17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are.</a:t>
            </a:r>
            <a:endParaRPr sz="3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 dirty="0">
              <a:latin typeface="Arial"/>
              <a:cs typeface="Arial"/>
            </a:endParaRPr>
          </a:p>
          <a:p>
            <a:pPr marL="217170" algn="ctr">
              <a:lnSpc>
                <a:spcPct val="100000"/>
              </a:lnSpc>
              <a:spcBef>
                <a:spcPts val="2550"/>
              </a:spcBef>
            </a:pPr>
            <a:r>
              <a:rPr sz="3000" spc="20" dirty="0">
                <a:latin typeface="Arial"/>
                <a:cs typeface="Arial"/>
              </a:rPr>
              <a:t>Using </a:t>
            </a:r>
            <a:r>
              <a:rPr sz="3000" spc="-10" dirty="0">
                <a:latin typeface="Arial"/>
                <a:cs typeface="Arial"/>
              </a:rPr>
              <a:t>only </a:t>
            </a:r>
            <a:r>
              <a:rPr sz="3000" spc="-15" dirty="0">
                <a:latin typeface="Arial"/>
                <a:cs typeface="Arial"/>
              </a:rPr>
              <a:t>four</a:t>
            </a:r>
            <a:r>
              <a:rPr sz="3000" spc="-95" dirty="0">
                <a:latin typeface="Arial"/>
                <a:cs typeface="Arial"/>
              </a:rPr>
              <a:t> </a:t>
            </a:r>
            <a:r>
              <a:rPr sz="3000" spc="5" dirty="0">
                <a:latin typeface="Arial"/>
                <a:cs typeface="Arial"/>
              </a:rPr>
              <a:t>symbols.</a:t>
            </a:r>
            <a:endParaRPr sz="3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84866" y="907802"/>
            <a:ext cx="250063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-20" dirty="0"/>
              <a:t>Symbols</a:t>
            </a:r>
            <a:endParaRPr sz="4700"/>
          </a:p>
        </p:txBody>
      </p:sp>
      <p:sp>
        <p:nvSpPr>
          <p:cNvPr id="3" name="object 3"/>
          <p:cNvSpPr/>
          <p:nvPr/>
        </p:nvSpPr>
        <p:spPr>
          <a:xfrm>
            <a:off x="2151799" y="1834019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024334" y="2464123"/>
            <a:ext cx="1616075" cy="1616075"/>
            <a:chOff x="2024334" y="2464123"/>
            <a:chExt cx="1616075" cy="1616075"/>
          </a:xfrm>
        </p:grpSpPr>
        <p:sp>
          <p:nvSpPr>
            <p:cNvPr id="5" name="object 5"/>
            <p:cNvSpPr/>
            <p:nvPr/>
          </p:nvSpPr>
          <p:spPr>
            <a:xfrm>
              <a:off x="2031072" y="2470861"/>
              <a:ext cx="1440815" cy="1440815"/>
            </a:xfrm>
            <a:custGeom>
              <a:avLst/>
              <a:gdLst/>
              <a:ahLst/>
              <a:cxnLst/>
              <a:rect l="l" t="t" r="r" b="b"/>
              <a:pathLst>
                <a:path w="1440814" h="1440814">
                  <a:moveTo>
                    <a:pt x="1440726" y="0"/>
                  </a:moveTo>
                  <a:lnTo>
                    <a:pt x="0" y="0"/>
                  </a:lnTo>
                  <a:lnTo>
                    <a:pt x="0" y="161709"/>
                  </a:lnTo>
                  <a:lnTo>
                    <a:pt x="0" y="1440713"/>
                  </a:lnTo>
                  <a:lnTo>
                    <a:pt x="1440726" y="1440713"/>
                  </a:lnTo>
                  <a:lnTo>
                    <a:pt x="1440726" y="161709"/>
                  </a:lnTo>
                  <a:lnTo>
                    <a:pt x="14407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31072" y="2470861"/>
              <a:ext cx="1440815" cy="1440815"/>
            </a:xfrm>
            <a:custGeom>
              <a:avLst/>
              <a:gdLst/>
              <a:ahLst/>
              <a:cxnLst/>
              <a:rect l="l" t="t" r="r" b="b"/>
              <a:pathLst>
                <a:path w="1440814" h="1440814">
                  <a:moveTo>
                    <a:pt x="0" y="0"/>
                  </a:moveTo>
                  <a:lnTo>
                    <a:pt x="1440724" y="0"/>
                  </a:lnTo>
                  <a:lnTo>
                    <a:pt x="1440724" y="1440724"/>
                  </a:lnTo>
                  <a:lnTo>
                    <a:pt x="0" y="1440724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92794" y="2632570"/>
              <a:ext cx="1440815" cy="1440815"/>
            </a:xfrm>
            <a:custGeom>
              <a:avLst/>
              <a:gdLst/>
              <a:ahLst/>
              <a:cxnLst/>
              <a:rect l="l" t="t" r="r" b="b"/>
              <a:pathLst>
                <a:path w="1440814" h="1440814">
                  <a:moveTo>
                    <a:pt x="1440713" y="0"/>
                  </a:moveTo>
                  <a:lnTo>
                    <a:pt x="0" y="0"/>
                  </a:lnTo>
                  <a:lnTo>
                    <a:pt x="0" y="1440726"/>
                  </a:lnTo>
                  <a:lnTo>
                    <a:pt x="1440713" y="1440726"/>
                  </a:lnTo>
                  <a:lnTo>
                    <a:pt x="14407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92794" y="2632570"/>
              <a:ext cx="1440815" cy="1440815"/>
            </a:xfrm>
            <a:custGeom>
              <a:avLst/>
              <a:gdLst/>
              <a:ahLst/>
              <a:cxnLst/>
              <a:rect l="l" t="t" r="r" b="b"/>
              <a:pathLst>
                <a:path w="1440814" h="1440814">
                  <a:moveTo>
                    <a:pt x="0" y="0"/>
                  </a:moveTo>
                  <a:lnTo>
                    <a:pt x="1440724" y="0"/>
                  </a:lnTo>
                  <a:lnTo>
                    <a:pt x="1440724" y="1440724"/>
                  </a:lnTo>
                  <a:lnTo>
                    <a:pt x="0" y="1440724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2758833" y="5442618"/>
            <a:ext cx="1808480" cy="363220"/>
          </a:xfrm>
          <a:custGeom>
            <a:avLst/>
            <a:gdLst/>
            <a:ahLst/>
            <a:cxnLst/>
            <a:rect l="l" t="t" r="r" b="b"/>
            <a:pathLst>
              <a:path w="1808479" h="363220">
                <a:moveTo>
                  <a:pt x="1647962" y="181601"/>
                </a:moveTo>
                <a:lnTo>
                  <a:pt x="1465262" y="288180"/>
                </a:lnTo>
                <a:lnTo>
                  <a:pt x="1453267" y="298854"/>
                </a:lnTo>
                <a:lnTo>
                  <a:pt x="1446531" y="312813"/>
                </a:lnTo>
                <a:lnTo>
                  <a:pt x="1445522" y="328279"/>
                </a:lnTo>
                <a:lnTo>
                  <a:pt x="1450708" y="343475"/>
                </a:lnTo>
                <a:lnTo>
                  <a:pt x="1461382" y="355463"/>
                </a:lnTo>
                <a:lnTo>
                  <a:pt x="1475341" y="362195"/>
                </a:lnTo>
                <a:lnTo>
                  <a:pt x="1490807" y="363203"/>
                </a:lnTo>
                <a:lnTo>
                  <a:pt x="1506004" y="358017"/>
                </a:lnTo>
                <a:lnTo>
                  <a:pt x="1739140" y="222025"/>
                </a:lnTo>
                <a:lnTo>
                  <a:pt x="1728203" y="222025"/>
                </a:lnTo>
                <a:lnTo>
                  <a:pt x="1728203" y="216526"/>
                </a:lnTo>
                <a:lnTo>
                  <a:pt x="1707832" y="216526"/>
                </a:lnTo>
                <a:lnTo>
                  <a:pt x="1647962" y="181601"/>
                </a:lnTo>
                <a:close/>
              </a:path>
              <a:path w="1808479" h="363220">
                <a:moveTo>
                  <a:pt x="1578666" y="141177"/>
                </a:moveTo>
                <a:lnTo>
                  <a:pt x="0" y="141177"/>
                </a:lnTo>
                <a:lnTo>
                  <a:pt x="0" y="222025"/>
                </a:lnTo>
                <a:lnTo>
                  <a:pt x="1578666" y="222025"/>
                </a:lnTo>
                <a:lnTo>
                  <a:pt x="1647962" y="181601"/>
                </a:lnTo>
                <a:lnTo>
                  <a:pt x="1578666" y="141177"/>
                </a:lnTo>
                <a:close/>
              </a:path>
              <a:path w="1808479" h="363220">
                <a:moveTo>
                  <a:pt x="1739140" y="141177"/>
                </a:moveTo>
                <a:lnTo>
                  <a:pt x="1728203" y="141177"/>
                </a:lnTo>
                <a:lnTo>
                  <a:pt x="1728203" y="222025"/>
                </a:lnTo>
                <a:lnTo>
                  <a:pt x="1739140" y="222025"/>
                </a:lnTo>
                <a:lnTo>
                  <a:pt x="1808441" y="181601"/>
                </a:lnTo>
                <a:lnTo>
                  <a:pt x="1739140" y="141177"/>
                </a:lnTo>
                <a:close/>
              </a:path>
              <a:path w="1808479" h="363220">
                <a:moveTo>
                  <a:pt x="1707832" y="146676"/>
                </a:moveTo>
                <a:lnTo>
                  <a:pt x="1647962" y="181601"/>
                </a:lnTo>
                <a:lnTo>
                  <a:pt x="1707832" y="216526"/>
                </a:lnTo>
                <a:lnTo>
                  <a:pt x="1707832" y="146676"/>
                </a:lnTo>
                <a:close/>
              </a:path>
              <a:path w="1808479" h="363220">
                <a:moveTo>
                  <a:pt x="1728203" y="146676"/>
                </a:moveTo>
                <a:lnTo>
                  <a:pt x="1707832" y="146676"/>
                </a:lnTo>
                <a:lnTo>
                  <a:pt x="1707832" y="216526"/>
                </a:lnTo>
                <a:lnTo>
                  <a:pt x="1728203" y="216526"/>
                </a:lnTo>
                <a:lnTo>
                  <a:pt x="1728203" y="146676"/>
                </a:lnTo>
                <a:close/>
              </a:path>
              <a:path w="1808479" h="363220">
                <a:moveTo>
                  <a:pt x="1490807" y="0"/>
                </a:moveTo>
                <a:lnTo>
                  <a:pt x="1475341" y="1007"/>
                </a:lnTo>
                <a:lnTo>
                  <a:pt x="1461382" y="7739"/>
                </a:lnTo>
                <a:lnTo>
                  <a:pt x="1450708" y="19727"/>
                </a:lnTo>
                <a:lnTo>
                  <a:pt x="1445522" y="34923"/>
                </a:lnTo>
                <a:lnTo>
                  <a:pt x="1446531" y="50390"/>
                </a:lnTo>
                <a:lnTo>
                  <a:pt x="1453267" y="64349"/>
                </a:lnTo>
                <a:lnTo>
                  <a:pt x="1465262" y="75023"/>
                </a:lnTo>
                <a:lnTo>
                  <a:pt x="1647962" y="181601"/>
                </a:lnTo>
                <a:lnTo>
                  <a:pt x="1707832" y="146676"/>
                </a:lnTo>
                <a:lnTo>
                  <a:pt x="1728203" y="146676"/>
                </a:lnTo>
                <a:lnTo>
                  <a:pt x="1728203" y="141177"/>
                </a:lnTo>
                <a:lnTo>
                  <a:pt x="1739140" y="141177"/>
                </a:lnTo>
                <a:lnTo>
                  <a:pt x="1506004" y="5185"/>
                </a:lnTo>
                <a:lnTo>
                  <a:pt x="14908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894141" y="2316650"/>
            <a:ext cx="1601470" cy="2042795"/>
            <a:chOff x="4894141" y="2316650"/>
            <a:chExt cx="1601470" cy="2042795"/>
          </a:xfrm>
        </p:grpSpPr>
        <p:sp>
          <p:nvSpPr>
            <p:cNvPr id="11" name="object 11"/>
            <p:cNvSpPr/>
            <p:nvPr/>
          </p:nvSpPr>
          <p:spPr>
            <a:xfrm>
              <a:off x="4900879" y="2323388"/>
              <a:ext cx="1588135" cy="2028825"/>
            </a:xfrm>
            <a:custGeom>
              <a:avLst/>
              <a:gdLst/>
              <a:ahLst/>
              <a:cxnLst/>
              <a:rect l="l" t="t" r="r" b="b"/>
              <a:pathLst>
                <a:path w="1588135" h="2028825">
                  <a:moveTo>
                    <a:pt x="0" y="264627"/>
                  </a:moveTo>
                  <a:lnTo>
                    <a:pt x="4263" y="217060"/>
                  </a:lnTo>
                  <a:lnTo>
                    <a:pt x="16555" y="172290"/>
                  </a:lnTo>
                  <a:lnTo>
                    <a:pt x="36129" y="131064"/>
                  </a:lnTo>
                  <a:lnTo>
                    <a:pt x="62236" y="94131"/>
                  </a:lnTo>
                  <a:lnTo>
                    <a:pt x="94131" y="62236"/>
                  </a:lnTo>
                  <a:lnTo>
                    <a:pt x="131064" y="36129"/>
                  </a:lnTo>
                  <a:lnTo>
                    <a:pt x="172290" y="16555"/>
                  </a:lnTo>
                  <a:lnTo>
                    <a:pt x="217060" y="4263"/>
                  </a:lnTo>
                  <a:lnTo>
                    <a:pt x="264627" y="0"/>
                  </a:lnTo>
                  <a:lnTo>
                    <a:pt x="1323100" y="0"/>
                  </a:lnTo>
                  <a:lnTo>
                    <a:pt x="1370669" y="4263"/>
                  </a:lnTo>
                  <a:lnTo>
                    <a:pt x="1415440" y="16555"/>
                  </a:lnTo>
                  <a:lnTo>
                    <a:pt x="1456666" y="36129"/>
                  </a:lnTo>
                  <a:lnTo>
                    <a:pt x="1493600" y="62236"/>
                  </a:lnTo>
                  <a:lnTo>
                    <a:pt x="1525494" y="94131"/>
                  </a:lnTo>
                  <a:lnTo>
                    <a:pt x="1551602" y="131064"/>
                  </a:lnTo>
                  <a:lnTo>
                    <a:pt x="1571175" y="172290"/>
                  </a:lnTo>
                  <a:lnTo>
                    <a:pt x="1583467" y="217060"/>
                  </a:lnTo>
                  <a:lnTo>
                    <a:pt x="1587730" y="264627"/>
                  </a:lnTo>
                  <a:lnTo>
                    <a:pt x="1587730" y="1764140"/>
                  </a:lnTo>
                  <a:lnTo>
                    <a:pt x="1583467" y="1811707"/>
                  </a:lnTo>
                  <a:lnTo>
                    <a:pt x="1571175" y="1856476"/>
                  </a:lnTo>
                  <a:lnTo>
                    <a:pt x="1551602" y="1897702"/>
                  </a:lnTo>
                  <a:lnTo>
                    <a:pt x="1525494" y="1934636"/>
                  </a:lnTo>
                  <a:lnTo>
                    <a:pt x="1493600" y="1966531"/>
                  </a:lnTo>
                  <a:lnTo>
                    <a:pt x="1456666" y="1992640"/>
                  </a:lnTo>
                  <a:lnTo>
                    <a:pt x="1415440" y="2012214"/>
                  </a:lnTo>
                  <a:lnTo>
                    <a:pt x="1370669" y="2024507"/>
                  </a:lnTo>
                  <a:lnTo>
                    <a:pt x="1323100" y="2028771"/>
                  </a:lnTo>
                  <a:lnTo>
                    <a:pt x="264627" y="2028771"/>
                  </a:lnTo>
                  <a:lnTo>
                    <a:pt x="217060" y="2024507"/>
                  </a:lnTo>
                  <a:lnTo>
                    <a:pt x="172290" y="2012214"/>
                  </a:lnTo>
                  <a:lnTo>
                    <a:pt x="131064" y="1992640"/>
                  </a:lnTo>
                  <a:lnTo>
                    <a:pt x="94131" y="1966531"/>
                  </a:lnTo>
                  <a:lnTo>
                    <a:pt x="62236" y="1934636"/>
                  </a:lnTo>
                  <a:lnTo>
                    <a:pt x="36129" y="1897702"/>
                  </a:lnTo>
                  <a:lnTo>
                    <a:pt x="16555" y="1856476"/>
                  </a:lnTo>
                  <a:lnTo>
                    <a:pt x="4263" y="1811707"/>
                  </a:lnTo>
                  <a:lnTo>
                    <a:pt x="0" y="1764140"/>
                  </a:lnTo>
                  <a:lnTo>
                    <a:pt x="0" y="264627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00879" y="2755176"/>
              <a:ext cx="1588135" cy="0"/>
            </a:xfrm>
            <a:custGeom>
              <a:avLst/>
              <a:gdLst/>
              <a:ahLst/>
              <a:cxnLst/>
              <a:rect l="l" t="t" r="r" b="b"/>
              <a:pathLst>
                <a:path w="1588135">
                  <a:moveTo>
                    <a:pt x="0" y="0"/>
                  </a:moveTo>
                  <a:lnTo>
                    <a:pt x="1587730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6281610" y="5298059"/>
            <a:ext cx="2352675" cy="0"/>
          </a:xfrm>
          <a:custGeom>
            <a:avLst/>
            <a:gdLst/>
            <a:ahLst/>
            <a:cxnLst/>
            <a:rect l="l" t="t" r="r" b="b"/>
            <a:pathLst>
              <a:path w="2352675">
                <a:moveTo>
                  <a:pt x="0" y="0"/>
                </a:moveTo>
                <a:lnTo>
                  <a:pt x="2352198" y="1"/>
                </a:lnTo>
              </a:path>
            </a:pathLst>
          </a:custGeom>
          <a:ln w="13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81604" y="5950368"/>
            <a:ext cx="2352675" cy="0"/>
          </a:xfrm>
          <a:custGeom>
            <a:avLst/>
            <a:gdLst/>
            <a:ahLst/>
            <a:cxnLst/>
            <a:rect l="l" t="t" r="r" b="b"/>
            <a:pathLst>
              <a:path w="2352675">
                <a:moveTo>
                  <a:pt x="2352198" y="0"/>
                </a:moveTo>
                <a:lnTo>
                  <a:pt x="0" y="1"/>
                </a:lnTo>
              </a:path>
            </a:pathLst>
          </a:custGeom>
          <a:ln w="13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00731" y="4180332"/>
            <a:ext cx="6991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5" dirty="0">
                <a:latin typeface="Arial"/>
                <a:cs typeface="Arial"/>
              </a:rPr>
              <a:t>En</a:t>
            </a:r>
            <a:r>
              <a:rPr sz="1900" b="1" dirty="0">
                <a:latin typeface="Arial"/>
                <a:cs typeface="Arial"/>
              </a:rPr>
              <a:t>tity</a:t>
            </a:r>
            <a:endParaRPr sz="1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04828" y="4415027"/>
            <a:ext cx="9683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5" dirty="0">
                <a:latin typeface="Arial"/>
                <a:cs typeface="Arial"/>
              </a:rPr>
              <a:t>P</a:t>
            </a:r>
            <a:r>
              <a:rPr sz="1900" b="1" dirty="0">
                <a:latin typeface="Arial"/>
                <a:cs typeface="Arial"/>
              </a:rPr>
              <a:t>r</a:t>
            </a:r>
            <a:r>
              <a:rPr sz="1900" b="1" spc="5" dirty="0">
                <a:latin typeface="Arial"/>
                <a:cs typeface="Arial"/>
              </a:rPr>
              <a:t>o</a:t>
            </a:r>
            <a:r>
              <a:rPr sz="1900" b="1" dirty="0">
                <a:latin typeface="Arial"/>
                <a:cs typeface="Arial"/>
              </a:rPr>
              <a:t>cess</a:t>
            </a:r>
            <a:endParaRPr sz="1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04883" y="5942075"/>
            <a:ext cx="11696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latin typeface="Arial"/>
                <a:cs typeface="Arial"/>
              </a:rPr>
              <a:t>Data</a:t>
            </a:r>
            <a:r>
              <a:rPr sz="1900" b="1" spc="-6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Flow</a:t>
            </a:r>
            <a:endParaRPr sz="1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31710" y="6073139"/>
            <a:ext cx="12376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latin typeface="Arial"/>
                <a:cs typeface="Arial"/>
              </a:rPr>
              <a:t>Data</a:t>
            </a:r>
            <a:r>
              <a:rPr sz="1900" b="1" spc="-6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Store</a:t>
            </a:r>
            <a:endParaRPr sz="1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85059" y="3223259"/>
            <a:ext cx="86042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latin typeface="Arial"/>
                <a:cs typeface="Arial"/>
              </a:rPr>
              <a:t>S</a:t>
            </a:r>
            <a:r>
              <a:rPr sz="1900" dirty="0">
                <a:latin typeface="Arial"/>
                <a:cs typeface="Arial"/>
              </a:rPr>
              <a:t>tudent</a:t>
            </a:r>
            <a:endParaRPr sz="1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41404" y="3237484"/>
            <a:ext cx="1334135" cy="47053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344805">
              <a:lnSpc>
                <a:spcPts val="1700"/>
              </a:lnSpc>
              <a:spcBef>
                <a:spcPts val="240"/>
              </a:spcBef>
            </a:pPr>
            <a:r>
              <a:rPr sz="1500" spc="-10" dirty="0">
                <a:latin typeface="Arial"/>
                <a:cs typeface="Arial"/>
              </a:rPr>
              <a:t>Create  </a:t>
            </a:r>
            <a:r>
              <a:rPr sz="1500" spc="-15" dirty="0">
                <a:latin typeface="Arial"/>
                <a:cs typeface="Arial"/>
              </a:rPr>
              <a:t>Student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Record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84974" y="5467604"/>
            <a:ext cx="14897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latin typeface="Arial"/>
                <a:cs typeface="Arial"/>
              </a:rPr>
              <a:t>Student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Master</a:t>
            </a:r>
            <a:endParaRPr sz="1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13056" y="2388107"/>
            <a:ext cx="16002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latin typeface="Arial"/>
                <a:cs typeface="Arial"/>
              </a:rPr>
              <a:t>1</a:t>
            </a:r>
            <a:endParaRPr sz="1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38602" y="5172964"/>
            <a:ext cx="16681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5" dirty="0">
                <a:latin typeface="Arial"/>
                <a:cs typeface="Arial"/>
              </a:rPr>
              <a:t>Student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15" dirty="0">
                <a:latin typeface="Arial"/>
                <a:cs typeface="Arial"/>
              </a:rPr>
              <a:t>Information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81611" y="5298059"/>
            <a:ext cx="630555" cy="652780"/>
          </a:xfrm>
          <a:prstGeom prst="rect">
            <a:avLst/>
          </a:prstGeom>
          <a:ln w="13477">
            <a:solidFill>
              <a:srgbClr val="000000"/>
            </a:solidFill>
          </a:ln>
        </p:spPr>
        <p:txBody>
          <a:bodyPr vert="horz" wrap="square" lIns="0" tIns="165735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1305"/>
              </a:spcBef>
            </a:pPr>
            <a:r>
              <a:rPr sz="1900" spc="5" dirty="0">
                <a:latin typeface="Arial"/>
                <a:cs typeface="Arial"/>
              </a:rPr>
              <a:t>D1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0054" y="907802"/>
            <a:ext cx="451040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-20" dirty="0"/>
              <a:t>Symbols:</a:t>
            </a:r>
            <a:r>
              <a:rPr sz="4700" spc="-80" dirty="0"/>
              <a:t> </a:t>
            </a:r>
            <a:r>
              <a:rPr sz="4700" spc="-15" dirty="0"/>
              <a:t>Entity</a:t>
            </a:r>
            <a:endParaRPr sz="4700"/>
          </a:p>
        </p:txBody>
      </p:sp>
      <p:sp>
        <p:nvSpPr>
          <p:cNvPr id="3" name="object 3"/>
          <p:cNvSpPr/>
          <p:nvPr/>
        </p:nvSpPr>
        <p:spPr>
          <a:xfrm>
            <a:off x="2151799" y="1834019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242579" y="3428942"/>
            <a:ext cx="1616075" cy="1616075"/>
            <a:chOff x="1242579" y="3428942"/>
            <a:chExt cx="1616075" cy="1616075"/>
          </a:xfrm>
        </p:grpSpPr>
        <p:sp>
          <p:nvSpPr>
            <p:cNvPr id="5" name="object 5"/>
            <p:cNvSpPr/>
            <p:nvPr/>
          </p:nvSpPr>
          <p:spPr>
            <a:xfrm>
              <a:off x="1249311" y="3435680"/>
              <a:ext cx="1440815" cy="1440815"/>
            </a:xfrm>
            <a:custGeom>
              <a:avLst/>
              <a:gdLst/>
              <a:ahLst/>
              <a:cxnLst/>
              <a:rect l="l" t="t" r="r" b="b"/>
              <a:pathLst>
                <a:path w="1440814" h="1440814">
                  <a:moveTo>
                    <a:pt x="1440726" y="0"/>
                  </a:moveTo>
                  <a:lnTo>
                    <a:pt x="0" y="0"/>
                  </a:lnTo>
                  <a:lnTo>
                    <a:pt x="0" y="161721"/>
                  </a:lnTo>
                  <a:lnTo>
                    <a:pt x="0" y="1440726"/>
                  </a:lnTo>
                  <a:lnTo>
                    <a:pt x="1440726" y="1440726"/>
                  </a:lnTo>
                  <a:lnTo>
                    <a:pt x="1440726" y="161721"/>
                  </a:lnTo>
                  <a:lnTo>
                    <a:pt x="14407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49318" y="3435680"/>
              <a:ext cx="1440815" cy="1440815"/>
            </a:xfrm>
            <a:custGeom>
              <a:avLst/>
              <a:gdLst/>
              <a:ahLst/>
              <a:cxnLst/>
              <a:rect l="l" t="t" r="r" b="b"/>
              <a:pathLst>
                <a:path w="1440814" h="1440814">
                  <a:moveTo>
                    <a:pt x="0" y="0"/>
                  </a:moveTo>
                  <a:lnTo>
                    <a:pt x="1440724" y="0"/>
                  </a:lnTo>
                  <a:lnTo>
                    <a:pt x="1440724" y="1440724"/>
                  </a:lnTo>
                  <a:lnTo>
                    <a:pt x="0" y="1440724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11033" y="3597402"/>
              <a:ext cx="1440815" cy="1440815"/>
            </a:xfrm>
            <a:custGeom>
              <a:avLst/>
              <a:gdLst/>
              <a:ahLst/>
              <a:cxnLst/>
              <a:rect l="l" t="t" r="r" b="b"/>
              <a:pathLst>
                <a:path w="1440814" h="1440814">
                  <a:moveTo>
                    <a:pt x="1440713" y="0"/>
                  </a:moveTo>
                  <a:lnTo>
                    <a:pt x="0" y="0"/>
                  </a:lnTo>
                  <a:lnTo>
                    <a:pt x="0" y="1440713"/>
                  </a:lnTo>
                  <a:lnTo>
                    <a:pt x="1440713" y="1440713"/>
                  </a:lnTo>
                  <a:lnTo>
                    <a:pt x="14407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11033" y="3597402"/>
              <a:ext cx="1440815" cy="1440815"/>
            </a:xfrm>
            <a:custGeom>
              <a:avLst/>
              <a:gdLst/>
              <a:ahLst/>
              <a:cxnLst/>
              <a:rect l="l" t="t" r="r" b="b"/>
              <a:pathLst>
                <a:path w="1440814" h="1440814">
                  <a:moveTo>
                    <a:pt x="0" y="0"/>
                  </a:moveTo>
                  <a:lnTo>
                    <a:pt x="1440724" y="0"/>
                  </a:lnTo>
                  <a:lnTo>
                    <a:pt x="1440724" y="1440724"/>
                  </a:lnTo>
                  <a:lnTo>
                    <a:pt x="0" y="1440724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11566" y="5138623"/>
            <a:ext cx="7136130" cy="11430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900" b="1" dirty="0">
                <a:latin typeface="Arial"/>
                <a:cs typeface="Arial"/>
              </a:rPr>
              <a:t>Entity</a:t>
            </a:r>
            <a:endParaRPr sz="1900">
              <a:latin typeface="Arial"/>
              <a:cs typeface="Arial"/>
            </a:endParaRPr>
          </a:p>
          <a:p>
            <a:pPr marL="2240280" marR="5080" indent="-303530">
              <a:lnSpc>
                <a:spcPct val="103200"/>
              </a:lnSpc>
              <a:spcBef>
                <a:spcPts val="145"/>
              </a:spcBef>
              <a:buChar char="•"/>
              <a:tabLst>
                <a:tab pos="2240280" algn="l"/>
                <a:tab pos="2240915" algn="l"/>
              </a:tabLst>
            </a:pPr>
            <a:r>
              <a:rPr sz="2500" spc="20" dirty="0">
                <a:latin typeface="Arial"/>
                <a:cs typeface="Arial"/>
              </a:rPr>
              <a:t>Example: </a:t>
            </a:r>
            <a:r>
              <a:rPr sz="2500" spc="15" dirty="0">
                <a:latin typeface="Arial"/>
                <a:cs typeface="Arial"/>
              </a:rPr>
              <a:t>Student, </a:t>
            </a:r>
            <a:r>
              <a:rPr sz="2500" dirty="0">
                <a:latin typeface="Arial"/>
                <a:cs typeface="Arial"/>
              </a:rPr>
              <a:t>IT </a:t>
            </a:r>
            <a:r>
              <a:rPr sz="2500" spc="20" dirty="0">
                <a:latin typeface="Arial"/>
                <a:cs typeface="Arial"/>
              </a:rPr>
              <a:t>Department,  </a:t>
            </a:r>
            <a:r>
              <a:rPr sz="2500" spc="15" dirty="0">
                <a:latin typeface="Arial"/>
                <a:cs typeface="Arial"/>
              </a:rPr>
              <a:t>API, </a:t>
            </a:r>
            <a:r>
              <a:rPr sz="2500" spc="20" dirty="0">
                <a:latin typeface="Arial"/>
                <a:cs typeface="Arial"/>
              </a:rPr>
              <a:t>Cash</a:t>
            </a:r>
            <a:r>
              <a:rPr sz="2500" spc="25" dirty="0">
                <a:latin typeface="Arial"/>
                <a:cs typeface="Arial"/>
              </a:rPr>
              <a:t> </a:t>
            </a:r>
            <a:r>
              <a:rPr sz="2500" spc="20" dirty="0">
                <a:latin typeface="Arial"/>
                <a:cs typeface="Arial"/>
              </a:rPr>
              <a:t>Register</a:t>
            </a:r>
            <a:endParaRPr sz="2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5894" y="4201667"/>
            <a:ext cx="86042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latin typeface="Arial"/>
                <a:cs typeface="Arial"/>
              </a:rPr>
              <a:t>S</a:t>
            </a:r>
            <a:r>
              <a:rPr sz="1900" dirty="0">
                <a:latin typeface="Arial"/>
                <a:cs typeface="Arial"/>
              </a:rPr>
              <a:t>tudent</a:t>
            </a:r>
            <a:endParaRPr sz="1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36505" y="2775202"/>
            <a:ext cx="5689600" cy="2339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5595" marR="904240" indent="-303530">
              <a:lnSpc>
                <a:spcPts val="3120"/>
              </a:lnSpc>
              <a:spcBef>
                <a:spcPts val="105"/>
              </a:spcBef>
              <a:buChar char="•"/>
              <a:tabLst>
                <a:tab pos="315595" algn="l"/>
                <a:tab pos="316230" algn="l"/>
              </a:tabLst>
            </a:pPr>
            <a:r>
              <a:rPr sz="2500" spc="15" dirty="0">
                <a:latin typeface="Arial"/>
                <a:cs typeface="Arial"/>
              </a:rPr>
              <a:t>External </a:t>
            </a:r>
            <a:r>
              <a:rPr sz="2500" spc="10" dirty="0">
                <a:latin typeface="Arial"/>
                <a:cs typeface="Arial"/>
              </a:rPr>
              <a:t>entity that </a:t>
            </a:r>
            <a:r>
              <a:rPr sz="2500" spc="15" dirty="0">
                <a:latin typeface="Arial"/>
                <a:cs typeface="Arial"/>
              </a:rPr>
              <a:t>can send </a:t>
            </a:r>
            <a:r>
              <a:rPr sz="2500" spc="25" dirty="0">
                <a:latin typeface="Arial"/>
                <a:cs typeface="Arial"/>
              </a:rPr>
              <a:t>or  </a:t>
            </a:r>
            <a:r>
              <a:rPr sz="2500" spc="15" dirty="0">
                <a:latin typeface="Arial"/>
                <a:cs typeface="Arial"/>
              </a:rPr>
              <a:t>receive </a:t>
            </a:r>
            <a:r>
              <a:rPr sz="2500" spc="10" dirty="0">
                <a:latin typeface="Arial"/>
                <a:cs typeface="Arial"/>
              </a:rPr>
              <a:t>data from the</a:t>
            </a:r>
            <a:r>
              <a:rPr sz="2500" spc="80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software</a:t>
            </a:r>
            <a:endParaRPr sz="2500">
              <a:latin typeface="Arial"/>
              <a:cs typeface="Arial"/>
            </a:endParaRPr>
          </a:p>
          <a:p>
            <a:pPr marL="315595" indent="-303530">
              <a:lnSpc>
                <a:spcPts val="2875"/>
              </a:lnSpc>
              <a:buChar char="•"/>
              <a:tabLst>
                <a:tab pos="315595" algn="l"/>
                <a:tab pos="316230" algn="l"/>
              </a:tabLst>
            </a:pPr>
            <a:r>
              <a:rPr sz="2500" spc="15" dirty="0">
                <a:latin typeface="Arial"/>
                <a:cs typeface="Arial"/>
              </a:rPr>
              <a:t>Outside </a:t>
            </a:r>
            <a:r>
              <a:rPr sz="2500" spc="10" dirty="0">
                <a:latin typeface="Arial"/>
                <a:cs typeface="Arial"/>
              </a:rPr>
              <a:t>the </a:t>
            </a:r>
            <a:r>
              <a:rPr sz="2500" spc="20" dirty="0">
                <a:latin typeface="Arial"/>
                <a:cs typeface="Arial"/>
              </a:rPr>
              <a:t>boundaries </a:t>
            </a:r>
            <a:r>
              <a:rPr sz="2500" spc="10" dirty="0">
                <a:latin typeface="Arial"/>
                <a:cs typeface="Arial"/>
              </a:rPr>
              <a:t>of</a:t>
            </a:r>
            <a:r>
              <a:rPr sz="2500" spc="50" dirty="0">
                <a:latin typeface="Arial"/>
                <a:cs typeface="Arial"/>
              </a:rPr>
              <a:t> </a:t>
            </a:r>
            <a:r>
              <a:rPr sz="2500" spc="10" dirty="0">
                <a:latin typeface="Arial"/>
                <a:cs typeface="Arial"/>
              </a:rPr>
              <a:t>the</a:t>
            </a:r>
            <a:endParaRPr sz="250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95"/>
              </a:spcBef>
            </a:pPr>
            <a:r>
              <a:rPr sz="2500" spc="15" dirty="0">
                <a:latin typeface="Arial"/>
                <a:cs typeface="Arial"/>
              </a:rPr>
              <a:t>software</a:t>
            </a:r>
            <a:endParaRPr sz="2500">
              <a:latin typeface="Arial"/>
              <a:cs typeface="Arial"/>
            </a:endParaRPr>
          </a:p>
          <a:p>
            <a:pPr marL="315595" marR="5080" indent="-303530">
              <a:lnSpc>
                <a:spcPct val="100000"/>
              </a:lnSpc>
              <a:buChar char="•"/>
              <a:tabLst>
                <a:tab pos="315595" algn="l"/>
                <a:tab pos="316230" algn="l"/>
              </a:tabLst>
            </a:pPr>
            <a:r>
              <a:rPr sz="2500" spc="25" dirty="0">
                <a:latin typeface="Arial"/>
                <a:cs typeface="Arial"/>
              </a:rPr>
              <a:t>Same </a:t>
            </a:r>
            <a:r>
              <a:rPr sz="2500" spc="10" dirty="0">
                <a:latin typeface="Arial"/>
                <a:cs typeface="Arial"/>
              </a:rPr>
              <a:t>entity </a:t>
            </a:r>
            <a:r>
              <a:rPr sz="2500" spc="20" dirty="0">
                <a:latin typeface="Arial"/>
                <a:cs typeface="Arial"/>
              </a:rPr>
              <a:t>may </a:t>
            </a:r>
            <a:r>
              <a:rPr sz="2500" spc="10" dirty="0">
                <a:latin typeface="Arial"/>
                <a:cs typeface="Arial"/>
              </a:rPr>
              <a:t>be </a:t>
            </a:r>
            <a:r>
              <a:rPr sz="2500" spc="15" dirty="0">
                <a:latin typeface="Arial"/>
                <a:cs typeface="Arial"/>
              </a:rPr>
              <a:t>used more </a:t>
            </a:r>
            <a:r>
              <a:rPr sz="2500" spc="20" dirty="0">
                <a:latin typeface="Arial"/>
                <a:cs typeface="Arial"/>
              </a:rPr>
              <a:t>than  </a:t>
            </a:r>
            <a:r>
              <a:rPr sz="2500" spc="15" dirty="0">
                <a:latin typeface="Arial"/>
                <a:cs typeface="Arial"/>
              </a:rPr>
              <a:t>once </a:t>
            </a:r>
            <a:r>
              <a:rPr sz="2500" dirty="0">
                <a:latin typeface="Arial"/>
                <a:cs typeface="Arial"/>
              </a:rPr>
              <a:t>to </a:t>
            </a:r>
            <a:r>
              <a:rPr sz="2500" spc="15" dirty="0">
                <a:latin typeface="Arial"/>
                <a:cs typeface="Arial"/>
              </a:rPr>
              <a:t>avoid crossing </a:t>
            </a:r>
            <a:r>
              <a:rPr sz="2500" spc="10" dirty="0">
                <a:latin typeface="Arial"/>
                <a:cs typeface="Arial"/>
              </a:rPr>
              <a:t>data flow</a:t>
            </a:r>
            <a:r>
              <a:rPr sz="2500" spc="135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lines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8880" y="907802"/>
            <a:ext cx="583311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-20" dirty="0"/>
              <a:t>Symbols:</a:t>
            </a:r>
            <a:r>
              <a:rPr sz="4700" spc="-85" dirty="0"/>
              <a:t> </a:t>
            </a:r>
            <a:r>
              <a:rPr sz="4700" spc="-15" dirty="0"/>
              <a:t>Processes</a:t>
            </a:r>
            <a:endParaRPr sz="4700"/>
          </a:p>
        </p:txBody>
      </p:sp>
      <p:sp>
        <p:nvSpPr>
          <p:cNvPr id="3" name="object 3"/>
          <p:cNvSpPr/>
          <p:nvPr/>
        </p:nvSpPr>
        <p:spPr>
          <a:xfrm>
            <a:off x="2151799" y="1834019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36505" y="2467355"/>
            <a:ext cx="5398770" cy="38874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15595" marR="182880" indent="-303530">
              <a:lnSpc>
                <a:spcPct val="101600"/>
              </a:lnSpc>
              <a:spcBef>
                <a:spcPts val="50"/>
              </a:spcBef>
              <a:buChar char="•"/>
              <a:tabLst>
                <a:tab pos="315595" algn="l"/>
                <a:tab pos="316230" algn="l"/>
              </a:tabLst>
            </a:pPr>
            <a:r>
              <a:rPr sz="2500" spc="15" dirty="0">
                <a:latin typeface="Arial"/>
                <a:cs typeface="Arial"/>
              </a:rPr>
              <a:t>For high-level process, </a:t>
            </a:r>
            <a:r>
              <a:rPr sz="2500" spc="20" dirty="0">
                <a:latin typeface="Arial"/>
                <a:cs typeface="Arial"/>
              </a:rPr>
              <a:t>name </a:t>
            </a:r>
            <a:r>
              <a:rPr sz="2500" spc="10" dirty="0">
                <a:latin typeface="Arial"/>
                <a:cs typeface="Arial"/>
              </a:rPr>
              <a:t>the  </a:t>
            </a:r>
            <a:r>
              <a:rPr sz="2500" spc="15" dirty="0">
                <a:latin typeface="Arial"/>
                <a:cs typeface="Arial"/>
              </a:rPr>
              <a:t>process </a:t>
            </a:r>
            <a:r>
              <a:rPr sz="2500" spc="10" dirty="0">
                <a:latin typeface="Arial"/>
                <a:cs typeface="Arial"/>
              </a:rPr>
              <a:t>as the </a:t>
            </a:r>
            <a:r>
              <a:rPr sz="2500" spc="15" dirty="0">
                <a:latin typeface="Arial"/>
                <a:cs typeface="Arial"/>
              </a:rPr>
              <a:t>whole system (e.g.  Inventory </a:t>
            </a:r>
            <a:r>
              <a:rPr sz="2500" spc="20" dirty="0">
                <a:latin typeface="Arial"/>
                <a:cs typeface="Arial"/>
              </a:rPr>
              <a:t>Control</a:t>
            </a:r>
            <a:r>
              <a:rPr sz="2500" spc="25" dirty="0">
                <a:latin typeface="Arial"/>
                <a:cs typeface="Arial"/>
              </a:rPr>
              <a:t> </a:t>
            </a:r>
            <a:r>
              <a:rPr sz="2500" spc="20" dirty="0">
                <a:latin typeface="Arial"/>
                <a:cs typeface="Arial"/>
              </a:rPr>
              <a:t>System)</a:t>
            </a:r>
            <a:endParaRPr sz="2500">
              <a:latin typeface="Arial"/>
              <a:cs typeface="Arial"/>
            </a:endParaRPr>
          </a:p>
          <a:p>
            <a:pPr marL="315595" marR="294005" indent="-303530">
              <a:lnSpc>
                <a:spcPct val="100000"/>
              </a:lnSpc>
              <a:spcBef>
                <a:spcPts val="120"/>
              </a:spcBef>
              <a:buChar char="•"/>
              <a:tabLst>
                <a:tab pos="315595" algn="l"/>
                <a:tab pos="316230" algn="l"/>
              </a:tabLst>
            </a:pPr>
            <a:r>
              <a:rPr sz="2500" spc="15" dirty="0">
                <a:latin typeface="Arial"/>
                <a:cs typeface="Arial"/>
              </a:rPr>
              <a:t>For major subsystem, use </a:t>
            </a:r>
            <a:r>
              <a:rPr sz="2500" spc="20" dirty="0">
                <a:latin typeface="Arial"/>
                <a:cs typeface="Arial"/>
              </a:rPr>
              <a:t>names  </a:t>
            </a:r>
            <a:r>
              <a:rPr sz="2500" spc="15" dirty="0">
                <a:latin typeface="Arial"/>
                <a:cs typeface="Arial"/>
              </a:rPr>
              <a:t>such </a:t>
            </a:r>
            <a:r>
              <a:rPr sz="2500" spc="10" dirty="0">
                <a:latin typeface="Arial"/>
                <a:cs typeface="Arial"/>
              </a:rPr>
              <a:t>as </a:t>
            </a:r>
            <a:r>
              <a:rPr sz="2500" spc="15" dirty="0">
                <a:latin typeface="Arial"/>
                <a:cs typeface="Arial"/>
              </a:rPr>
              <a:t>Inventory</a:t>
            </a:r>
            <a:r>
              <a:rPr sz="2500" spc="55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Reporting</a:t>
            </a:r>
            <a:endParaRPr sz="2500">
              <a:latin typeface="Arial"/>
              <a:cs typeface="Arial"/>
            </a:endParaRPr>
          </a:p>
          <a:p>
            <a:pPr marL="315595" marR="416559">
              <a:lnSpc>
                <a:spcPts val="3100"/>
              </a:lnSpc>
              <a:spcBef>
                <a:spcPts val="20"/>
              </a:spcBef>
            </a:pPr>
            <a:r>
              <a:rPr sz="2500" spc="20" dirty="0">
                <a:latin typeface="Arial"/>
                <a:cs typeface="Arial"/>
              </a:rPr>
              <a:t>Subsystem </a:t>
            </a:r>
            <a:r>
              <a:rPr sz="2500" spc="10" dirty="0">
                <a:latin typeface="Arial"/>
                <a:cs typeface="Arial"/>
              </a:rPr>
              <a:t>or </a:t>
            </a:r>
            <a:r>
              <a:rPr sz="2500" spc="15" dirty="0">
                <a:latin typeface="Arial"/>
                <a:cs typeface="Arial"/>
              </a:rPr>
              <a:t>Internet </a:t>
            </a:r>
            <a:r>
              <a:rPr sz="2500" spc="20" dirty="0">
                <a:latin typeface="Arial"/>
                <a:cs typeface="Arial"/>
              </a:rPr>
              <a:t>Customer  </a:t>
            </a:r>
            <a:r>
              <a:rPr sz="2500" spc="15" dirty="0">
                <a:latin typeface="Arial"/>
                <a:cs typeface="Arial"/>
              </a:rPr>
              <a:t>Fulfillment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20" dirty="0">
                <a:latin typeface="Arial"/>
                <a:cs typeface="Arial"/>
              </a:rPr>
              <a:t>Subsystem.</a:t>
            </a:r>
            <a:endParaRPr sz="2500">
              <a:latin typeface="Arial"/>
              <a:cs typeface="Arial"/>
            </a:endParaRPr>
          </a:p>
          <a:p>
            <a:pPr marL="315595" indent="-303530">
              <a:lnSpc>
                <a:spcPts val="2875"/>
              </a:lnSpc>
              <a:buChar char="•"/>
              <a:tabLst>
                <a:tab pos="315595" algn="l"/>
                <a:tab pos="316230" algn="l"/>
              </a:tabLst>
            </a:pPr>
            <a:r>
              <a:rPr sz="2500" spc="15" dirty="0">
                <a:latin typeface="Arial"/>
                <a:cs typeface="Arial"/>
              </a:rPr>
              <a:t>For detailed processes, use </a:t>
            </a:r>
            <a:r>
              <a:rPr sz="2500" dirty="0">
                <a:latin typeface="Arial"/>
                <a:cs typeface="Arial"/>
              </a:rPr>
              <a:t>a</a:t>
            </a:r>
            <a:r>
              <a:rPr sz="2500" spc="55" dirty="0">
                <a:latin typeface="Arial"/>
                <a:cs typeface="Arial"/>
              </a:rPr>
              <a:t> </a:t>
            </a:r>
            <a:r>
              <a:rPr sz="2500" spc="10" dirty="0">
                <a:latin typeface="Arial"/>
                <a:cs typeface="Arial"/>
              </a:rPr>
              <a:t>verb-</a:t>
            </a:r>
            <a:endParaRPr sz="250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95"/>
              </a:spcBef>
            </a:pPr>
            <a:r>
              <a:rPr sz="2500" spc="15" dirty="0">
                <a:latin typeface="Arial"/>
                <a:cs typeface="Arial"/>
              </a:rPr>
              <a:t>adjective-noun</a:t>
            </a:r>
            <a:r>
              <a:rPr sz="2500" spc="30" dirty="0">
                <a:latin typeface="Arial"/>
                <a:cs typeface="Arial"/>
              </a:rPr>
              <a:t> </a:t>
            </a:r>
            <a:r>
              <a:rPr sz="2500" spc="20" dirty="0">
                <a:latin typeface="Arial"/>
                <a:cs typeface="Arial"/>
              </a:rPr>
              <a:t>combination</a:t>
            </a:r>
            <a:endParaRPr sz="2500">
              <a:latin typeface="Arial"/>
              <a:cs typeface="Arial"/>
            </a:endParaRPr>
          </a:p>
          <a:p>
            <a:pPr marL="315595" indent="-303530">
              <a:lnSpc>
                <a:spcPct val="100000"/>
              </a:lnSpc>
              <a:buChar char="•"/>
              <a:tabLst>
                <a:tab pos="315595" algn="l"/>
                <a:tab pos="316230" algn="l"/>
              </a:tabLst>
            </a:pPr>
            <a:r>
              <a:rPr sz="2500" spc="15" dirty="0">
                <a:latin typeface="Arial"/>
                <a:cs typeface="Arial"/>
              </a:rPr>
              <a:t>Use </a:t>
            </a:r>
            <a:r>
              <a:rPr sz="2500" spc="20" dirty="0">
                <a:latin typeface="Arial"/>
                <a:cs typeface="Arial"/>
              </a:rPr>
              <a:t>number </a:t>
            </a:r>
            <a:r>
              <a:rPr sz="2500" dirty="0">
                <a:latin typeface="Arial"/>
                <a:cs typeface="Arial"/>
              </a:rPr>
              <a:t>to </a:t>
            </a:r>
            <a:r>
              <a:rPr sz="2500" spc="15" dirty="0">
                <a:latin typeface="Arial"/>
                <a:cs typeface="Arial"/>
              </a:rPr>
              <a:t>assign</a:t>
            </a:r>
            <a:r>
              <a:rPr sz="2500" spc="80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levels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51196" y="3011569"/>
            <a:ext cx="1601470" cy="2042795"/>
            <a:chOff x="1351196" y="3011569"/>
            <a:chExt cx="1601470" cy="2042795"/>
          </a:xfrm>
        </p:grpSpPr>
        <p:sp>
          <p:nvSpPr>
            <p:cNvPr id="6" name="object 6"/>
            <p:cNvSpPr/>
            <p:nvPr/>
          </p:nvSpPr>
          <p:spPr>
            <a:xfrm>
              <a:off x="1357934" y="3018307"/>
              <a:ext cx="1588135" cy="2028825"/>
            </a:xfrm>
            <a:custGeom>
              <a:avLst/>
              <a:gdLst/>
              <a:ahLst/>
              <a:cxnLst/>
              <a:rect l="l" t="t" r="r" b="b"/>
              <a:pathLst>
                <a:path w="1588135" h="2028825">
                  <a:moveTo>
                    <a:pt x="0" y="264627"/>
                  </a:moveTo>
                  <a:lnTo>
                    <a:pt x="4263" y="217060"/>
                  </a:lnTo>
                  <a:lnTo>
                    <a:pt x="16555" y="172290"/>
                  </a:lnTo>
                  <a:lnTo>
                    <a:pt x="36129" y="131064"/>
                  </a:lnTo>
                  <a:lnTo>
                    <a:pt x="62236" y="94131"/>
                  </a:lnTo>
                  <a:lnTo>
                    <a:pt x="94131" y="62236"/>
                  </a:lnTo>
                  <a:lnTo>
                    <a:pt x="131064" y="36129"/>
                  </a:lnTo>
                  <a:lnTo>
                    <a:pt x="172290" y="16555"/>
                  </a:lnTo>
                  <a:lnTo>
                    <a:pt x="217060" y="4263"/>
                  </a:lnTo>
                  <a:lnTo>
                    <a:pt x="264627" y="0"/>
                  </a:lnTo>
                  <a:lnTo>
                    <a:pt x="1323100" y="0"/>
                  </a:lnTo>
                  <a:lnTo>
                    <a:pt x="1370669" y="4263"/>
                  </a:lnTo>
                  <a:lnTo>
                    <a:pt x="1415440" y="16555"/>
                  </a:lnTo>
                  <a:lnTo>
                    <a:pt x="1456666" y="36129"/>
                  </a:lnTo>
                  <a:lnTo>
                    <a:pt x="1493600" y="62236"/>
                  </a:lnTo>
                  <a:lnTo>
                    <a:pt x="1525494" y="94131"/>
                  </a:lnTo>
                  <a:lnTo>
                    <a:pt x="1551602" y="131064"/>
                  </a:lnTo>
                  <a:lnTo>
                    <a:pt x="1571175" y="172290"/>
                  </a:lnTo>
                  <a:lnTo>
                    <a:pt x="1583467" y="217060"/>
                  </a:lnTo>
                  <a:lnTo>
                    <a:pt x="1587730" y="264627"/>
                  </a:lnTo>
                  <a:lnTo>
                    <a:pt x="1587730" y="1764140"/>
                  </a:lnTo>
                  <a:lnTo>
                    <a:pt x="1583467" y="1811707"/>
                  </a:lnTo>
                  <a:lnTo>
                    <a:pt x="1571175" y="1856476"/>
                  </a:lnTo>
                  <a:lnTo>
                    <a:pt x="1551602" y="1897702"/>
                  </a:lnTo>
                  <a:lnTo>
                    <a:pt x="1525494" y="1934636"/>
                  </a:lnTo>
                  <a:lnTo>
                    <a:pt x="1493600" y="1966531"/>
                  </a:lnTo>
                  <a:lnTo>
                    <a:pt x="1456666" y="1992640"/>
                  </a:lnTo>
                  <a:lnTo>
                    <a:pt x="1415440" y="2012214"/>
                  </a:lnTo>
                  <a:lnTo>
                    <a:pt x="1370669" y="2024507"/>
                  </a:lnTo>
                  <a:lnTo>
                    <a:pt x="1323100" y="2028771"/>
                  </a:lnTo>
                  <a:lnTo>
                    <a:pt x="264627" y="2028771"/>
                  </a:lnTo>
                  <a:lnTo>
                    <a:pt x="217060" y="2024507"/>
                  </a:lnTo>
                  <a:lnTo>
                    <a:pt x="172290" y="2012214"/>
                  </a:lnTo>
                  <a:lnTo>
                    <a:pt x="131064" y="1992640"/>
                  </a:lnTo>
                  <a:lnTo>
                    <a:pt x="94131" y="1966531"/>
                  </a:lnTo>
                  <a:lnTo>
                    <a:pt x="62236" y="1934636"/>
                  </a:lnTo>
                  <a:lnTo>
                    <a:pt x="36129" y="1897702"/>
                  </a:lnTo>
                  <a:lnTo>
                    <a:pt x="16555" y="1856476"/>
                  </a:lnTo>
                  <a:lnTo>
                    <a:pt x="4263" y="1811707"/>
                  </a:lnTo>
                  <a:lnTo>
                    <a:pt x="0" y="1764140"/>
                  </a:lnTo>
                  <a:lnTo>
                    <a:pt x="0" y="264627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57934" y="3450094"/>
              <a:ext cx="1588135" cy="0"/>
            </a:xfrm>
            <a:custGeom>
              <a:avLst/>
              <a:gdLst/>
              <a:ahLst/>
              <a:cxnLst/>
              <a:rect l="l" t="t" r="r" b="b"/>
              <a:pathLst>
                <a:path w="1588135">
                  <a:moveTo>
                    <a:pt x="0" y="0"/>
                  </a:moveTo>
                  <a:lnTo>
                    <a:pt x="1587730" y="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61883" y="5134355"/>
            <a:ext cx="9683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5" dirty="0">
                <a:latin typeface="Arial"/>
                <a:cs typeface="Arial"/>
              </a:rPr>
              <a:t>P</a:t>
            </a:r>
            <a:r>
              <a:rPr sz="1900" b="1" dirty="0">
                <a:latin typeface="Arial"/>
                <a:cs typeface="Arial"/>
              </a:rPr>
              <a:t>r</a:t>
            </a:r>
            <a:r>
              <a:rPr sz="1900" b="1" spc="5" dirty="0">
                <a:latin typeface="Arial"/>
                <a:cs typeface="Arial"/>
              </a:rPr>
              <a:t>o</a:t>
            </a:r>
            <a:r>
              <a:rPr sz="1900" b="1" dirty="0">
                <a:latin typeface="Arial"/>
                <a:cs typeface="Arial"/>
              </a:rPr>
              <a:t>cess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8460" y="3932428"/>
            <a:ext cx="1334135" cy="47053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344805">
              <a:lnSpc>
                <a:spcPts val="1700"/>
              </a:lnSpc>
              <a:spcBef>
                <a:spcPts val="240"/>
              </a:spcBef>
            </a:pPr>
            <a:r>
              <a:rPr sz="1500" spc="-10" dirty="0">
                <a:latin typeface="Arial"/>
                <a:cs typeface="Arial"/>
              </a:rPr>
              <a:t>Create  </a:t>
            </a:r>
            <a:r>
              <a:rPr sz="1500" spc="-15" dirty="0">
                <a:latin typeface="Arial"/>
                <a:cs typeface="Arial"/>
              </a:rPr>
              <a:t>Student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Record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83066" y="3043427"/>
            <a:ext cx="16002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latin typeface="Arial"/>
                <a:cs typeface="Arial"/>
              </a:rPr>
              <a:t>1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3106" y="907802"/>
            <a:ext cx="566356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-20" dirty="0"/>
              <a:t>Symbols: </a:t>
            </a:r>
            <a:r>
              <a:rPr sz="4700" spc="-15" dirty="0"/>
              <a:t>Data</a:t>
            </a:r>
            <a:r>
              <a:rPr sz="4700" spc="-85" dirty="0"/>
              <a:t> </a:t>
            </a:r>
            <a:r>
              <a:rPr sz="4700" spc="-20" dirty="0"/>
              <a:t>Flow</a:t>
            </a:r>
            <a:endParaRPr sz="4700"/>
          </a:p>
        </p:txBody>
      </p:sp>
      <p:sp>
        <p:nvSpPr>
          <p:cNvPr id="3" name="object 3"/>
          <p:cNvSpPr/>
          <p:nvPr/>
        </p:nvSpPr>
        <p:spPr>
          <a:xfrm>
            <a:off x="2151799" y="1834019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41050" y="3680458"/>
            <a:ext cx="5415280" cy="118110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15595" marR="5080" indent="-303530">
              <a:lnSpc>
                <a:spcPct val="103200"/>
              </a:lnSpc>
              <a:spcBef>
                <a:spcPts val="5"/>
              </a:spcBef>
              <a:buChar char="•"/>
              <a:tabLst>
                <a:tab pos="315595" algn="l"/>
                <a:tab pos="316230" algn="l"/>
              </a:tabLst>
            </a:pPr>
            <a:r>
              <a:rPr sz="2500" spc="25" dirty="0">
                <a:latin typeface="Arial"/>
                <a:cs typeface="Arial"/>
              </a:rPr>
              <a:t>Shows </a:t>
            </a:r>
            <a:r>
              <a:rPr sz="2500" spc="10" dirty="0">
                <a:latin typeface="Arial"/>
                <a:cs typeface="Arial"/>
              </a:rPr>
              <a:t>the </a:t>
            </a:r>
            <a:r>
              <a:rPr sz="2500" spc="20" dirty="0">
                <a:latin typeface="Arial"/>
                <a:cs typeface="Arial"/>
              </a:rPr>
              <a:t>movements </a:t>
            </a:r>
            <a:r>
              <a:rPr sz="2500" spc="10" dirty="0">
                <a:latin typeface="Arial"/>
                <a:cs typeface="Arial"/>
              </a:rPr>
              <a:t>of data </a:t>
            </a:r>
            <a:r>
              <a:rPr sz="2500" spc="15" dirty="0">
                <a:latin typeface="Arial"/>
                <a:cs typeface="Arial"/>
              </a:rPr>
              <a:t>from  one point </a:t>
            </a:r>
            <a:r>
              <a:rPr sz="2500" dirty="0">
                <a:latin typeface="Arial"/>
                <a:cs typeface="Arial"/>
              </a:rPr>
              <a:t>to</a:t>
            </a:r>
            <a:r>
              <a:rPr sz="2500" spc="40" dirty="0">
                <a:latin typeface="Arial"/>
                <a:cs typeface="Arial"/>
              </a:rPr>
              <a:t> </a:t>
            </a:r>
            <a:r>
              <a:rPr sz="2500" spc="20" dirty="0">
                <a:latin typeface="Arial"/>
                <a:cs typeface="Arial"/>
              </a:rPr>
              <a:t>another</a:t>
            </a:r>
            <a:endParaRPr sz="2500">
              <a:latin typeface="Arial"/>
              <a:cs typeface="Arial"/>
            </a:endParaRPr>
          </a:p>
          <a:p>
            <a:pPr marL="315595" indent="-303530">
              <a:lnSpc>
                <a:spcPct val="100000"/>
              </a:lnSpc>
              <a:buChar char="•"/>
              <a:tabLst>
                <a:tab pos="315595" algn="l"/>
                <a:tab pos="316230" algn="l"/>
              </a:tabLst>
            </a:pPr>
            <a:r>
              <a:rPr sz="2500" spc="20" dirty="0">
                <a:latin typeface="Arial"/>
                <a:cs typeface="Arial"/>
              </a:rPr>
              <a:t>Should </a:t>
            </a:r>
            <a:r>
              <a:rPr sz="2500" spc="10" dirty="0">
                <a:latin typeface="Arial"/>
                <a:cs typeface="Arial"/>
              </a:rPr>
              <a:t>be </a:t>
            </a:r>
            <a:r>
              <a:rPr sz="2500" spc="15" dirty="0">
                <a:latin typeface="Arial"/>
                <a:cs typeface="Arial"/>
              </a:rPr>
              <a:t>described </a:t>
            </a:r>
            <a:r>
              <a:rPr sz="2500" spc="10" dirty="0">
                <a:latin typeface="Arial"/>
                <a:cs typeface="Arial"/>
              </a:rPr>
              <a:t>with</a:t>
            </a:r>
            <a:r>
              <a:rPr sz="2500" spc="80" dirty="0">
                <a:latin typeface="Arial"/>
                <a:cs typeface="Arial"/>
              </a:rPr>
              <a:t> </a:t>
            </a:r>
            <a:r>
              <a:rPr sz="2500" spc="25" dirty="0">
                <a:latin typeface="Arial"/>
                <a:cs typeface="Arial"/>
              </a:rPr>
              <a:t>noun</a:t>
            </a:r>
            <a:endParaRPr sz="25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13383" y="4123037"/>
            <a:ext cx="1808480" cy="363220"/>
          </a:xfrm>
          <a:custGeom>
            <a:avLst/>
            <a:gdLst/>
            <a:ahLst/>
            <a:cxnLst/>
            <a:rect l="l" t="t" r="r" b="b"/>
            <a:pathLst>
              <a:path w="1808480" h="363220">
                <a:moveTo>
                  <a:pt x="1647962" y="181601"/>
                </a:moveTo>
                <a:lnTo>
                  <a:pt x="1465262" y="288180"/>
                </a:lnTo>
                <a:lnTo>
                  <a:pt x="1453267" y="298854"/>
                </a:lnTo>
                <a:lnTo>
                  <a:pt x="1446531" y="312813"/>
                </a:lnTo>
                <a:lnTo>
                  <a:pt x="1445522" y="328279"/>
                </a:lnTo>
                <a:lnTo>
                  <a:pt x="1450708" y="343475"/>
                </a:lnTo>
                <a:lnTo>
                  <a:pt x="1461382" y="355463"/>
                </a:lnTo>
                <a:lnTo>
                  <a:pt x="1475341" y="362195"/>
                </a:lnTo>
                <a:lnTo>
                  <a:pt x="1490807" y="363203"/>
                </a:lnTo>
                <a:lnTo>
                  <a:pt x="1506004" y="358017"/>
                </a:lnTo>
                <a:lnTo>
                  <a:pt x="1739131" y="222025"/>
                </a:lnTo>
                <a:lnTo>
                  <a:pt x="1728203" y="222025"/>
                </a:lnTo>
                <a:lnTo>
                  <a:pt x="1728203" y="216526"/>
                </a:lnTo>
                <a:lnTo>
                  <a:pt x="1707832" y="216526"/>
                </a:lnTo>
                <a:lnTo>
                  <a:pt x="1647962" y="181601"/>
                </a:lnTo>
                <a:close/>
              </a:path>
              <a:path w="1808480" h="363220">
                <a:moveTo>
                  <a:pt x="1578666" y="141177"/>
                </a:moveTo>
                <a:lnTo>
                  <a:pt x="0" y="141177"/>
                </a:lnTo>
                <a:lnTo>
                  <a:pt x="0" y="222025"/>
                </a:lnTo>
                <a:lnTo>
                  <a:pt x="1578666" y="222025"/>
                </a:lnTo>
                <a:lnTo>
                  <a:pt x="1647962" y="181601"/>
                </a:lnTo>
                <a:lnTo>
                  <a:pt x="1578666" y="141177"/>
                </a:lnTo>
                <a:close/>
              </a:path>
              <a:path w="1808480" h="363220">
                <a:moveTo>
                  <a:pt x="1739131" y="141177"/>
                </a:moveTo>
                <a:lnTo>
                  <a:pt x="1728203" y="141177"/>
                </a:lnTo>
                <a:lnTo>
                  <a:pt x="1728203" y="222025"/>
                </a:lnTo>
                <a:lnTo>
                  <a:pt x="1739131" y="222025"/>
                </a:lnTo>
                <a:lnTo>
                  <a:pt x="1808429" y="181601"/>
                </a:lnTo>
                <a:lnTo>
                  <a:pt x="1739131" y="141177"/>
                </a:lnTo>
                <a:close/>
              </a:path>
              <a:path w="1808480" h="363220">
                <a:moveTo>
                  <a:pt x="1707832" y="146676"/>
                </a:moveTo>
                <a:lnTo>
                  <a:pt x="1647962" y="181601"/>
                </a:lnTo>
                <a:lnTo>
                  <a:pt x="1707832" y="216526"/>
                </a:lnTo>
                <a:lnTo>
                  <a:pt x="1707832" y="146676"/>
                </a:lnTo>
                <a:close/>
              </a:path>
              <a:path w="1808480" h="363220">
                <a:moveTo>
                  <a:pt x="1728203" y="146676"/>
                </a:moveTo>
                <a:lnTo>
                  <a:pt x="1707832" y="146676"/>
                </a:lnTo>
                <a:lnTo>
                  <a:pt x="1707832" y="216526"/>
                </a:lnTo>
                <a:lnTo>
                  <a:pt x="1728203" y="216526"/>
                </a:lnTo>
                <a:lnTo>
                  <a:pt x="1728203" y="146676"/>
                </a:lnTo>
                <a:close/>
              </a:path>
              <a:path w="1808480" h="363220">
                <a:moveTo>
                  <a:pt x="1490807" y="0"/>
                </a:moveTo>
                <a:lnTo>
                  <a:pt x="1475341" y="1007"/>
                </a:lnTo>
                <a:lnTo>
                  <a:pt x="1461382" y="7739"/>
                </a:lnTo>
                <a:lnTo>
                  <a:pt x="1450708" y="19727"/>
                </a:lnTo>
                <a:lnTo>
                  <a:pt x="1445522" y="34923"/>
                </a:lnTo>
                <a:lnTo>
                  <a:pt x="1446531" y="50390"/>
                </a:lnTo>
                <a:lnTo>
                  <a:pt x="1453267" y="64349"/>
                </a:lnTo>
                <a:lnTo>
                  <a:pt x="1465262" y="75023"/>
                </a:lnTo>
                <a:lnTo>
                  <a:pt x="1647962" y="181601"/>
                </a:lnTo>
                <a:lnTo>
                  <a:pt x="1707832" y="146676"/>
                </a:lnTo>
                <a:lnTo>
                  <a:pt x="1728203" y="146676"/>
                </a:lnTo>
                <a:lnTo>
                  <a:pt x="1728203" y="141177"/>
                </a:lnTo>
                <a:lnTo>
                  <a:pt x="1739131" y="141177"/>
                </a:lnTo>
                <a:lnTo>
                  <a:pt x="1506004" y="5185"/>
                </a:lnTo>
                <a:lnTo>
                  <a:pt x="14908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59420" y="4622291"/>
            <a:ext cx="11696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latin typeface="Arial"/>
                <a:cs typeface="Arial"/>
              </a:rPr>
              <a:t>Data</a:t>
            </a:r>
            <a:r>
              <a:rPr sz="1900" b="1" spc="-6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Flow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0569" y="907802"/>
            <a:ext cx="582930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-20" dirty="0"/>
              <a:t>Symbols: </a:t>
            </a:r>
            <a:r>
              <a:rPr sz="4700" spc="-15" dirty="0"/>
              <a:t>Data</a:t>
            </a:r>
            <a:r>
              <a:rPr sz="4700" spc="-90" dirty="0"/>
              <a:t> </a:t>
            </a:r>
            <a:r>
              <a:rPr sz="4700" spc="-15" dirty="0"/>
              <a:t>Store</a:t>
            </a:r>
            <a:endParaRPr sz="4700"/>
          </a:p>
        </p:txBody>
      </p:sp>
      <p:sp>
        <p:nvSpPr>
          <p:cNvPr id="3" name="object 3"/>
          <p:cNvSpPr/>
          <p:nvPr/>
        </p:nvSpPr>
        <p:spPr>
          <a:xfrm>
            <a:off x="2151799" y="1834019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41050" y="3019043"/>
            <a:ext cx="5648960" cy="27292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15595" marR="556260" indent="-303530">
              <a:lnSpc>
                <a:spcPct val="101600"/>
              </a:lnSpc>
              <a:spcBef>
                <a:spcPts val="50"/>
              </a:spcBef>
              <a:buChar char="•"/>
              <a:tabLst>
                <a:tab pos="315595" algn="l"/>
                <a:tab pos="316230" algn="l"/>
              </a:tabLst>
            </a:pPr>
            <a:r>
              <a:rPr sz="2500" spc="25" dirty="0">
                <a:latin typeface="Arial"/>
                <a:cs typeface="Arial"/>
              </a:rPr>
              <a:t>Shows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15" dirty="0">
                <a:latin typeface="Arial"/>
                <a:cs typeface="Arial"/>
              </a:rPr>
              <a:t>depository </a:t>
            </a:r>
            <a:r>
              <a:rPr sz="2500" spc="10" dirty="0">
                <a:latin typeface="Arial"/>
                <a:cs typeface="Arial"/>
              </a:rPr>
              <a:t>for data </a:t>
            </a:r>
            <a:r>
              <a:rPr sz="2500" spc="20" dirty="0">
                <a:latin typeface="Arial"/>
                <a:cs typeface="Arial"/>
              </a:rPr>
              <a:t>that  </a:t>
            </a:r>
            <a:r>
              <a:rPr sz="2500" spc="15" dirty="0">
                <a:latin typeface="Arial"/>
                <a:cs typeface="Arial"/>
              </a:rPr>
              <a:t>allows examination, addition, </a:t>
            </a:r>
            <a:r>
              <a:rPr sz="2500" spc="25" dirty="0">
                <a:latin typeface="Arial"/>
                <a:cs typeface="Arial"/>
              </a:rPr>
              <a:t>and  </a:t>
            </a:r>
            <a:r>
              <a:rPr sz="2500" spc="15" dirty="0">
                <a:latin typeface="Arial"/>
                <a:cs typeface="Arial"/>
              </a:rPr>
              <a:t>retrieval </a:t>
            </a:r>
            <a:r>
              <a:rPr sz="2500" spc="10" dirty="0">
                <a:latin typeface="Arial"/>
                <a:cs typeface="Arial"/>
              </a:rPr>
              <a:t>of</a:t>
            </a:r>
            <a:r>
              <a:rPr sz="2500" spc="15" dirty="0">
                <a:latin typeface="Arial"/>
                <a:cs typeface="Arial"/>
              </a:rPr>
              <a:t> </a:t>
            </a:r>
            <a:r>
              <a:rPr sz="2500" spc="10" dirty="0">
                <a:latin typeface="Arial"/>
                <a:cs typeface="Arial"/>
              </a:rPr>
              <a:t>data</a:t>
            </a:r>
            <a:endParaRPr sz="2500">
              <a:latin typeface="Arial"/>
              <a:cs typeface="Arial"/>
            </a:endParaRPr>
          </a:p>
          <a:p>
            <a:pPr marL="315595" marR="5080" indent="-303530">
              <a:lnSpc>
                <a:spcPct val="100000"/>
              </a:lnSpc>
              <a:spcBef>
                <a:spcPts val="95"/>
              </a:spcBef>
              <a:buChar char="•"/>
              <a:tabLst>
                <a:tab pos="315595" algn="l"/>
                <a:tab pos="316230" algn="l"/>
              </a:tabLst>
            </a:pPr>
            <a:r>
              <a:rPr sz="2500" spc="20" dirty="0">
                <a:latin typeface="Arial"/>
                <a:cs typeface="Arial"/>
              </a:rPr>
              <a:t>May </a:t>
            </a:r>
            <a:r>
              <a:rPr sz="2500" spc="15" dirty="0">
                <a:latin typeface="Arial"/>
                <a:cs typeface="Arial"/>
              </a:rPr>
              <a:t>represent </a:t>
            </a:r>
            <a:r>
              <a:rPr sz="2500" spc="20" dirty="0">
                <a:latin typeface="Arial"/>
                <a:cs typeface="Arial"/>
              </a:rPr>
              <a:t>manual </a:t>
            </a:r>
            <a:r>
              <a:rPr sz="2500" spc="15" dirty="0">
                <a:latin typeface="Arial"/>
                <a:cs typeface="Arial"/>
              </a:rPr>
              <a:t>store, such </a:t>
            </a:r>
            <a:r>
              <a:rPr sz="2500" spc="10" dirty="0">
                <a:latin typeface="Arial"/>
                <a:cs typeface="Arial"/>
              </a:rPr>
              <a:t>as  </a:t>
            </a:r>
            <a:r>
              <a:rPr sz="2500" spc="5" dirty="0">
                <a:latin typeface="Arial"/>
                <a:cs typeface="Arial"/>
              </a:rPr>
              <a:t>file </a:t>
            </a:r>
            <a:r>
              <a:rPr sz="2500" spc="20" dirty="0">
                <a:latin typeface="Arial"/>
                <a:cs typeface="Arial"/>
              </a:rPr>
              <a:t>cabinet, </a:t>
            </a:r>
            <a:r>
              <a:rPr sz="2500" spc="15" dirty="0">
                <a:latin typeface="Arial"/>
                <a:cs typeface="Arial"/>
              </a:rPr>
              <a:t>or</a:t>
            </a:r>
            <a:r>
              <a:rPr sz="2500" spc="35" dirty="0">
                <a:latin typeface="Arial"/>
                <a:cs typeface="Arial"/>
              </a:rPr>
              <a:t> </a:t>
            </a:r>
            <a:r>
              <a:rPr sz="2500" spc="20" dirty="0">
                <a:latin typeface="Arial"/>
                <a:cs typeface="Arial"/>
              </a:rPr>
              <a:t>database</a:t>
            </a:r>
            <a:endParaRPr sz="2500">
              <a:latin typeface="Arial"/>
              <a:cs typeface="Arial"/>
            </a:endParaRPr>
          </a:p>
          <a:p>
            <a:pPr marL="315595" marR="1010285" indent="-303530">
              <a:lnSpc>
                <a:spcPts val="3100"/>
              </a:lnSpc>
              <a:spcBef>
                <a:spcPts val="20"/>
              </a:spcBef>
              <a:buChar char="•"/>
              <a:tabLst>
                <a:tab pos="315595" algn="l"/>
                <a:tab pos="316230" algn="l"/>
              </a:tabLst>
            </a:pPr>
            <a:r>
              <a:rPr sz="2500" spc="-15" dirty="0">
                <a:latin typeface="Arial"/>
                <a:cs typeface="Arial"/>
              </a:rPr>
              <a:t>Temporary </a:t>
            </a:r>
            <a:r>
              <a:rPr sz="2500" spc="10" dirty="0">
                <a:latin typeface="Arial"/>
                <a:cs typeface="Arial"/>
              </a:rPr>
              <a:t>data </a:t>
            </a:r>
            <a:r>
              <a:rPr sz="2500" spc="15" dirty="0">
                <a:latin typeface="Arial"/>
                <a:cs typeface="Arial"/>
              </a:rPr>
              <a:t>stores </a:t>
            </a:r>
            <a:r>
              <a:rPr sz="2500" spc="10" dirty="0">
                <a:latin typeface="Arial"/>
                <a:cs typeface="Arial"/>
              </a:rPr>
              <a:t>are </a:t>
            </a:r>
            <a:r>
              <a:rPr sz="2500" spc="15" dirty="0">
                <a:latin typeface="Arial"/>
                <a:cs typeface="Arial"/>
              </a:rPr>
              <a:t>not  included</a:t>
            </a:r>
            <a:endParaRPr sz="25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5702" y="3799624"/>
            <a:ext cx="2352675" cy="0"/>
          </a:xfrm>
          <a:custGeom>
            <a:avLst/>
            <a:gdLst/>
            <a:ahLst/>
            <a:cxnLst/>
            <a:rect l="l" t="t" r="r" b="b"/>
            <a:pathLst>
              <a:path w="2352675">
                <a:moveTo>
                  <a:pt x="0" y="0"/>
                </a:moveTo>
                <a:lnTo>
                  <a:pt x="2352198" y="1"/>
                </a:lnTo>
              </a:path>
            </a:pathLst>
          </a:custGeom>
          <a:ln w="13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5697" y="4451934"/>
            <a:ext cx="2352675" cy="0"/>
          </a:xfrm>
          <a:custGeom>
            <a:avLst/>
            <a:gdLst/>
            <a:ahLst/>
            <a:cxnLst/>
            <a:rect l="l" t="t" r="r" b="b"/>
            <a:pathLst>
              <a:path w="2352675">
                <a:moveTo>
                  <a:pt x="2352198" y="0"/>
                </a:moveTo>
                <a:lnTo>
                  <a:pt x="0" y="1"/>
                </a:lnTo>
              </a:path>
            </a:pathLst>
          </a:custGeom>
          <a:ln w="13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25803" y="4573523"/>
            <a:ext cx="12376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latin typeface="Arial"/>
                <a:cs typeface="Arial"/>
              </a:rPr>
              <a:t>Data</a:t>
            </a:r>
            <a:r>
              <a:rPr sz="1900" b="1" spc="-6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Store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9066" y="3971035"/>
            <a:ext cx="14897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latin typeface="Arial"/>
                <a:cs typeface="Arial"/>
              </a:rPr>
              <a:t>Student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Master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5703" y="3799624"/>
            <a:ext cx="630555" cy="652780"/>
          </a:xfrm>
          <a:prstGeom prst="rect">
            <a:avLst/>
          </a:prstGeom>
          <a:ln w="13477">
            <a:solidFill>
              <a:srgbClr val="000000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77165">
              <a:lnSpc>
                <a:spcPct val="100000"/>
              </a:lnSpc>
              <a:spcBef>
                <a:spcPts val="1320"/>
              </a:spcBef>
            </a:pPr>
            <a:r>
              <a:rPr sz="1900" spc="5" dirty="0">
                <a:latin typeface="Arial"/>
                <a:cs typeface="Arial"/>
              </a:rPr>
              <a:t>D1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9311" y="916946"/>
            <a:ext cx="339090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-15" dirty="0"/>
              <a:t>Basic</a:t>
            </a:r>
            <a:r>
              <a:rPr sz="4700" spc="-100" dirty="0"/>
              <a:t> </a:t>
            </a:r>
            <a:r>
              <a:rPr sz="4700" spc="-20" dirty="0"/>
              <a:t>Rules</a:t>
            </a:r>
            <a:endParaRPr sz="4700"/>
          </a:p>
        </p:txBody>
      </p:sp>
      <p:sp>
        <p:nvSpPr>
          <p:cNvPr id="3" name="object 3"/>
          <p:cNvSpPr/>
          <p:nvPr/>
        </p:nvSpPr>
        <p:spPr>
          <a:xfrm>
            <a:off x="2151799" y="2067814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33996" y="2644139"/>
            <a:ext cx="7995920" cy="388747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58165" marR="5080" indent="-546100">
              <a:lnSpc>
                <a:spcPct val="103200"/>
              </a:lnSpc>
              <a:spcBef>
                <a:spcPts val="5"/>
              </a:spcBef>
              <a:buAutoNum type="arabicPeriod"/>
              <a:tabLst>
                <a:tab pos="558165" algn="l"/>
                <a:tab pos="558800" algn="l"/>
              </a:tabLst>
            </a:pPr>
            <a:r>
              <a:rPr sz="2500" spc="20" dirty="0">
                <a:latin typeface="Arial"/>
                <a:cs typeface="Arial"/>
              </a:rPr>
              <a:t>Must </a:t>
            </a:r>
            <a:r>
              <a:rPr sz="2500" spc="15" dirty="0">
                <a:latin typeface="Arial"/>
                <a:cs typeface="Arial"/>
              </a:rPr>
              <a:t>have </a:t>
            </a:r>
            <a:r>
              <a:rPr sz="2500" spc="10" dirty="0">
                <a:latin typeface="Arial"/>
                <a:cs typeface="Arial"/>
              </a:rPr>
              <a:t>at </a:t>
            </a:r>
            <a:r>
              <a:rPr sz="2500" spc="15" dirty="0">
                <a:latin typeface="Arial"/>
                <a:cs typeface="Arial"/>
              </a:rPr>
              <a:t>least one process and </a:t>
            </a:r>
            <a:r>
              <a:rPr sz="2500" spc="10" dirty="0">
                <a:latin typeface="Arial"/>
                <a:cs typeface="Arial"/>
              </a:rPr>
              <a:t>no </a:t>
            </a:r>
            <a:r>
              <a:rPr sz="2500" spc="15" dirty="0">
                <a:latin typeface="Arial"/>
                <a:cs typeface="Arial"/>
              </a:rPr>
              <a:t>freestanding  objects </a:t>
            </a:r>
            <a:r>
              <a:rPr sz="2500" spc="10" dirty="0">
                <a:latin typeface="Arial"/>
                <a:cs typeface="Arial"/>
              </a:rPr>
              <a:t>or </a:t>
            </a:r>
            <a:r>
              <a:rPr sz="2500" spc="15" dirty="0">
                <a:latin typeface="Arial"/>
                <a:cs typeface="Arial"/>
              </a:rPr>
              <a:t>objects connected </a:t>
            </a:r>
            <a:r>
              <a:rPr sz="2500" dirty="0">
                <a:latin typeface="Arial"/>
                <a:cs typeface="Arial"/>
              </a:rPr>
              <a:t>to</a:t>
            </a:r>
            <a:r>
              <a:rPr sz="2500" spc="85" dirty="0">
                <a:latin typeface="Arial"/>
                <a:cs typeface="Arial"/>
              </a:rPr>
              <a:t> </a:t>
            </a:r>
            <a:r>
              <a:rPr sz="2500" spc="20" dirty="0">
                <a:latin typeface="Arial"/>
                <a:cs typeface="Arial"/>
              </a:rPr>
              <a:t>themselves</a:t>
            </a:r>
            <a:endParaRPr sz="2500">
              <a:latin typeface="Arial"/>
              <a:cs typeface="Arial"/>
            </a:endParaRPr>
          </a:p>
          <a:p>
            <a:pPr marL="558165" marR="618490" indent="-546100">
              <a:lnSpc>
                <a:spcPts val="3120"/>
              </a:lnSpc>
              <a:buAutoNum type="arabicPeriod"/>
              <a:tabLst>
                <a:tab pos="558165" algn="l"/>
                <a:tab pos="558800" algn="l"/>
              </a:tabLst>
            </a:pPr>
            <a:r>
              <a:rPr sz="2500" dirty="0">
                <a:latin typeface="Arial"/>
                <a:cs typeface="Arial"/>
              </a:rPr>
              <a:t>A </a:t>
            </a:r>
            <a:r>
              <a:rPr sz="2500" spc="15" dirty="0">
                <a:latin typeface="Arial"/>
                <a:cs typeface="Arial"/>
              </a:rPr>
              <a:t>process </a:t>
            </a:r>
            <a:r>
              <a:rPr sz="2500" spc="20" dirty="0">
                <a:latin typeface="Arial"/>
                <a:cs typeface="Arial"/>
              </a:rPr>
              <a:t>must </a:t>
            </a:r>
            <a:r>
              <a:rPr sz="2500" spc="15" dirty="0">
                <a:latin typeface="Arial"/>
                <a:cs typeface="Arial"/>
              </a:rPr>
              <a:t>have </a:t>
            </a:r>
            <a:r>
              <a:rPr sz="2500" spc="10" dirty="0">
                <a:latin typeface="Arial"/>
                <a:cs typeface="Arial"/>
              </a:rPr>
              <a:t>at </a:t>
            </a:r>
            <a:r>
              <a:rPr sz="2500" spc="15" dirty="0">
                <a:latin typeface="Arial"/>
                <a:cs typeface="Arial"/>
              </a:rPr>
              <a:t>least one input and one  output </a:t>
            </a:r>
            <a:r>
              <a:rPr sz="2500" spc="10" dirty="0">
                <a:latin typeface="Arial"/>
                <a:cs typeface="Arial"/>
              </a:rPr>
              <a:t>data</a:t>
            </a:r>
            <a:r>
              <a:rPr sz="2500" spc="25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flow</a:t>
            </a:r>
            <a:endParaRPr sz="2500">
              <a:latin typeface="Arial"/>
              <a:cs typeface="Arial"/>
            </a:endParaRPr>
          </a:p>
          <a:p>
            <a:pPr marL="558165" indent="-546100">
              <a:lnSpc>
                <a:spcPts val="2875"/>
              </a:lnSpc>
              <a:buAutoNum type="arabicPeriod"/>
              <a:tabLst>
                <a:tab pos="558165" algn="l"/>
                <a:tab pos="558800" algn="l"/>
              </a:tabLst>
            </a:pPr>
            <a:r>
              <a:rPr sz="2500" dirty="0">
                <a:latin typeface="Arial"/>
                <a:cs typeface="Arial"/>
              </a:rPr>
              <a:t>A </a:t>
            </a:r>
            <a:r>
              <a:rPr sz="2500" spc="10" dirty="0">
                <a:latin typeface="Arial"/>
                <a:cs typeface="Arial"/>
              </a:rPr>
              <a:t>data store </a:t>
            </a:r>
            <a:r>
              <a:rPr sz="2500" spc="15" dirty="0">
                <a:latin typeface="Arial"/>
                <a:cs typeface="Arial"/>
              </a:rPr>
              <a:t>should </a:t>
            </a:r>
            <a:r>
              <a:rPr sz="2500" spc="10" dirty="0">
                <a:latin typeface="Arial"/>
                <a:cs typeface="Arial"/>
              </a:rPr>
              <a:t>be </a:t>
            </a:r>
            <a:r>
              <a:rPr sz="2500" spc="15" dirty="0">
                <a:latin typeface="Arial"/>
                <a:cs typeface="Arial"/>
              </a:rPr>
              <a:t>connected </a:t>
            </a:r>
            <a:r>
              <a:rPr sz="2500" dirty="0">
                <a:latin typeface="Arial"/>
                <a:cs typeface="Arial"/>
              </a:rPr>
              <a:t>to </a:t>
            </a:r>
            <a:r>
              <a:rPr sz="2500" spc="10" dirty="0">
                <a:latin typeface="Arial"/>
                <a:cs typeface="Arial"/>
              </a:rPr>
              <a:t>at </a:t>
            </a:r>
            <a:r>
              <a:rPr sz="2500" spc="15" dirty="0">
                <a:latin typeface="Arial"/>
                <a:cs typeface="Arial"/>
              </a:rPr>
              <a:t>least</a:t>
            </a:r>
            <a:r>
              <a:rPr sz="2500" spc="70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one</a:t>
            </a:r>
            <a:endParaRPr sz="2500">
              <a:latin typeface="Arial"/>
              <a:cs typeface="Arial"/>
            </a:endParaRPr>
          </a:p>
          <a:p>
            <a:pPr marL="558165">
              <a:lnSpc>
                <a:spcPct val="100000"/>
              </a:lnSpc>
            </a:pPr>
            <a:r>
              <a:rPr sz="2500" spc="15" dirty="0">
                <a:latin typeface="Arial"/>
                <a:cs typeface="Arial"/>
              </a:rPr>
              <a:t>process</a:t>
            </a:r>
            <a:endParaRPr sz="2500">
              <a:latin typeface="Arial"/>
              <a:cs typeface="Arial"/>
            </a:endParaRPr>
          </a:p>
          <a:p>
            <a:pPr marL="558165" marR="361950" indent="-546100">
              <a:lnSpc>
                <a:spcPct val="101099"/>
              </a:lnSpc>
              <a:spcBef>
                <a:spcPts val="65"/>
              </a:spcBef>
              <a:buAutoNum type="arabicPeriod" startAt="4"/>
              <a:tabLst>
                <a:tab pos="558165" algn="l"/>
                <a:tab pos="558800" algn="l"/>
              </a:tabLst>
            </a:pPr>
            <a:r>
              <a:rPr sz="2500" spc="15" dirty="0">
                <a:latin typeface="Arial"/>
                <a:cs typeface="Arial"/>
              </a:rPr>
              <a:t>External </a:t>
            </a:r>
            <a:r>
              <a:rPr sz="2500" spc="10" dirty="0">
                <a:latin typeface="Arial"/>
                <a:cs typeface="Arial"/>
              </a:rPr>
              <a:t>entities </a:t>
            </a:r>
            <a:r>
              <a:rPr sz="2500" spc="15" dirty="0">
                <a:latin typeface="Arial"/>
                <a:cs typeface="Arial"/>
              </a:rPr>
              <a:t>should not </a:t>
            </a:r>
            <a:r>
              <a:rPr sz="2500" spc="10" dirty="0">
                <a:latin typeface="Arial"/>
                <a:cs typeface="Arial"/>
              </a:rPr>
              <a:t>be </a:t>
            </a:r>
            <a:r>
              <a:rPr sz="2500" spc="15" dirty="0">
                <a:latin typeface="Arial"/>
                <a:cs typeface="Arial"/>
              </a:rPr>
              <a:t>connected </a:t>
            </a:r>
            <a:r>
              <a:rPr sz="2500" dirty="0">
                <a:latin typeface="Arial"/>
                <a:cs typeface="Arial"/>
              </a:rPr>
              <a:t>to </a:t>
            </a:r>
            <a:r>
              <a:rPr sz="2500" spc="15" dirty="0">
                <a:latin typeface="Arial"/>
                <a:cs typeface="Arial"/>
              </a:rPr>
              <a:t>each  </a:t>
            </a:r>
            <a:r>
              <a:rPr sz="2500" spc="-10" dirty="0">
                <a:latin typeface="Arial"/>
                <a:cs typeface="Arial"/>
              </a:rPr>
              <a:t>other. </a:t>
            </a:r>
            <a:r>
              <a:rPr sz="2500" spc="15" dirty="0">
                <a:latin typeface="Arial"/>
                <a:cs typeface="Arial"/>
              </a:rPr>
              <a:t>Although </a:t>
            </a:r>
            <a:r>
              <a:rPr sz="2500" spc="10" dirty="0">
                <a:latin typeface="Arial"/>
                <a:cs typeface="Arial"/>
              </a:rPr>
              <a:t>they </a:t>
            </a:r>
            <a:r>
              <a:rPr sz="2500" spc="20" dirty="0">
                <a:latin typeface="Arial"/>
                <a:cs typeface="Arial"/>
              </a:rPr>
              <a:t>communicate </a:t>
            </a:r>
            <a:r>
              <a:rPr sz="2500" spc="5" dirty="0">
                <a:latin typeface="Arial"/>
                <a:cs typeface="Arial"/>
              </a:rPr>
              <a:t>independently,  </a:t>
            </a:r>
            <a:r>
              <a:rPr sz="2500" spc="15" dirty="0">
                <a:latin typeface="Arial"/>
                <a:cs typeface="Arial"/>
              </a:rPr>
              <a:t>that </a:t>
            </a:r>
            <a:r>
              <a:rPr sz="2500" spc="20" dirty="0">
                <a:latin typeface="Arial"/>
                <a:cs typeface="Arial"/>
              </a:rPr>
              <a:t>communication </a:t>
            </a:r>
            <a:r>
              <a:rPr sz="2500" spc="5" dirty="0">
                <a:latin typeface="Arial"/>
                <a:cs typeface="Arial"/>
              </a:rPr>
              <a:t>is </a:t>
            </a:r>
            <a:r>
              <a:rPr sz="2500" spc="20" dirty="0">
                <a:latin typeface="Arial"/>
                <a:cs typeface="Arial"/>
              </a:rPr>
              <a:t>not </a:t>
            </a:r>
            <a:r>
              <a:rPr sz="2500" spc="15" dirty="0">
                <a:latin typeface="Arial"/>
                <a:cs typeface="Arial"/>
              </a:rPr>
              <a:t>part of </a:t>
            </a:r>
            <a:r>
              <a:rPr sz="2500" spc="10" dirty="0">
                <a:latin typeface="Arial"/>
                <a:cs typeface="Arial"/>
              </a:rPr>
              <a:t>the </a:t>
            </a:r>
            <a:r>
              <a:rPr sz="2500" spc="15" dirty="0">
                <a:latin typeface="Arial"/>
                <a:cs typeface="Arial"/>
              </a:rPr>
              <a:t>system we  design using</a:t>
            </a:r>
            <a:r>
              <a:rPr sz="2500" spc="50" dirty="0">
                <a:latin typeface="Arial"/>
                <a:cs typeface="Arial"/>
              </a:rPr>
              <a:t> </a:t>
            </a:r>
            <a:r>
              <a:rPr sz="2500" spc="20" dirty="0">
                <a:latin typeface="Arial"/>
                <a:cs typeface="Arial"/>
              </a:rPr>
              <a:t>DFDs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7349" y="916946"/>
            <a:ext cx="187515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-20" dirty="0"/>
              <a:t>L</a:t>
            </a:r>
            <a:r>
              <a:rPr sz="4700" spc="-15" dirty="0"/>
              <a:t>e</a:t>
            </a:r>
            <a:r>
              <a:rPr sz="4700" spc="-20" dirty="0"/>
              <a:t>ve</a:t>
            </a:r>
            <a:r>
              <a:rPr sz="4700" spc="-5" dirty="0"/>
              <a:t>l</a:t>
            </a:r>
            <a:r>
              <a:rPr sz="4700" dirty="0"/>
              <a:t>s</a:t>
            </a:r>
            <a:endParaRPr sz="4700"/>
          </a:p>
        </p:txBody>
      </p:sp>
      <p:sp>
        <p:nvSpPr>
          <p:cNvPr id="3" name="object 3"/>
          <p:cNvSpPr/>
          <p:nvPr/>
        </p:nvSpPr>
        <p:spPr>
          <a:xfrm>
            <a:off x="2151799" y="2067814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36001" y="2333625"/>
            <a:ext cx="8197850" cy="4875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8165" indent="-546100">
              <a:lnSpc>
                <a:spcPts val="2510"/>
              </a:lnSpc>
              <a:spcBef>
                <a:spcPts val="100"/>
              </a:spcBef>
              <a:buAutoNum type="arabicPeriod"/>
              <a:tabLst>
                <a:tab pos="558165" algn="l"/>
                <a:tab pos="558800" algn="l"/>
              </a:tabLst>
            </a:pPr>
            <a:r>
              <a:rPr sz="2100" spc="5" dirty="0">
                <a:latin typeface="Arial"/>
                <a:cs typeface="Arial"/>
              </a:rPr>
              <a:t>Context</a:t>
            </a:r>
            <a:r>
              <a:rPr sz="2100" spc="-10" dirty="0">
                <a:latin typeface="Arial"/>
                <a:cs typeface="Arial"/>
              </a:rPr>
              <a:t> </a:t>
            </a:r>
            <a:r>
              <a:rPr sz="2100" spc="5" dirty="0">
                <a:latin typeface="Arial"/>
                <a:cs typeface="Arial"/>
              </a:rPr>
              <a:t>Diagram</a:t>
            </a:r>
            <a:r>
              <a:rPr lang="en-US" sz="2100" spc="5" dirty="0">
                <a:latin typeface="Arial"/>
                <a:cs typeface="Arial"/>
              </a:rPr>
              <a:t> : Level 0</a:t>
            </a:r>
            <a:endParaRPr sz="2100" dirty="0">
              <a:latin typeface="Arial"/>
              <a:cs typeface="Arial"/>
            </a:endParaRPr>
          </a:p>
          <a:p>
            <a:pPr marL="1043305" lvl="1" indent="-546735">
              <a:lnSpc>
                <a:spcPts val="2495"/>
              </a:lnSpc>
              <a:buChar char="•"/>
              <a:tabLst>
                <a:tab pos="1043305" algn="l"/>
                <a:tab pos="1043940" algn="l"/>
              </a:tabLst>
            </a:pPr>
            <a:r>
              <a:rPr sz="2100" spc="5" dirty="0">
                <a:latin typeface="Arial"/>
                <a:cs typeface="Arial"/>
              </a:rPr>
              <a:t>Contains only one process, </a:t>
            </a:r>
            <a:r>
              <a:rPr sz="2100" dirty="0">
                <a:latin typeface="Arial"/>
                <a:cs typeface="Arial"/>
              </a:rPr>
              <a:t>the entire</a:t>
            </a:r>
            <a:r>
              <a:rPr sz="2100" spc="20" dirty="0">
                <a:latin typeface="Arial"/>
                <a:cs typeface="Arial"/>
              </a:rPr>
              <a:t> </a:t>
            </a:r>
            <a:r>
              <a:rPr sz="2100" spc="5" dirty="0">
                <a:latin typeface="Arial"/>
                <a:cs typeface="Arial"/>
              </a:rPr>
              <a:t>system</a:t>
            </a:r>
            <a:endParaRPr sz="2100" dirty="0">
              <a:latin typeface="Arial"/>
              <a:cs typeface="Arial"/>
            </a:endParaRPr>
          </a:p>
          <a:p>
            <a:pPr marL="1043305" lvl="1" indent="-546735">
              <a:lnSpc>
                <a:spcPts val="2510"/>
              </a:lnSpc>
              <a:buChar char="•"/>
              <a:tabLst>
                <a:tab pos="1043305" algn="l"/>
                <a:tab pos="1043940" algn="l"/>
              </a:tabLst>
            </a:pPr>
            <a:r>
              <a:rPr sz="2100" spc="5" dirty="0">
                <a:latin typeface="Arial"/>
                <a:cs typeface="Arial"/>
              </a:rPr>
              <a:t>Basic inputs, the general system, and outputs</a:t>
            </a:r>
            <a:endParaRPr lang="en-US" sz="2100" spc="5" dirty="0">
              <a:latin typeface="Arial"/>
              <a:cs typeface="Arial"/>
            </a:endParaRPr>
          </a:p>
          <a:p>
            <a:pPr marL="1043305" lvl="1" indent="-546735">
              <a:lnSpc>
                <a:spcPts val="2510"/>
              </a:lnSpc>
              <a:buChar char="•"/>
              <a:tabLst>
                <a:tab pos="1043305" algn="l"/>
                <a:tab pos="1043940" algn="l"/>
              </a:tabLst>
            </a:pPr>
            <a:r>
              <a:rPr lang="en-ID" sz="2100" spc="5" dirty="0">
                <a:latin typeface="Arial"/>
                <a:cs typeface="Arial"/>
              </a:rPr>
              <a:t>The context diagram must fit in one page.</a:t>
            </a:r>
          </a:p>
          <a:p>
            <a:pPr marL="1043305" lvl="1" indent="-546735">
              <a:lnSpc>
                <a:spcPts val="2510"/>
              </a:lnSpc>
              <a:buChar char="•"/>
              <a:tabLst>
                <a:tab pos="1043305" algn="l"/>
                <a:tab pos="1043940" algn="l"/>
              </a:tabLst>
            </a:pPr>
            <a:r>
              <a:rPr lang="en-ID" sz="2100" spc="5" dirty="0">
                <a:latin typeface="Arial"/>
                <a:cs typeface="Arial"/>
              </a:rPr>
              <a:t>The process name in the context diagram should be the name of the information system.</a:t>
            </a:r>
            <a:endParaRPr sz="2100" dirty="0">
              <a:latin typeface="Arial"/>
              <a:cs typeface="Arial"/>
            </a:endParaRPr>
          </a:p>
          <a:p>
            <a:pPr marL="558165" indent="-546100">
              <a:lnSpc>
                <a:spcPts val="2510"/>
              </a:lnSpc>
              <a:spcBef>
                <a:spcPts val="70"/>
              </a:spcBef>
              <a:buAutoNum type="arabicPeriod"/>
              <a:tabLst>
                <a:tab pos="558165" algn="l"/>
                <a:tab pos="558800" algn="l"/>
              </a:tabLst>
            </a:pPr>
            <a:r>
              <a:rPr sz="2100" spc="5" dirty="0">
                <a:latin typeface="Arial"/>
                <a:cs typeface="Arial"/>
              </a:rPr>
              <a:t>Diagram Level</a:t>
            </a:r>
            <a:r>
              <a:rPr sz="2100" spc="10" dirty="0">
                <a:latin typeface="Arial"/>
                <a:cs typeface="Arial"/>
              </a:rPr>
              <a:t> </a:t>
            </a:r>
            <a:r>
              <a:rPr lang="en-US" sz="2100" dirty="0">
                <a:latin typeface="Arial"/>
                <a:cs typeface="Arial"/>
              </a:rPr>
              <a:t>1</a:t>
            </a:r>
            <a:endParaRPr sz="2100" dirty="0">
              <a:latin typeface="Arial"/>
              <a:cs typeface="Arial"/>
            </a:endParaRPr>
          </a:p>
          <a:p>
            <a:pPr marL="1043305" lvl="1" indent="-546735">
              <a:lnSpc>
                <a:spcPts val="2510"/>
              </a:lnSpc>
              <a:buChar char="•"/>
              <a:tabLst>
                <a:tab pos="1043305" algn="l"/>
                <a:tab pos="1043940" algn="l"/>
              </a:tabLst>
            </a:pPr>
            <a:r>
              <a:rPr sz="2100" spc="5" dirty="0">
                <a:latin typeface="Arial"/>
                <a:cs typeface="Arial"/>
              </a:rPr>
              <a:t>Inputs and outputs </a:t>
            </a:r>
            <a:r>
              <a:rPr sz="2100" dirty="0">
                <a:latin typeface="Arial"/>
                <a:cs typeface="Arial"/>
              </a:rPr>
              <a:t>to </a:t>
            </a:r>
            <a:r>
              <a:rPr sz="2100" spc="5" dirty="0">
                <a:latin typeface="Arial"/>
                <a:cs typeface="Arial"/>
              </a:rPr>
              <a:t>entities remain</a:t>
            </a:r>
            <a:r>
              <a:rPr sz="2100" spc="25" dirty="0">
                <a:latin typeface="Arial"/>
                <a:cs typeface="Arial"/>
              </a:rPr>
              <a:t> </a:t>
            </a:r>
            <a:r>
              <a:rPr sz="2100" spc="5" dirty="0">
                <a:latin typeface="Arial"/>
                <a:cs typeface="Arial"/>
              </a:rPr>
              <a:t>constant</a:t>
            </a:r>
            <a:endParaRPr sz="2100" dirty="0">
              <a:latin typeface="Arial"/>
              <a:cs typeface="Arial"/>
            </a:endParaRPr>
          </a:p>
          <a:p>
            <a:pPr marL="1043305" lvl="1" indent="-546735">
              <a:lnSpc>
                <a:spcPct val="100000"/>
              </a:lnSpc>
              <a:buChar char="•"/>
              <a:tabLst>
                <a:tab pos="1043305" algn="l"/>
                <a:tab pos="1043940" algn="l"/>
              </a:tabLst>
            </a:pPr>
            <a:r>
              <a:rPr sz="2100" spc="10" dirty="0">
                <a:latin typeface="Arial"/>
                <a:cs typeface="Arial"/>
              </a:rPr>
              <a:t>Ho</a:t>
            </a:r>
            <a:r>
              <a:rPr lang="en-US" sz="2100" spc="10" dirty="0">
                <a:latin typeface="Arial"/>
                <a:cs typeface="Arial"/>
              </a:rPr>
              <a:t>w</a:t>
            </a:r>
            <a:r>
              <a:rPr sz="2100" spc="10" dirty="0">
                <a:latin typeface="Arial"/>
                <a:cs typeface="Arial"/>
              </a:rPr>
              <a:t>ever </a:t>
            </a:r>
            <a:r>
              <a:rPr sz="2100" dirty="0">
                <a:latin typeface="Arial"/>
                <a:cs typeface="Arial"/>
              </a:rPr>
              <a:t>the </a:t>
            </a:r>
            <a:r>
              <a:rPr sz="2100" spc="5" dirty="0">
                <a:latin typeface="Arial"/>
                <a:cs typeface="Arial"/>
              </a:rPr>
              <a:t>processes </a:t>
            </a:r>
            <a:r>
              <a:rPr sz="2100" dirty="0">
                <a:latin typeface="Arial"/>
                <a:cs typeface="Arial"/>
              </a:rPr>
              <a:t>are</a:t>
            </a:r>
            <a:r>
              <a:rPr sz="2100" spc="10" dirty="0">
                <a:latin typeface="Arial"/>
                <a:cs typeface="Arial"/>
              </a:rPr>
              <a:t> </a:t>
            </a:r>
            <a:r>
              <a:rPr sz="2100" spc="5" dirty="0">
                <a:latin typeface="Arial"/>
                <a:cs typeface="Arial"/>
              </a:rPr>
              <a:t>exploded</a:t>
            </a:r>
            <a:r>
              <a:rPr lang="en-US" sz="2100" dirty="0">
                <a:latin typeface="Arial"/>
                <a:cs typeface="Arial"/>
              </a:rPr>
              <a:t> </a:t>
            </a:r>
            <a:r>
              <a:rPr lang="en-US" sz="2100" spc="10" dirty="0">
                <a:latin typeface="Arial"/>
                <a:cs typeface="Arial"/>
              </a:rPr>
              <a:t>u</a:t>
            </a:r>
            <a:r>
              <a:rPr sz="2100" spc="10" dirty="0">
                <a:latin typeface="Arial"/>
                <a:cs typeface="Arial"/>
              </a:rPr>
              <a:t>p </a:t>
            </a:r>
            <a:r>
              <a:rPr sz="2100" spc="-5" dirty="0">
                <a:latin typeface="Arial"/>
                <a:cs typeface="Arial"/>
              </a:rPr>
              <a:t>to </a:t>
            </a:r>
            <a:r>
              <a:rPr sz="2100" dirty="0">
                <a:latin typeface="Arial"/>
                <a:cs typeface="Arial"/>
              </a:rPr>
              <a:t>9</a:t>
            </a:r>
            <a:r>
              <a:rPr sz="2100" spc="20" dirty="0">
                <a:latin typeface="Arial"/>
                <a:cs typeface="Arial"/>
              </a:rPr>
              <a:t> </a:t>
            </a:r>
            <a:r>
              <a:rPr sz="2100" spc="5" dirty="0">
                <a:latin typeface="Arial"/>
                <a:cs typeface="Arial"/>
              </a:rPr>
              <a:t>processes</a:t>
            </a:r>
            <a:endParaRPr sz="2100" dirty="0">
              <a:latin typeface="Arial"/>
              <a:cs typeface="Arial"/>
            </a:endParaRPr>
          </a:p>
          <a:p>
            <a:pPr marL="1043305" lvl="1" indent="-546735">
              <a:lnSpc>
                <a:spcPts val="2495"/>
              </a:lnSpc>
              <a:buChar char="•"/>
              <a:tabLst>
                <a:tab pos="1043305" algn="l"/>
                <a:tab pos="1043940" algn="l"/>
              </a:tabLst>
            </a:pPr>
            <a:r>
              <a:rPr sz="2100" spc="5" dirty="0">
                <a:latin typeface="Arial"/>
                <a:cs typeface="Arial"/>
              </a:rPr>
              <a:t>Data </a:t>
            </a:r>
            <a:r>
              <a:rPr sz="2100" dirty="0">
                <a:latin typeface="Arial"/>
                <a:cs typeface="Arial"/>
              </a:rPr>
              <a:t>stores are</a:t>
            </a:r>
            <a:r>
              <a:rPr sz="2100" spc="20" dirty="0">
                <a:latin typeface="Arial"/>
                <a:cs typeface="Arial"/>
              </a:rPr>
              <a:t> </a:t>
            </a:r>
            <a:r>
              <a:rPr sz="2100" spc="5" dirty="0">
                <a:latin typeface="Arial"/>
                <a:cs typeface="Arial"/>
              </a:rPr>
              <a:t>here</a:t>
            </a:r>
            <a:endParaRPr sz="2100" dirty="0">
              <a:latin typeface="Arial"/>
              <a:cs typeface="Arial"/>
            </a:endParaRPr>
          </a:p>
          <a:p>
            <a:pPr marL="558165" indent="-546100">
              <a:lnSpc>
                <a:spcPts val="2510"/>
              </a:lnSpc>
              <a:buAutoNum type="arabicPeriod"/>
              <a:tabLst>
                <a:tab pos="558165" algn="l"/>
                <a:tab pos="558800" algn="l"/>
              </a:tabLst>
            </a:pPr>
            <a:r>
              <a:rPr sz="2100" spc="5" dirty="0">
                <a:latin typeface="Arial"/>
                <a:cs typeface="Arial"/>
              </a:rPr>
              <a:t>Diagram Level</a:t>
            </a:r>
            <a:r>
              <a:rPr sz="2100" spc="10" dirty="0">
                <a:latin typeface="Arial"/>
                <a:cs typeface="Arial"/>
              </a:rPr>
              <a:t> </a:t>
            </a:r>
            <a:r>
              <a:rPr lang="en-US" sz="2100" spc="10" dirty="0">
                <a:latin typeface="Arial"/>
                <a:cs typeface="Arial"/>
              </a:rPr>
              <a:t>2</a:t>
            </a:r>
            <a:endParaRPr sz="2100" dirty="0">
              <a:latin typeface="Arial"/>
              <a:cs typeface="Arial"/>
            </a:endParaRPr>
          </a:p>
          <a:p>
            <a:pPr marL="1043305" marR="895350" lvl="1" indent="-546100">
              <a:lnSpc>
                <a:spcPts val="2500"/>
              </a:lnSpc>
              <a:spcBef>
                <a:spcPts val="195"/>
              </a:spcBef>
              <a:buChar char="•"/>
              <a:tabLst>
                <a:tab pos="1043305" algn="l"/>
                <a:tab pos="1043940" algn="l"/>
              </a:tabLst>
            </a:pPr>
            <a:r>
              <a:rPr sz="2100" spc="5" dirty="0">
                <a:latin typeface="Arial"/>
                <a:cs typeface="Arial"/>
              </a:rPr>
              <a:t>Detailed diagram </a:t>
            </a:r>
            <a:r>
              <a:rPr sz="2100" dirty="0">
                <a:latin typeface="Arial"/>
                <a:cs typeface="Arial"/>
              </a:rPr>
              <a:t>for </a:t>
            </a:r>
            <a:r>
              <a:rPr sz="2100" spc="5" dirty="0">
                <a:latin typeface="Arial"/>
                <a:cs typeface="Arial"/>
              </a:rPr>
              <a:t>each process </a:t>
            </a:r>
            <a:r>
              <a:rPr sz="2100" dirty="0">
                <a:latin typeface="Arial"/>
                <a:cs typeface="Arial"/>
              </a:rPr>
              <a:t>from the </a:t>
            </a:r>
            <a:r>
              <a:rPr sz="2100" spc="5" dirty="0">
                <a:latin typeface="Arial"/>
                <a:cs typeface="Arial"/>
              </a:rPr>
              <a:t>previous  diagram</a:t>
            </a:r>
            <a:endParaRPr sz="2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50" dirty="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2100" spc="5" dirty="0">
                <a:latin typeface="Arial"/>
                <a:cs typeface="Arial"/>
              </a:rPr>
              <a:t>and so</a:t>
            </a:r>
            <a:r>
              <a:rPr sz="2100" spc="-80" dirty="0">
                <a:latin typeface="Arial"/>
                <a:cs typeface="Arial"/>
              </a:rPr>
              <a:t> </a:t>
            </a:r>
            <a:r>
              <a:rPr sz="2100" spc="10" dirty="0">
                <a:latin typeface="Arial"/>
                <a:cs typeface="Arial"/>
              </a:rPr>
              <a:t>on…</a:t>
            </a:r>
            <a:endParaRPr sz="2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65424" y="1464563"/>
            <a:ext cx="18427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900" dirty="0">
              <a:latin typeface="Arial"/>
              <a:cs typeface="Arial"/>
            </a:endParaRPr>
          </a:p>
        </p:txBody>
      </p:sp>
      <p:pic>
        <p:nvPicPr>
          <p:cNvPr id="1026" name="Picture 2" descr="Balancing DFD">
            <a:extLst>
              <a:ext uri="{FF2B5EF4-FFF2-40B4-BE49-F238E27FC236}">
                <a16:creationId xmlns:a16="http://schemas.microsoft.com/office/drawing/2014/main" id="{10F487B0-F654-D447-B406-2A4EFA0E0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913"/>
            <a:ext cx="10693400" cy="743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4998" y="885825"/>
            <a:ext cx="4583404" cy="7360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700" spc="-20" dirty="0"/>
              <a:t>Balancing DFD</a:t>
            </a:r>
            <a:endParaRPr sz="4700" dirty="0"/>
          </a:p>
        </p:txBody>
      </p:sp>
      <p:sp>
        <p:nvSpPr>
          <p:cNvPr id="3" name="object 3"/>
          <p:cNvSpPr/>
          <p:nvPr/>
        </p:nvSpPr>
        <p:spPr>
          <a:xfrm>
            <a:off x="2151799" y="2067814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5700" y="2348746"/>
            <a:ext cx="8197850" cy="518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3305" lvl="1" indent="-546735">
              <a:lnSpc>
                <a:spcPts val="2510"/>
              </a:lnSpc>
              <a:spcBef>
                <a:spcPts val="100"/>
              </a:spcBef>
              <a:buChar char="•"/>
              <a:tabLst>
                <a:tab pos="1043305" algn="l"/>
                <a:tab pos="1043940" algn="l"/>
              </a:tabLst>
            </a:pPr>
            <a:r>
              <a:rPr lang="en-ID" sz="2100" spc="5" dirty="0">
                <a:latin typeface="Arial"/>
                <a:cs typeface="Arial"/>
              </a:rPr>
              <a:t>When performing top-down decomposition to a DFD to lower level DFDs, the inputs and outputs must be conserved between levels of DFDs. For example, level n &amp; n+1 must have the same inputs and outputs</a:t>
            </a:r>
          </a:p>
          <a:p>
            <a:pPr marL="1043305" lvl="1" indent="-546735">
              <a:buChar char="•"/>
              <a:tabLst>
                <a:tab pos="1043305" algn="l"/>
                <a:tab pos="1043940" algn="l"/>
              </a:tabLst>
            </a:pPr>
            <a:r>
              <a:rPr lang="en-ID" sz="2100" spc="5" dirty="0">
                <a:latin typeface="Arial"/>
                <a:cs typeface="Arial"/>
              </a:rPr>
              <a:t>Unique Name for Levels</a:t>
            </a:r>
          </a:p>
          <a:p>
            <a:pPr marL="1043305" lvl="1" indent="-546735">
              <a:buChar char="•"/>
              <a:tabLst>
                <a:tab pos="1043305" algn="l"/>
                <a:tab pos="1043940" algn="l"/>
              </a:tabLst>
            </a:pPr>
            <a:r>
              <a:rPr lang="en-ID" sz="2100" spc="5" dirty="0">
                <a:latin typeface="Arial"/>
                <a:cs typeface="Arial"/>
              </a:rPr>
              <a:t>Use unique names within each set of symbols.</a:t>
            </a:r>
          </a:p>
          <a:p>
            <a:pPr marL="1043305" lvl="1" indent="-546735">
              <a:buChar char="•"/>
              <a:tabLst>
                <a:tab pos="1043305" algn="l"/>
                <a:tab pos="1043940" algn="l"/>
              </a:tabLst>
            </a:pPr>
            <a:r>
              <a:rPr lang="en-ID" sz="2100" spc="5" dirty="0">
                <a:latin typeface="Arial"/>
                <a:cs typeface="Arial"/>
              </a:rPr>
              <a:t>No Cross Line in DFD</a:t>
            </a:r>
          </a:p>
          <a:p>
            <a:pPr marL="1043305" lvl="1" indent="-546735">
              <a:buChar char="•"/>
              <a:tabLst>
                <a:tab pos="1043305" algn="l"/>
                <a:tab pos="1043940" algn="l"/>
              </a:tabLst>
            </a:pPr>
            <a:r>
              <a:rPr lang="en-ID" sz="2100" spc="5" dirty="0">
                <a:latin typeface="Arial"/>
                <a:cs typeface="Arial"/>
              </a:rPr>
              <a:t>One way to achieve this is to restrict the number of processes in a data-flow diagram.</a:t>
            </a:r>
          </a:p>
          <a:p>
            <a:pPr marL="1043305" lvl="1" indent="-546735">
              <a:buChar char="•"/>
              <a:tabLst>
                <a:tab pos="1043305" algn="l"/>
                <a:tab pos="1043940" algn="l"/>
              </a:tabLst>
            </a:pPr>
            <a:r>
              <a:rPr lang="en-ID" sz="2100" spc="5" dirty="0">
                <a:latin typeface="Arial"/>
                <a:cs typeface="Arial"/>
              </a:rPr>
              <a:t>Numbering Convention: Use a unique reference number for each process symbol.</a:t>
            </a:r>
          </a:p>
          <a:p>
            <a:pPr marL="1043305" lvl="1" indent="-546735">
              <a:buChar char="•"/>
              <a:tabLst>
                <a:tab pos="1043305" algn="l"/>
                <a:tab pos="1043940" algn="l"/>
              </a:tabLst>
            </a:pPr>
            <a:r>
              <a:rPr lang="en-ID" sz="2100" spc="5" dirty="0">
                <a:latin typeface="Arial"/>
                <a:cs typeface="Arial"/>
              </a:rPr>
              <a:t>Other process numbers are in the hierarchy of:</a:t>
            </a:r>
          </a:p>
          <a:p>
            <a:pPr marL="496570" lvl="1">
              <a:tabLst>
                <a:tab pos="1043305" algn="l"/>
                <a:tab pos="1043940" algn="l"/>
              </a:tabLst>
            </a:pPr>
            <a:r>
              <a:rPr lang="en-ID" sz="2100" spc="5" dirty="0">
                <a:latin typeface="Arial"/>
                <a:cs typeface="Arial"/>
              </a:rPr>
              <a:t>	(1, 2, 3,...);</a:t>
            </a:r>
          </a:p>
          <a:p>
            <a:pPr marL="496570" lvl="1">
              <a:tabLst>
                <a:tab pos="1043305" algn="l"/>
                <a:tab pos="1043940" algn="l"/>
              </a:tabLst>
            </a:pPr>
            <a:r>
              <a:rPr lang="en-ID" sz="2100" spc="5" dirty="0">
                <a:latin typeface="Arial"/>
                <a:cs typeface="Arial"/>
              </a:rPr>
              <a:t>	(1.1, 1.2, 1.3, ..., 2.1, 2.2, 2.3,...);</a:t>
            </a:r>
          </a:p>
          <a:p>
            <a:pPr marL="496570" lvl="1">
              <a:tabLst>
                <a:tab pos="1043305" algn="l"/>
                <a:tab pos="1043940" algn="l"/>
              </a:tabLst>
            </a:pPr>
            <a:r>
              <a:rPr lang="en-ID" sz="2100" spc="5" dirty="0">
                <a:latin typeface="Arial"/>
                <a:cs typeface="Arial"/>
              </a:rPr>
              <a:t>	(1.1.1, 1.1.2, 1.1.3,...).</a:t>
            </a:r>
          </a:p>
          <a:p>
            <a:pPr marL="12065">
              <a:lnSpc>
                <a:spcPts val="2510"/>
              </a:lnSpc>
              <a:spcBef>
                <a:spcPts val="100"/>
              </a:spcBef>
              <a:tabLst>
                <a:tab pos="558165" algn="l"/>
                <a:tab pos="558800" algn="l"/>
              </a:tabLst>
            </a:pPr>
            <a:endParaRPr sz="21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3906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1035" y="916946"/>
            <a:ext cx="526669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-25" dirty="0"/>
              <a:t>Common</a:t>
            </a:r>
            <a:r>
              <a:rPr sz="4700" spc="-80" dirty="0"/>
              <a:t> </a:t>
            </a:r>
            <a:r>
              <a:rPr sz="4700" spc="-20" dirty="0"/>
              <a:t>Mistakes</a:t>
            </a:r>
            <a:endParaRPr sz="4700"/>
          </a:p>
        </p:txBody>
      </p:sp>
      <p:sp>
        <p:nvSpPr>
          <p:cNvPr id="3" name="object 3"/>
          <p:cNvSpPr/>
          <p:nvPr/>
        </p:nvSpPr>
        <p:spPr>
          <a:xfrm>
            <a:off x="2151799" y="2067814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33996" y="2632455"/>
            <a:ext cx="7948295" cy="4088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8165" marR="152400" indent="-5461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558165" algn="l"/>
                <a:tab pos="558800" algn="l"/>
              </a:tabLst>
            </a:pPr>
            <a:r>
              <a:rPr sz="3000" spc="-15" dirty="0">
                <a:latin typeface="Arial"/>
                <a:cs typeface="Arial"/>
              </a:rPr>
              <a:t>Forgetting </a:t>
            </a:r>
            <a:r>
              <a:rPr sz="3000" spc="-10" dirty="0">
                <a:latin typeface="Arial"/>
                <a:cs typeface="Arial"/>
              </a:rPr>
              <a:t>to include </a:t>
            </a:r>
            <a:r>
              <a:rPr sz="3000" dirty="0">
                <a:latin typeface="Arial"/>
                <a:cs typeface="Arial"/>
              </a:rPr>
              <a:t>a </a:t>
            </a:r>
            <a:r>
              <a:rPr sz="3000" spc="-15" dirty="0">
                <a:latin typeface="Arial"/>
                <a:cs typeface="Arial"/>
              </a:rPr>
              <a:t>data </a:t>
            </a:r>
            <a:r>
              <a:rPr sz="3000" spc="-10" dirty="0">
                <a:latin typeface="Arial"/>
                <a:cs typeface="Arial"/>
              </a:rPr>
              <a:t>flow or </a:t>
            </a:r>
            <a:r>
              <a:rPr sz="3000" spc="-15" dirty="0">
                <a:latin typeface="Arial"/>
                <a:cs typeface="Arial"/>
              </a:rPr>
              <a:t>pointing  </a:t>
            </a:r>
            <a:r>
              <a:rPr sz="3000" spc="-10" dirty="0">
                <a:latin typeface="Arial"/>
                <a:cs typeface="Arial"/>
              </a:rPr>
              <a:t>an arrow </a:t>
            </a:r>
            <a:r>
              <a:rPr sz="3000" spc="-5" dirty="0">
                <a:latin typeface="Arial"/>
                <a:cs typeface="Arial"/>
              </a:rPr>
              <a:t>in </a:t>
            </a:r>
            <a:r>
              <a:rPr sz="3000" spc="-10" dirty="0">
                <a:latin typeface="Arial"/>
                <a:cs typeface="Arial"/>
              </a:rPr>
              <a:t>the </a:t>
            </a:r>
            <a:r>
              <a:rPr sz="3000" spc="-15" dirty="0">
                <a:latin typeface="Arial"/>
                <a:cs typeface="Arial"/>
              </a:rPr>
              <a:t>wrong</a:t>
            </a:r>
            <a:r>
              <a:rPr sz="3000" spc="-105" dirty="0">
                <a:latin typeface="Arial"/>
                <a:cs typeface="Arial"/>
              </a:rPr>
              <a:t> </a:t>
            </a:r>
            <a:r>
              <a:rPr sz="3000" spc="-15" dirty="0">
                <a:latin typeface="Arial"/>
                <a:cs typeface="Arial"/>
              </a:rPr>
              <a:t>direction</a:t>
            </a:r>
            <a:endParaRPr sz="3000">
              <a:latin typeface="Arial"/>
              <a:cs typeface="Arial"/>
            </a:endParaRPr>
          </a:p>
          <a:p>
            <a:pPr marL="558165" marR="5080" indent="-546100">
              <a:lnSpc>
                <a:spcPts val="3600"/>
              </a:lnSpc>
              <a:spcBef>
                <a:spcPts val="25"/>
              </a:spcBef>
              <a:buFont typeface="Wingdings"/>
              <a:buChar char=""/>
              <a:tabLst>
                <a:tab pos="558165" algn="l"/>
                <a:tab pos="558800" algn="l"/>
              </a:tabLst>
            </a:pPr>
            <a:r>
              <a:rPr sz="3000" spc="-15" dirty="0">
                <a:latin typeface="Arial"/>
                <a:cs typeface="Arial"/>
              </a:rPr>
              <a:t>Connecting data stores </a:t>
            </a:r>
            <a:r>
              <a:rPr sz="3000" spc="-10" dirty="0">
                <a:latin typeface="Arial"/>
                <a:cs typeface="Arial"/>
              </a:rPr>
              <a:t>and </a:t>
            </a:r>
            <a:r>
              <a:rPr sz="3000" spc="-15" dirty="0">
                <a:latin typeface="Arial"/>
                <a:cs typeface="Arial"/>
              </a:rPr>
              <a:t>external entities  </a:t>
            </a:r>
            <a:r>
              <a:rPr sz="3000" spc="-10" dirty="0">
                <a:latin typeface="Arial"/>
                <a:cs typeface="Arial"/>
              </a:rPr>
              <a:t>directly to </a:t>
            </a:r>
            <a:r>
              <a:rPr sz="3000" spc="-15" dirty="0">
                <a:latin typeface="Arial"/>
                <a:cs typeface="Arial"/>
              </a:rPr>
              <a:t>each</a:t>
            </a:r>
            <a:r>
              <a:rPr sz="3000" spc="-70" dirty="0">
                <a:latin typeface="Arial"/>
                <a:cs typeface="Arial"/>
              </a:rPr>
              <a:t> </a:t>
            </a:r>
            <a:r>
              <a:rPr sz="3000" spc="-15" dirty="0">
                <a:latin typeface="Arial"/>
                <a:cs typeface="Arial"/>
              </a:rPr>
              <a:t>other</a:t>
            </a:r>
            <a:endParaRPr sz="3000">
              <a:latin typeface="Arial"/>
              <a:cs typeface="Arial"/>
            </a:endParaRPr>
          </a:p>
          <a:p>
            <a:pPr marL="558165" indent="-546100">
              <a:lnSpc>
                <a:spcPts val="3385"/>
              </a:lnSpc>
              <a:buFont typeface="Wingdings"/>
              <a:buChar char=""/>
              <a:tabLst>
                <a:tab pos="558165" algn="l"/>
                <a:tab pos="558800" algn="l"/>
              </a:tabLst>
            </a:pPr>
            <a:r>
              <a:rPr sz="3000" spc="-10" dirty="0">
                <a:latin typeface="Arial"/>
                <a:cs typeface="Arial"/>
              </a:rPr>
              <a:t>Incorrectly labeling processes </a:t>
            </a:r>
            <a:r>
              <a:rPr sz="3000" spc="-5" dirty="0">
                <a:latin typeface="Arial"/>
                <a:cs typeface="Arial"/>
              </a:rPr>
              <a:t>or </a:t>
            </a:r>
            <a:r>
              <a:rPr sz="3000" spc="-10" dirty="0">
                <a:latin typeface="Arial"/>
                <a:cs typeface="Arial"/>
              </a:rPr>
              <a:t>data</a:t>
            </a:r>
            <a:r>
              <a:rPr sz="3000" spc="-12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flow</a:t>
            </a:r>
            <a:endParaRPr sz="3000">
              <a:latin typeface="Arial"/>
              <a:cs typeface="Arial"/>
            </a:endParaRPr>
          </a:p>
          <a:p>
            <a:pPr marL="558165" marR="565785" indent="-546100">
              <a:lnSpc>
                <a:spcPts val="3479"/>
              </a:lnSpc>
              <a:spcBef>
                <a:spcPts val="215"/>
              </a:spcBef>
              <a:buFont typeface="Wingdings"/>
              <a:buChar char=""/>
              <a:tabLst>
                <a:tab pos="558165" algn="l"/>
                <a:tab pos="558800" algn="l"/>
              </a:tabLst>
            </a:pPr>
            <a:r>
              <a:rPr sz="3000" spc="-10" dirty="0">
                <a:latin typeface="Arial"/>
                <a:cs typeface="Arial"/>
              </a:rPr>
              <a:t>Including more than nine processes </a:t>
            </a:r>
            <a:r>
              <a:rPr sz="3000" spc="-5" dirty="0">
                <a:latin typeface="Arial"/>
                <a:cs typeface="Arial"/>
              </a:rPr>
              <a:t>on</a:t>
            </a:r>
            <a:r>
              <a:rPr sz="3000" spc="-17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a  </a:t>
            </a:r>
            <a:r>
              <a:rPr sz="3000" spc="-15" dirty="0">
                <a:latin typeface="Arial"/>
                <a:cs typeface="Arial"/>
              </a:rPr>
              <a:t>data </a:t>
            </a:r>
            <a:r>
              <a:rPr sz="3000" spc="-10" dirty="0">
                <a:latin typeface="Arial"/>
                <a:cs typeface="Arial"/>
              </a:rPr>
              <a:t>flow</a:t>
            </a:r>
            <a:r>
              <a:rPr sz="3000" spc="-45" dirty="0">
                <a:latin typeface="Arial"/>
                <a:cs typeface="Arial"/>
              </a:rPr>
              <a:t> </a:t>
            </a:r>
            <a:r>
              <a:rPr sz="3000" spc="-15" dirty="0">
                <a:latin typeface="Arial"/>
                <a:cs typeface="Arial"/>
              </a:rPr>
              <a:t>diagram</a:t>
            </a:r>
            <a:endParaRPr sz="3000">
              <a:latin typeface="Arial"/>
              <a:cs typeface="Arial"/>
            </a:endParaRPr>
          </a:p>
          <a:p>
            <a:pPr marL="558165" indent="-546100">
              <a:lnSpc>
                <a:spcPts val="3470"/>
              </a:lnSpc>
              <a:buFont typeface="Wingdings"/>
              <a:buChar char=""/>
              <a:tabLst>
                <a:tab pos="558165" algn="l"/>
                <a:tab pos="558800" algn="l"/>
              </a:tabLst>
            </a:pPr>
            <a:r>
              <a:rPr sz="3000" spc="-15" dirty="0">
                <a:latin typeface="Arial"/>
                <a:cs typeface="Arial"/>
              </a:rPr>
              <a:t>Omitting data</a:t>
            </a:r>
            <a:r>
              <a:rPr sz="3000" spc="-40" dirty="0">
                <a:latin typeface="Arial"/>
                <a:cs typeface="Arial"/>
              </a:rPr>
              <a:t> </a:t>
            </a:r>
            <a:r>
              <a:rPr sz="3000" spc="-15" dirty="0">
                <a:latin typeface="Arial"/>
                <a:cs typeface="Arial"/>
              </a:rPr>
              <a:t>flows</a:t>
            </a:r>
            <a:endParaRPr sz="3000">
              <a:latin typeface="Arial"/>
              <a:cs typeface="Arial"/>
            </a:endParaRPr>
          </a:p>
          <a:p>
            <a:pPr marL="558165" indent="-546100">
              <a:lnSpc>
                <a:spcPts val="3540"/>
              </a:lnSpc>
              <a:buFont typeface="Wingdings"/>
              <a:buChar char=""/>
              <a:tabLst>
                <a:tab pos="558165" algn="l"/>
                <a:tab pos="558800" algn="l"/>
              </a:tabLst>
            </a:pPr>
            <a:r>
              <a:rPr sz="3000" spc="-15" dirty="0">
                <a:latin typeface="Arial"/>
                <a:cs typeface="Arial"/>
              </a:rPr>
              <a:t>Creating unbalanced</a:t>
            </a:r>
            <a:r>
              <a:rPr sz="3000" spc="-40" dirty="0">
                <a:latin typeface="Arial"/>
                <a:cs typeface="Arial"/>
              </a:rPr>
              <a:t> </a:t>
            </a:r>
            <a:r>
              <a:rPr sz="3000" spc="-15" dirty="0">
                <a:latin typeface="Arial"/>
                <a:cs typeface="Arial"/>
              </a:rPr>
              <a:t>decomposition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7857" y="916946"/>
            <a:ext cx="665289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-15" dirty="0"/>
              <a:t>Logical </a:t>
            </a:r>
            <a:r>
              <a:rPr sz="4700" dirty="0"/>
              <a:t>&amp; </a:t>
            </a:r>
            <a:r>
              <a:rPr sz="4700" spc="-15" dirty="0"/>
              <a:t>Physical</a:t>
            </a:r>
            <a:r>
              <a:rPr sz="4700" spc="-135" dirty="0"/>
              <a:t> </a:t>
            </a:r>
            <a:r>
              <a:rPr sz="4700" spc="-25" dirty="0"/>
              <a:t>DFD</a:t>
            </a:r>
            <a:endParaRPr sz="47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68058" y="1874081"/>
          <a:ext cx="8835390" cy="49538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5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502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Features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Logical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Physical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196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dirty="0">
                          <a:latin typeface="Arial"/>
                          <a:cs typeface="Arial"/>
                        </a:rPr>
                        <a:t>What it depicts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928369">
                        <a:lnSpc>
                          <a:spcPts val="2180"/>
                        </a:lnSpc>
                        <a:spcBef>
                          <a:spcPts val="455"/>
                        </a:spcBef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How the</a:t>
                      </a:r>
                      <a:r>
                        <a:rPr sz="19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business  operates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375920">
                        <a:lnSpc>
                          <a:spcPts val="2180"/>
                        </a:lnSpc>
                        <a:spcBef>
                          <a:spcPts val="455"/>
                        </a:spcBef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How the system will</a:t>
                      </a:r>
                      <a:r>
                        <a:rPr sz="1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be  implemented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196">
                <a:tc>
                  <a:txBody>
                    <a:bodyPr/>
                    <a:lstStyle/>
                    <a:p>
                      <a:pPr marL="96520" marR="549910">
                        <a:lnSpc>
                          <a:spcPts val="2210"/>
                        </a:lnSpc>
                        <a:spcBef>
                          <a:spcPts val="409"/>
                        </a:spcBef>
                      </a:pPr>
                      <a:r>
                        <a:rPr sz="1900" b="1" dirty="0">
                          <a:latin typeface="Arial"/>
                          <a:cs typeface="Arial"/>
                        </a:rPr>
                        <a:t>What the</a:t>
                      </a:r>
                      <a:r>
                        <a:rPr sz="19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latin typeface="Arial"/>
                          <a:cs typeface="Arial"/>
                        </a:rPr>
                        <a:t>processes  represent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Business</a:t>
                      </a:r>
                      <a:r>
                        <a:rPr sz="1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activities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672465">
                        <a:lnSpc>
                          <a:spcPts val="2210"/>
                        </a:lnSpc>
                        <a:spcBef>
                          <a:spcPts val="409"/>
                        </a:spcBef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Programs,</a:t>
                      </a:r>
                      <a:r>
                        <a:rPr sz="19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modules,  manual</a:t>
                      </a:r>
                      <a:r>
                        <a:rPr sz="1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procedures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196">
                <a:tc>
                  <a:txBody>
                    <a:bodyPr/>
                    <a:lstStyle/>
                    <a:p>
                      <a:pPr marL="96520" marR="887730">
                        <a:lnSpc>
                          <a:spcPts val="2210"/>
                        </a:lnSpc>
                        <a:spcBef>
                          <a:spcPts val="415"/>
                        </a:spcBef>
                      </a:pPr>
                      <a:r>
                        <a:rPr sz="1900" b="1" dirty="0">
                          <a:latin typeface="Arial"/>
                          <a:cs typeface="Arial"/>
                        </a:rPr>
                        <a:t>What data</a:t>
                      </a:r>
                      <a:r>
                        <a:rPr sz="19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latin typeface="Arial"/>
                          <a:cs typeface="Arial"/>
                        </a:rPr>
                        <a:t>stores  represent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927735">
                        <a:lnSpc>
                          <a:spcPts val="2210"/>
                        </a:lnSpc>
                        <a:spcBef>
                          <a:spcPts val="415"/>
                        </a:spcBef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Collection of data  regardless of</a:t>
                      </a:r>
                      <a:r>
                        <a:rPr sz="19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how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495934">
                        <a:lnSpc>
                          <a:spcPts val="2210"/>
                        </a:lnSpc>
                        <a:spcBef>
                          <a:spcPts val="415"/>
                        </a:spcBef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Physical files and</a:t>
                      </a:r>
                      <a:r>
                        <a:rPr sz="19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spc="5" dirty="0">
                          <a:latin typeface="Arial"/>
                          <a:cs typeface="Arial"/>
                        </a:rPr>
                        <a:t>DB,  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manual</a:t>
                      </a:r>
                      <a:r>
                        <a:rPr sz="1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files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196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b="1" spc="-35" dirty="0">
                          <a:latin typeface="Arial"/>
                          <a:cs typeface="Arial"/>
                        </a:rPr>
                        <a:t>Type </a:t>
                      </a:r>
                      <a:r>
                        <a:rPr sz="1900" b="1" dirty="0">
                          <a:latin typeface="Arial"/>
                          <a:cs typeface="Arial"/>
                        </a:rPr>
                        <a:t>of data</a:t>
                      </a:r>
                      <a:r>
                        <a:rPr sz="19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dirty="0">
                          <a:latin typeface="Arial"/>
                          <a:cs typeface="Arial"/>
                        </a:rPr>
                        <a:t>store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1116330">
                        <a:lnSpc>
                          <a:spcPts val="2210"/>
                        </a:lnSpc>
                        <a:spcBef>
                          <a:spcPts val="420"/>
                        </a:spcBef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Permanent</a:t>
                      </a:r>
                      <a:r>
                        <a:rPr sz="19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data  collection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483234">
                        <a:lnSpc>
                          <a:spcPts val="2210"/>
                        </a:lnSpc>
                        <a:spcBef>
                          <a:spcPts val="420"/>
                        </a:spcBef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Master files,</a:t>
                      </a:r>
                      <a:r>
                        <a:rPr sz="19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transition  files</a:t>
                      </a:r>
                      <a:r>
                        <a:rPr sz="1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(temporary)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3532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b="1" dirty="0">
                          <a:latin typeface="Arial"/>
                          <a:cs typeface="Arial"/>
                        </a:rPr>
                        <a:t>System controls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Business</a:t>
                      </a:r>
                      <a:r>
                        <a:rPr sz="1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controls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2120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Show controls for  validating input data, for  obtaining a record, for  ensuring successful  completion of a process,  and for system</a:t>
                      </a:r>
                      <a:r>
                        <a:rPr sz="1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security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13579" y="609097"/>
            <a:ext cx="164083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-20" dirty="0"/>
              <a:t>S</a:t>
            </a:r>
            <a:r>
              <a:rPr sz="4700" spc="-15" dirty="0"/>
              <a:t>te</a:t>
            </a:r>
            <a:r>
              <a:rPr sz="4700" spc="-20" dirty="0"/>
              <a:t>ps</a:t>
            </a:r>
            <a:endParaRPr sz="4700" dirty="0"/>
          </a:p>
        </p:txBody>
      </p:sp>
      <p:grpSp>
        <p:nvGrpSpPr>
          <p:cNvPr id="3" name="object 3"/>
          <p:cNvGrpSpPr/>
          <p:nvPr/>
        </p:nvGrpSpPr>
        <p:grpSpPr>
          <a:xfrm>
            <a:off x="3955681" y="2112086"/>
            <a:ext cx="2757170" cy="1282065"/>
            <a:chOff x="3955681" y="2112086"/>
            <a:chExt cx="2757170" cy="1282065"/>
          </a:xfrm>
        </p:grpSpPr>
        <p:sp>
          <p:nvSpPr>
            <p:cNvPr id="4" name="object 4"/>
            <p:cNvSpPr/>
            <p:nvPr/>
          </p:nvSpPr>
          <p:spPr>
            <a:xfrm>
              <a:off x="3962666" y="2119071"/>
              <a:ext cx="2743200" cy="1268095"/>
            </a:xfrm>
            <a:custGeom>
              <a:avLst/>
              <a:gdLst/>
              <a:ahLst/>
              <a:cxnLst/>
              <a:rect l="l" t="t" r="r" b="b"/>
              <a:pathLst>
                <a:path w="2743200" h="1268095">
                  <a:moveTo>
                    <a:pt x="2531351" y="0"/>
                  </a:moveTo>
                  <a:lnTo>
                    <a:pt x="211315" y="0"/>
                  </a:lnTo>
                  <a:lnTo>
                    <a:pt x="162864" y="5581"/>
                  </a:lnTo>
                  <a:lnTo>
                    <a:pt x="118386" y="21479"/>
                  </a:lnTo>
                  <a:lnTo>
                    <a:pt x="79150" y="46425"/>
                  </a:lnTo>
                  <a:lnTo>
                    <a:pt x="46425" y="79150"/>
                  </a:lnTo>
                  <a:lnTo>
                    <a:pt x="21479" y="118386"/>
                  </a:lnTo>
                  <a:lnTo>
                    <a:pt x="5581" y="162864"/>
                  </a:lnTo>
                  <a:lnTo>
                    <a:pt x="0" y="211315"/>
                  </a:lnTo>
                  <a:lnTo>
                    <a:pt x="0" y="1056525"/>
                  </a:lnTo>
                  <a:lnTo>
                    <a:pt x="5581" y="1104976"/>
                  </a:lnTo>
                  <a:lnTo>
                    <a:pt x="21479" y="1149454"/>
                  </a:lnTo>
                  <a:lnTo>
                    <a:pt x="46425" y="1188690"/>
                  </a:lnTo>
                  <a:lnTo>
                    <a:pt x="79150" y="1221415"/>
                  </a:lnTo>
                  <a:lnTo>
                    <a:pt x="118386" y="1246361"/>
                  </a:lnTo>
                  <a:lnTo>
                    <a:pt x="162864" y="1262259"/>
                  </a:lnTo>
                  <a:lnTo>
                    <a:pt x="211315" y="1267841"/>
                  </a:lnTo>
                  <a:lnTo>
                    <a:pt x="2531351" y="1267841"/>
                  </a:lnTo>
                  <a:lnTo>
                    <a:pt x="2579802" y="1262259"/>
                  </a:lnTo>
                  <a:lnTo>
                    <a:pt x="2624279" y="1246361"/>
                  </a:lnTo>
                  <a:lnTo>
                    <a:pt x="2663515" y="1221415"/>
                  </a:lnTo>
                  <a:lnTo>
                    <a:pt x="2696241" y="1188690"/>
                  </a:lnTo>
                  <a:lnTo>
                    <a:pt x="2721187" y="1149454"/>
                  </a:lnTo>
                  <a:lnTo>
                    <a:pt x="2737085" y="1104976"/>
                  </a:lnTo>
                  <a:lnTo>
                    <a:pt x="2742666" y="1056525"/>
                  </a:lnTo>
                  <a:lnTo>
                    <a:pt x="2742666" y="211315"/>
                  </a:lnTo>
                  <a:lnTo>
                    <a:pt x="2737085" y="162864"/>
                  </a:lnTo>
                  <a:lnTo>
                    <a:pt x="2721187" y="118386"/>
                  </a:lnTo>
                  <a:lnTo>
                    <a:pt x="2696241" y="79150"/>
                  </a:lnTo>
                  <a:lnTo>
                    <a:pt x="2663515" y="46425"/>
                  </a:lnTo>
                  <a:lnTo>
                    <a:pt x="2624279" y="21479"/>
                  </a:lnTo>
                  <a:lnTo>
                    <a:pt x="2579802" y="5581"/>
                  </a:lnTo>
                  <a:lnTo>
                    <a:pt x="2531351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62666" y="2119071"/>
              <a:ext cx="2743200" cy="1268095"/>
            </a:xfrm>
            <a:custGeom>
              <a:avLst/>
              <a:gdLst/>
              <a:ahLst/>
              <a:cxnLst/>
              <a:rect l="l" t="t" r="r" b="b"/>
              <a:pathLst>
                <a:path w="2743200" h="1268095">
                  <a:moveTo>
                    <a:pt x="0" y="211308"/>
                  </a:moveTo>
                  <a:lnTo>
                    <a:pt x="5580" y="162857"/>
                  </a:lnTo>
                  <a:lnTo>
                    <a:pt x="21477" y="118380"/>
                  </a:lnTo>
                  <a:lnTo>
                    <a:pt x="46422" y="79145"/>
                  </a:lnTo>
                  <a:lnTo>
                    <a:pt x="79145" y="46422"/>
                  </a:lnTo>
                  <a:lnTo>
                    <a:pt x="118380" y="21477"/>
                  </a:lnTo>
                  <a:lnTo>
                    <a:pt x="162857" y="5580"/>
                  </a:lnTo>
                  <a:lnTo>
                    <a:pt x="211308" y="0"/>
                  </a:lnTo>
                  <a:lnTo>
                    <a:pt x="2531345" y="0"/>
                  </a:lnTo>
                  <a:lnTo>
                    <a:pt x="2579799" y="5580"/>
                  </a:lnTo>
                  <a:lnTo>
                    <a:pt x="2624277" y="21477"/>
                  </a:lnTo>
                  <a:lnTo>
                    <a:pt x="2663512" y="46422"/>
                  </a:lnTo>
                  <a:lnTo>
                    <a:pt x="2696235" y="79145"/>
                  </a:lnTo>
                  <a:lnTo>
                    <a:pt x="2721179" y="118380"/>
                  </a:lnTo>
                  <a:lnTo>
                    <a:pt x="2737074" y="162857"/>
                  </a:lnTo>
                  <a:lnTo>
                    <a:pt x="2742655" y="211308"/>
                  </a:lnTo>
                  <a:lnTo>
                    <a:pt x="2742655" y="1056524"/>
                  </a:lnTo>
                  <a:lnTo>
                    <a:pt x="2737074" y="1104976"/>
                  </a:lnTo>
                  <a:lnTo>
                    <a:pt x="2721179" y="1149454"/>
                  </a:lnTo>
                  <a:lnTo>
                    <a:pt x="2696235" y="1188689"/>
                  </a:lnTo>
                  <a:lnTo>
                    <a:pt x="2663512" y="1221414"/>
                  </a:lnTo>
                  <a:lnTo>
                    <a:pt x="2624277" y="1246359"/>
                  </a:lnTo>
                  <a:lnTo>
                    <a:pt x="2579799" y="1262256"/>
                  </a:lnTo>
                  <a:lnTo>
                    <a:pt x="2531345" y="1267837"/>
                  </a:lnTo>
                  <a:lnTo>
                    <a:pt x="211308" y="1267837"/>
                  </a:lnTo>
                  <a:lnTo>
                    <a:pt x="162857" y="1262256"/>
                  </a:lnTo>
                  <a:lnTo>
                    <a:pt x="118380" y="1246359"/>
                  </a:lnTo>
                  <a:lnTo>
                    <a:pt x="79145" y="1221414"/>
                  </a:lnTo>
                  <a:lnTo>
                    <a:pt x="46422" y="1188689"/>
                  </a:lnTo>
                  <a:lnTo>
                    <a:pt x="21477" y="1149454"/>
                  </a:lnTo>
                  <a:lnTo>
                    <a:pt x="5580" y="1104976"/>
                  </a:lnTo>
                  <a:lnTo>
                    <a:pt x="0" y="1056524"/>
                  </a:lnTo>
                  <a:lnTo>
                    <a:pt x="0" y="211308"/>
                  </a:lnTo>
                  <a:close/>
                </a:path>
              </a:pathLst>
            </a:custGeom>
            <a:ln w="13476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347984" y="2583179"/>
            <a:ext cx="197103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85" dirty="0">
                <a:solidFill>
                  <a:srgbClr val="FFFFFF"/>
                </a:solidFill>
                <a:latin typeface="Trebuchet MS"/>
                <a:cs typeface="Trebuchet MS"/>
              </a:rPr>
              <a:t>Current </a:t>
            </a:r>
            <a:r>
              <a:rPr sz="1900" spc="-100" dirty="0">
                <a:solidFill>
                  <a:srgbClr val="FFFFFF"/>
                </a:solidFill>
                <a:latin typeface="Trebuchet MS"/>
                <a:cs typeface="Trebuchet MS"/>
              </a:rPr>
              <a:t>Logical</a:t>
            </a:r>
            <a:r>
              <a:rPr sz="190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Trebuchet MS"/>
                <a:cs typeface="Trebuchet MS"/>
              </a:rPr>
              <a:t>DFD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955681" y="3865067"/>
            <a:ext cx="2757170" cy="1282065"/>
            <a:chOff x="3955681" y="3865067"/>
            <a:chExt cx="2757170" cy="1282065"/>
          </a:xfrm>
        </p:grpSpPr>
        <p:sp>
          <p:nvSpPr>
            <p:cNvPr id="8" name="object 8"/>
            <p:cNvSpPr/>
            <p:nvPr/>
          </p:nvSpPr>
          <p:spPr>
            <a:xfrm>
              <a:off x="3962666" y="3872052"/>
              <a:ext cx="2743200" cy="1268095"/>
            </a:xfrm>
            <a:custGeom>
              <a:avLst/>
              <a:gdLst/>
              <a:ahLst/>
              <a:cxnLst/>
              <a:rect l="l" t="t" r="r" b="b"/>
              <a:pathLst>
                <a:path w="2743200" h="1268095">
                  <a:moveTo>
                    <a:pt x="2531351" y="0"/>
                  </a:moveTo>
                  <a:lnTo>
                    <a:pt x="211315" y="0"/>
                  </a:lnTo>
                  <a:lnTo>
                    <a:pt x="162864" y="5580"/>
                  </a:lnTo>
                  <a:lnTo>
                    <a:pt x="118386" y="21476"/>
                  </a:lnTo>
                  <a:lnTo>
                    <a:pt x="79150" y="46420"/>
                  </a:lnTo>
                  <a:lnTo>
                    <a:pt x="46425" y="79143"/>
                  </a:lnTo>
                  <a:lnTo>
                    <a:pt x="21479" y="118376"/>
                  </a:lnTo>
                  <a:lnTo>
                    <a:pt x="5581" y="162852"/>
                  </a:lnTo>
                  <a:lnTo>
                    <a:pt x="0" y="211302"/>
                  </a:lnTo>
                  <a:lnTo>
                    <a:pt x="0" y="1056525"/>
                  </a:lnTo>
                  <a:lnTo>
                    <a:pt x="5581" y="1104975"/>
                  </a:lnTo>
                  <a:lnTo>
                    <a:pt x="21479" y="1149451"/>
                  </a:lnTo>
                  <a:lnTo>
                    <a:pt x="46425" y="1188685"/>
                  </a:lnTo>
                  <a:lnTo>
                    <a:pt x="79150" y="1221407"/>
                  </a:lnTo>
                  <a:lnTo>
                    <a:pt x="118386" y="1246351"/>
                  </a:lnTo>
                  <a:lnTo>
                    <a:pt x="162864" y="1262247"/>
                  </a:lnTo>
                  <a:lnTo>
                    <a:pt x="211315" y="1267828"/>
                  </a:lnTo>
                  <a:lnTo>
                    <a:pt x="2531351" y="1267828"/>
                  </a:lnTo>
                  <a:lnTo>
                    <a:pt x="2579802" y="1262247"/>
                  </a:lnTo>
                  <a:lnTo>
                    <a:pt x="2624279" y="1246351"/>
                  </a:lnTo>
                  <a:lnTo>
                    <a:pt x="2663515" y="1221407"/>
                  </a:lnTo>
                  <a:lnTo>
                    <a:pt x="2696241" y="1188685"/>
                  </a:lnTo>
                  <a:lnTo>
                    <a:pt x="2721187" y="1149451"/>
                  </a:lnTo>
                  <a:lnTo>
                    <a:pt x="2737085" y="1104975"/>
                  </a:lnTo>
                  <a:lnTo>
                    <a:pt x="2742666" y="1056525"/>
                  </a:lnTo>
                  <a:lnTo>
                    <a:pt x="2742666" y="211302"/>
                  </a:lnTo>
                  <a:lnTo>
                    <a:pt x="2737085" y="162852"/>
                  </a:lnTo>
                  <a:lnTo>
                    <a:pt x="2721187" y="118376"/>
                  </a:lnTo>
                  <a:lnTo>
                    <a:pt x="2696241" y="79143"/>
                  </a:lnTo>
                  <a:lnTo>
                    <a:pt x="2663515" y="46420"/>
                  </a:lnTo>
                  <a:lnTo>
                    <a:pt x="2624279" y="21476"/>
                  </a:lnTo>
                  <a:lnTo>
                    <a:pt x="2579802" y="5580"/>
                  </a:lnTo>
                  <a:lnTo>
                    <a:pt x="2531351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62666" y="3872052"/>
              <a:ext cx="2743200" cy="1268095"/>
            </a:xfrm>
            <a:custGeom>
              <a:avLst/>
              <a:gdLst/>
              <a:ahLst/>
              <a:cxnLst/>
              <a:rect l="l" t="t" r="r" b="b"/>
              <a:pathLst>
                <a:path w="2743200" h="1268095">
                  <a:moveTo>
                    <a:pt x="0" y="211308"/>
                  </a:moveTo>
                  <a:lnTo>
                    <a:pt x="5580" y="162857"/>
                  </a:lnTo>
                  <a:lnTo>
                    <a:pt x="21477" y="118380"/>
                  </a:lnTo>
                  <a:lnTo>
                    <a:pt x="46422" y="79145"/>
                  </a:lnTo>
                  <a:lnTo>
                    <a:pt x="79145" y="46422"/>
                  </a:lnTo>
                  <a:lnTo>
                    <a:pt x="118380" y="21477"/>
                  </a:lnTo>
                  <a:lnTo>
                    <a:pt x="162857" y="5580"/>
                  </a:lnTo>
                  <a:lnTo>
                    <a:pt x="211308" y="0"/>
                  </a:lnTo>
                  <a:lnTo>
                    <a:pt x="2531345" y="0"/>
                  </a:lnTo>
                  <a:lnTo>
                    <a:pt x="2579799" y="5580"/>
                  </a:lnTo>
                  <a:lnTo>
                    <a:pt x="2624277" y="21477"/>
                  </a:lnTo>
                  <a:lnTo>
                    <a:pt x="2663512" y="46422"/>
                  </a:lnTo>
                  <a:lnTo>
                    <a:pt x="2696235" y="79145"/>
                  </a:lnTo>
                  <a:lnTo>
                    <a:pt x="2721179" y="118380"/>
                  </a:lnTo>
                  <a:lnTo>
                    <a:pt x="2737074" y="162857"/>
                  </a:lnTo>
                  <a:lnTo>
                    <a:pt x="2742655" y="211308"/>
                  </a:lnTo>
                  <a:lnTo>
                    <a:pt x="2742655" y="1056524"/>
                  </a:lnTo>
                  <a:lnTo>
                    <a:pt x="2737074" y="1104976"/>
                  </a:lnTo>
                  <a:lnTo>
                    <a:pt x="2721179" y="1149454"/>
                  </a:lnTo>
                  <a:lnTo>
                    <a:pt x="2696235" y="1188689"/>
                  </a:lnTo>
                  <a:lnTo>
                    <a:pt x="2663512" y="1221414"/>
                  </a:lnTo>
                  <a:lnTo>
                    <a:pt x="2624277" y="1246359"/>
                  </a:lnTo>
                  <a:lnTo>
                    <a:pt x="2579799" y="1262256"/>
                  </a:lnTo>
                  <a:lnTo>
                    <a:pt x="2531345" y="1267837"/>
                  </a:lnTo>
                  <a:lnTo>
                    <a:pt x="211308" y="1267837"/>
                  </a:lnTo>
                  <a:lnTo>
                    <a:pt x="162857" y="1262256"/>
                  </a:lnTo>
                  <a:lnTo>
                    <a:pt x="118380" y="1246359"/>
                  </a:lnTo>
                  <a:lnTo>
                    <a:pt x="79145" y="1221414"/>
                  </a:lnTo>
                  <a:lnTo>
                    <a:pt x="46422" y="1188689"/>
                  </a:lnTo>
                  <a:lnTo>
                    <a:pt x="21477" y="1149454"/>
                  </a:lnTo>
                  <a:lnTo>
                    <a:pt x="5580" y="1104976"/>
                  </a:lnTo>
                  <a:lnTo>
                    <a:pt x="0" y="1056524"/>
                  </a:lnTo>
                  <a:lnTo>
                    <a:pt x="0" y="211308"/>
                  </a:lnTo>
                  <a:close/>
                </a:path>
              </a:pathLst>
            </a:custGeom>
            <a:ln w="13476">
              <a:solidFill>
                <a:srgbClr val="AE5A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582667" y="4189476"/>
            <a:ext cx="1501140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975" marR="5080" indent="-168910">
              <a:lnSpc>
                <a:spcPct val="101099"/>
              </a:lnSpc>
              <a:spcBef>
                <a:spcPts val="75"/>
              </a:spcBef>
            </a:pPr>
            <a:r>
              <a:rPr sz="1900" spc="-4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900" spc="-4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900" spc="-55" dirty="0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sz="1900" spc="-260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1900" spc="-8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900" spc="-11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900" spc="-35" dirty="0">
                <a:solidFill>
                  <a:srgbClr val="FFFFFF"/>
                </a:solidFill>
                <a:latin typeface="Trebuchet MS"/>
                <a:cs typeface="Trebuchet MS"/>
              </a:rPr>
              <a:t>op</a:t>
            </a:r>
            <a:r>
              <a:rPr sz="1900" spc="-2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900" spc="-2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900" spc="-9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900" spc="-45" dirty="0">
                <a:solidFill>
                  <a:srgbClr val="FFFFFF"/>
                </a:solidFill>
                <a:latin typeface="Trebuchet MS"/>
                <a:cs typeface="Trebuchet MS"/>
              </a:rPr>
              <a:t>d  </a:t>
            </a:r>
            <a:r>
              <a:rPr sz="1900" spc="-100" dirty="0">
                <a:solidFill>
                  <a:srgbClr val="FFFFFF"/>
                </a:solidFill>
                <a:latin typeface="Trebuchet MS"/>
                <a:cs typeface="Trebuchet MS"/>
              </a:rPr>
              <a:t>Logical</a:t>
            </a:r>
            <a:r>
              <a:rPr sz="19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Trebuchet MS"/>
                <a:cs typeface="Trebuchet MS"/>
              </a:rPr>
              <a:t>DFD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55681" y="5618035"/>
            <a:ext cx="2757170" cy="1282065"/>
            <a:chOff x="3955681" y="5618035"/>
            <a:chExt cx="2757170" cy="1282065"/>
          </a:xfrm>
        </p:grpSpPr>
        <p:sp>
          <p:nvSpPr>
            <p:cNvPr id="12" name="object 12"/>
            <p:cNvSpPr/>
            <p:nvPr/>
          </p:nvSpPr>
          <p:spPr>
            <a:xfrm>
              <a:off x="3962666" y="5625020"/>
              <a:ext cx="2743200" cy="1268095"/>
            </a:xfrm>
            <a:custGeom>
              <a:avLst/>
              <a:gdLst/>
              <a:ahLst/>
              <a:cxnLst/>
              <a:rect l="l" t="t" r="r" b="b"/>
              <a:pathLst>
                <a:path w="2743200" h="1268095">
                  <a:moveTo>
                    <a:pt x="2531351" y="0"/>
                  </a:moveTo>
                  <a:lnTo>
                    <a:pt x="211315" y="0"/>
                  </a:lnTo>
                  <a:lnTo>
                    <a:pt x="162864" y="5580"/>
                  </a:lnTo>
                  <a:lnTo>
                    <a:pt x="118386" y="21477"/>
                  </a:lnTo>
                  <a:lnTo>
                    <a:pt x="79150" y="46421"/>
                  </a:lnTo>
                  <a:lnTo>
                    <a:pt x="46425" y="79145"/>
                  </a:lnTo>
                  <a:lnTo>
                    <a:pt x="21479" y="118381"/>
                  </a:lnTo>
                  <a:lnTo>
                    <a:pt x="5581" y="162860"/>
                  </a:lnTo>
                  <a:lnTo>
                    <a:pt x="0" y="211315"/>
                  </a:lnTo>
                  <a:lnTo>
                    <a:pt x="0" y="1056524"/>
                  </a:lnTo>
                  <a:lnTo>
                    <a:pt x="5581" y="1104975"/>
                  </a:lnTo>
                  <a:lnTo>
                    <a:pt x="21479" y="1149452"/>
                  </a:lnTo>
                  <a:lnTo>
                    <a:pt x="46425" y="1188687"/>
                  </a:lnTo>
                  <a:lnTo>
                    <a:pt x="79150" y="1221411"/>
                  </a:lnTo>
                  <a:lnTo>
                    <a:pt x="118386" y="1246355"/>
                  </a:lnTo>
                  <a:lnTo>
                    <a:pt x="162864" y="1262252"/>
                  </a:lnTo>
                  <a:lnTo>
                    <a:pt x="211315" y="1267833"/>
                  </a:lnTo>
                  <a:lnTo>
                    <a:pt x="2531351" y="1267833"/>
                  </a:lnTo>
                  <a:lnTo>
                    <a:pt x="2579802" y="1262252"/>
                  </a:lnTo>
                  <a:lnTo>
                    <a:pt x="2624279" y="1246355"/>
                  </a:lnTo>
                  <a:lnTo>
                    <a:pt x="2663515" y="1221411"/>
                  </a:lnTo>
                  <a:lnTo>
                    <a:pt x="2696241" y="1188687"/>
                  </a:lnTo>
                  <a:lnTo>
                    <a:pt x="2721187" y="1149452"/>
                  </a:lnTo>
                  <a:lnTo>
                    <a:pt x="2737085" y="1104975"/>
                  </a:lnTo>
                  <a:lnTo>
                    <a:pt x="2742666" y="1056524"/>
                  </a:lnTo>
                  <a:lnTo>
                    <a:pt x="2742666" y="211315"/>
                  </a:lnTo>
                  <a:lnTo>
                    <a:pt x="2737085" y="162860"/>
                  </a:lnTo>
                  <a:lnTo>
                    <a:pt x="2721187" y="118381"/>
                  </a:lnTo>
                  <a:lnTo>
                    <a:pt x="2696241" y="79145"/>
                  </a:lnTo>
                  <a:lnTo>
                    <a:pt x="2663515" y="46421"/>
                  </a:lnTo>
                  <a:lnTo>
                    <a:pt x="2624279" y="21477"/>
                  </a:lnTo>
                  <a:lnTo>
                    <a:pt x="2579802" y="5580"/>
                  </a:lnTo>
                  <a:lnTo>
                    <a:pt x="2531351" y="0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62666" y="5625020"/>
              <a:ext cx="2743200" cy="1268095"/>
            </a:xfrm>
            <a:custGeom>
              <a:avLst/>
              <a:gdLst/>
              <a:ahLst/>
              <a:cxnLst/>
              <a:rect l="l" t="t" r="r" b="b"/>
              <a:pathLst>
                <a:path w="2743200" h="1268095">
                  <a:moveTo>
                    <a:pt x="0" y="211308"/>
                  </a:moveTo>
                  <a:lnTo>
                    <a:pt x="5580" y="162857"/>
                  </a:lnTo>
                  <a:lnTo>
                    <a:pt x="21477" y="118380"/>
                  </a:lnTo>
                  <a:lnTo>
                    <a:pt x="46422" y="79145"/>
                  </a:lnTo>
                  <a:lnTo>
                    <a:pt x="79145" y="46422"/>
                  </a:lnTo>
                  <a:lnTo>
                    <a:pt x="118380" y="21477"/>
                  </a:lnTo>
                  <a:lnTo>
                    <a:pt x="162857" y="5580"/>
                  </a:lnTo>
                  <a:lnTo>
                    <a:pt x="211308" y="0"/>
                  </a:lnTo>
                  <a:lnTo>
                    <a:pt x="2531345" y="0"/>
                  </a:lnTo>
                  <a:lnTo>
                    <a:pt x="2579799" y="5580"/>
                  </a:lnTo>
                  <a:lnTo>
                    <a:pt x="2624277" y="21477"/>
                  </a:lnTo>
                  <a:lnTo>
                    <a:pt x="2663512" y="46422"/>
                  </a:lnTo>
                  <a:lnTo>
                    <a:pt x="2696235" y="79145"/>
                  </a:lnTo>
                  <a:lnTo>
                    <a:pt x="2721179" y="118380"/>
                  </a:lnTo>
                  <a:lnTo>
                    <a:pt x="2737074" y="162857"/>
                  </a:lnTo>
                  <a:lnTo>
                    <a:pt x="2742655" y="211308"/>
                  </a:lnTo>
                  <a:lnTo>
                    <a:pt x="2742655" y="1056524"/>
                  </a:lnTo>
                  <a:lnTo>
                    <a:pt x="2737074" y="1104976"/>
                  </a:lnTo>
                  <a:lnTo>
                    <a:pt x="2721179" y="1149454"/>
                  </a:lnTo>
                  <a:lnTo>
                    <a:pt x="2696235" y="1188689"/>
                  </a:lnTo>
                  <a:lnTo>
                    <a:pt x="2663512" y="1221414"/>
                  </a:lnTo>
                  <a:lnTo>
                    <a:pt x="2624277" y="1246359"/>
                  </a:lnTo>
                  <a:lnTo>
                    <a:pt x="2579799" y="1262256"/>
                  </a:lnTo>
                  <a:lnTo>
                    <a:pt x="2531345" y="1267837"/>
                  </a:lnTo>
                  <a:lnTo>
                    <a:pt x="211308" y="1267837"/>
                  </a:lnTo>
                  <a:lnTo>
                    <a:pt x="162857" y="1262256"/>
                  </a:lnTo>
                  <a:lnTo>
                    <a:pt x="118380" y="1246359"/>
                  </a:lnTo>
                  <a:lnTo>
                    <a:pt x="79145" y="1221414"/>
                  </a:lnTo>
                  <a:lnTo>
                    <a:pt x="46422" y="1188689"/>
                  </a:lnTo>
                  <a:lnTo>
                    <a:pt x="21477" y="1149454"/>
                  </a:lnTo>
                  <a:lnTo>
                    <a:pt x="5580" y="1104976"/>
                  </a:lnTo>
                  <a:lnTo>
                    <a:pt x="0" y="1056524"/>
                  </a:lnTo>
                  <a:lnTo>
                    <a:pt x="0" y="211308"/>
                  </a:lnTo>
                  <a:close/>
                </a:path>
              </a:pathLst>
            </a:custGeom>
            <a:ln w="13476">
              <a:solidFill>
                <a:srgbClr val="507E3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446130" y="6088379"/>
            <a:ext cx="177418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45" dirty="0">
                <a:solidFill>
                  <a:srgbClr val="FFFFFF"/>
                </a:solidFill>
                <a:latin typeface="Trebuchet MS"/>
                <a:cs typeface="Trebuchet MS"/>
              </a:rPr>
              <a:t>New </a:t>
            </a:r>
            <a:r>
              <a:rPr sz="1900" spc="-95" dirty="0">
                <a:solidFill>
                  <a:srgbClr val="FFFFFF"/>
                </a:solidFill>
                <a:latin typeface="Trebuchet MS"/>
                <a:cs typeface="Trebuchet MS"/>
              </a:rPr>
              <a:t>Physical</a:t>
            </a:r>
            <a:r>
              <a:rPr sz="1900" spc="-2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900" spc="-40" dirty="0">
                <a:solidFill>
                  <a:srgbClr val="FFFFFF"/>
                </a:solidFill>
                <a:latin typeface="Trebuchet MS"/>
                <a:cs typeface="Trebuchet MS"/>
              </a:rPr>
              <a:t>DFD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12715" y="3386911"/>
            <a:ext cx="242570" cy="2238375"/>
          </a:xfrm>
          <a:custGeom>
            <a:avLst/>
            <a:gdLst/>
            <a:ahLst/>
            <a:cxnLst/>
            <a:rect l="l" t="t" r="r" b="b"/>
            <a:pathLst>
              <a:path w="242570" h="2238375">
                <a:moveTo>
                  <a:pt x="242570" y="1995538"/>
                </a:moveTo>
                <a:lnTo>
                  <a:pt x="161709" y="1995538"/>
                </a:lnTo>
                <a:lnTo>
                  <a:pt x="161709" y="1752968"/>
                </a:lnTo>
                <a:lnTo>
                  <a:pt x="80860" y="1752968"/>
                </a:lnTo>
                <a:lnTo>
                  <a:pt x="80860" y="1995538"/>
                </a:lnTo>
                <a:lnTo>
                  <a:pt x="0" y="1995538"/>
                </a:lnTo>
                <a:lnTo>
                  <a:pt x="121285" y="2238108"/>
                </a:lnTo>
                <a:lnTo>
                  <a:pt x="222351" y="2035962"/>
                </a:lnTo>
                <a:lnTo>
                  <a:pt x="242570" y="1995538"/>
                </a:lnTo>
                <a:close/>
              </a:path>
              <a:path w="242570" h="2238375">
                <a:moveTo>
                  <a:pt x="242570" y="242570"/>
                </a:moveTo>
                <a:lnTo>
                  <a:pt x="161709" y="242570"/>
                </a:lnTo>
                <a:lnTo>
                  <a:pt x="161709" y="0"/>
                </a:lnTo>
                <a:lnTo>
                  <a:pt x="80860" y="0"/>
                </a:lnTo>
                <a:lnTo>
                  <a:pt x="80860" y="242570"/>
                </a:lnTo>
                <a:lnTo>
                  <a:pt x="0" y="242570"/>
                </a:lnTo>
                <a:lnTo>
                  <a:pt x="121285" y="485140"/>
                </a:lnTo>
                <a:lnTo>
                  <a:pt x="222351" y="282994"/>
                </a:lnTo>
                <a:lnTo>
                  <a:pt x="242570" y="24257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FD example: Grocery store">
            <a:extLst>
              <a:ext uri="{FF2B5EF4-FFF2-40B4-BE49-F238E27FC236}">
                <a16:creationId xmlns:a16="http://schemas.microsoft.com/office/drawing/2014/main" id="{625F940E-CC65-ED48-A54C-ED794DE56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012824"/>
            <a:ext cx="84836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hysical DFD example">
            <a:extLst>
              <a:ext uri="{FF2B5EF4-FFF2-40B4-BE49-F238E27FC236}">
                <a16:creationId xmlns:a16="http://schemas.microsoft.com/office/drawing/2014/main" id="{7030F0E8-AB09-454B-9271-8644C1E0B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350" y="4391026"/>
            <a:ext cx="8648700" cy="265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F63517-970F-CA4A-9DBB-45472CECE433}"/>
              </a:ext>
            </a:extLst>
          </p:cNvPr>
          <p:cNvSpPr/>
          <p:nvPr/>
        </p:nvSpPr>
        <p:spPr>
          <a:xfrm>
            <a:off x="3503567" y="225136"/>
            <a:ext cx="36862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D" sz="3200" b="1" spc="-20" dirty="0">
                <a:solidFill>
                  <a:srgbClr val="006064"/>
                </a:solidFill>
                <a:latin typeface="Arial"/>
                <a:ea typeface="+mj-ea"/>
                <a:cs typeface="Arial"/>
              </a:rPr>
              <a:t>Logical DFD</a:t>
            </a:r>
            <a:endParaRPr lang="en-US" sz="3200" b="1" spc="-20" dirty="0">
              <a:solidFill>
                <a:srgbClr val="006064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128AF2-EFFE-9748-85C1-7B678E8D12B4}"/>
              </a:ext>
            </a:extLst>
          </p:cNvPr>
          <p:cNvSpPr/>
          <p:nvPr/>
        </p:nvSpPr>
        <p:spPr>
          <a:xfrm>
            <a:off x="3503567" y="3505825"/>
            <a:ext cx="36862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D" sz="3200" b="1" spc="-20" dirty="0">
                <a:solidFill>
                  <a:srgbClr val="006064"/>
                </a:solidFill>
                <a:latin typeface="Arial"/>
                <a:ea typeface="+mj-ea"/>
                <a:cs typeface="Arial"/>
              </a:rPr>
              <a:t>Physical DFD</a:t>
            </a:r>
            <a:endParaRPr lang="en-US" sz="3200" b="1" spc="-20" dirty="0">
              <a:solidFill>
                <a:srgbClr val="006064"/>
              </a:solidFill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1586" y="1271014"/>
            <a:ext cx="70199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10" dirty="0">
                <a:solidFill>
                  <a:srgbClr val="000000"/>
                </a:solidFill>
                <a:latin typeface="Arial"/>
                <a:cs typeface="Arial"/>
              </a:rPr>
              <a:t>Class Assignment (30-60</a:t>
            </a:r>
            <a:r>
              <a:rPr sz="3400" b="1" spc="-1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000000"/>
                </a:solidFill>
                <a:latin typeface="Arial"/>
                <a:cs typeface="Arial"/>
              </a:rPr>
              <a:t>minutes)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21586" y="2183890"/>
            <a:ext cx="7594600" cy="4330673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44450">
              <a:lnSpc>
                <a:spcPct val="101600"/>
              </a:lnSpc>
              <a:spcBef>
                <a:spcPts val="50"/>
              </a:spcBef>
            </a:pPr>
            <a:r>
              <a:rPr sz="2500" spc="15" dirty="0">
                <a:latin typeface="Arial"/>
                <a:cs typeface="Arial"/>
              </a:rPr>
              <a:t>Create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15" dirty="0">
                <a:latin typeface="Arial"/>
                <a:cs typeface="Arial"/>
              </a:rPr>
              <a:t>software application using DFD (context</a:t>
            </a:r>
            <a:r>
              <a:rPr lang="en-US" sz="2500" spc="15" dirty="0">
                <a:latin typeface="Arial"/>
                <a:cs typeface="Arial"/>
              </a:rPr>
              <a:t> lv 0</a:t>
            </a:r>
            <a:r>
              <a:rPr sz="2500" spc="15" dirty="0">
                <a:latin typeface="Arial"/>
                <a:cs typeface="Arial"/>
              </a:rPr>
              <a:t>, </a:t>
            </a:r>
            <a:r>
              <a:rPr sz="2500" spc="-50" dirty="0">
                <a:latin typeface="Arial"/>
                <a:cs typeface="Arial"/>
              </a:rPr>
              <a:t>lv.  </a:t>
            </a:r>
            <a:r>
              <a:rPr lang="en-US" sz="2500" spc="10" dirty="0">
                <a:latin typeface="Arial"/>
                <a:cs typeface="Arial"/>
              </a:rPr>
              <a:t>1</a:t>
            </a:r>
            <a:r>
              <a:rPr sz="2500" spc="10" dirty="0">
                <a:latin typeface="Arial"/>
                <a:cs typeface="Arial"/>
              </a:rPr>
              <a:t>, </a:t>
            </a:r>
            <a:r>
              <a:rPr sz="2500" spc="15" dirty="0">
                <a:latin typeface="Arial"/>
                <a:cs typeface="Arial"/>
              </a:rPr>
              <a:t>and </a:t>
            </a:r>
            <a:r>
              <a:rPr sz="2500" spc="-55" dirty="0">
                <a:latin typeface="Arial"/>
                <a:cs typeface="Arial"/>
              </a:rPr>
              <a:t>lv. </a:t>
            </a:r>
            <a:r>
              <a:rPr lang="en-US" sz="2500" spc="10" dirty="0">
                <a:latin typeface="Arial"/>
                <a:cs typeface="Arial"/>
              </a:rPr>
              <a:t>2</a:t>
            </a:r>
            <a:r>
              <a:rPr sz="2500" spc="10" dirty="0">
                <a:latin typeface="Arial"/>
                <a:cs typeface="Arial"/>
              </a:rPr>
              <a:t>) </a:t>
            </a:r>
            <a:r>
              <a:rPr sz="2500" spc="15" dirty="0">
                <a:latin typeface="Arial"/>
                <a:cs typeface="Arial"/>
              </a:rPr>
              <a:t>and flowchart </a:t>
            </a:r>
            <a:r>
              <a:rPr sz="2500" spc="10" dirty="0">
                <a:latin typeface="Arial"/>
                <a:cs typeface="Arial"/>
              </a:rPr>
              <a:t>of at </a:t>
            </a:r>
            <a:r>
              <a:rPr sz="2500" spc="15" dirty="0">
                <a:latin typeface="Arial"/>
                <a:cs typeface="Arial"/>
              </a:rPr>
              <a:t>least one process </a:t>
            </a:r>
            <a:r>
              <a:rPr sz="2500" spc="5" dirty="0">
                <a:latin typeface="Arial"/>
                <a:cs typeface="Arial"/>
              </a:rPr>
              <a:t>in  </a:t>
            </a:r>
            <a:r>
              <a:rPr sz="2500" spc="10" dirty="0">
                <a:latin typeface="Arial"/>
                <a:cs typeface="Arial"/>
              </a:rPr>
              <a:t>the </a:t>
            </a:r>
            <a:r>
              <a:rPr sz="2500" spc="15" dirty="0">
                <a:latin typeface="Arial"/>
                <a:cs typeface="Arial"/>
              </a:rPr>
              <a:t>DFD </a:t>
            </a:r>
            <a:r>
              <a:rPr sz="2500" spc="20" dirty="0">
                <a:latin typeface="Arial"/>
                <a:cs typeface="Arial"/>
              </a:rPr>
              <a:t>which needs </a:t>
            </a:r>
            <a:r>
              <a:rPr sz="2500" dirty="0">
                <a:latin typeface="Arial"/>
                <a:cs typeface="Arial"/>
              </a:rPr>
              <a:t>to </a:t>
            </a:r>
            <a:r>
              <a:rPr sz="2500" spc="15" dirty="0">
                <a:latin typeface="Arial"/>
                <a:cs typeface="Arial"/>
              </a:rPr>
              <a:t>be further</a:t>
            </a:r>
            <a:r>
              <a:rPr sz="2500" spc="140" dirty="0">
                <a:latin typeface="Arial"/>
                <a:cs typeface="Arial"/>
              </a:rPr>
              <a:t> </a:t>
            </a:r>
            <a:r>
              <a:rPr sz="2500" spc="20" dirty="0">
                <a:latin typeface="Arial"/>
                <a:cs typeface="Arial"/>
              </a:rPr>
              <a:t>described.</a:t>
            </a:r>
            <a:endParaRPr sz="2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500" b="1" spc="20" dirty="0">
                <a:latin typeface="Arial"/>
                <a:cs typeface="Arial"/>
              </a:rPr>
              <a:t>Case</a:t>
            </a:r>
            <a:r>
              <a:rPr sz="2500" b="1" spc="30" dirty="0">
                <a:latin typeface="Arial"/>
                <a:cs typeface="Arial"/>
              </a:rPr>
              <a:t> </a:t>
            </a:r>
            <a:r>
              <a:rPr sz="2500" b="1" spc="15" dirty="0">
                <a:latin typeface="Arial"/>
                <a:cs typeface="Arial"/>
              </a:rPr>
              <a:t>Study:</a:t>
            </a: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latin typeface="Arial"/>
                <a:cs typeface="Arial"/>
              </a:rPr>
              <a:t>A </a:t>
            </a:r>
            <a:r>
              <a:rPr sz="2500" spc="10" dirty="0">
                <a:latin typeface="Arial"/>
                <a:cs typeface="Arial"/>
              </a:rPr>
              <a:t>stock </a:t>
            </a:r>
            <a:r>
              <a:rPr sz="2500" spc="15" dirty="0">
                <a:latin typeface="Arial"/>
                <a:cs typeface="Arial"/>
              </a:rPr>
              <a:t>and transaction </a:t>
            </a:r>
            <a:r>
              <a:rPr sz="2500" spc="25" dirty="0">
                <a:latin typeface="Arial"/>
                <a:cs typeface="Arial"/>
              </a:rPr>
              <a:t>management </a:t>
            </a:r>
            <a:r>
              <a:rPr sz="2500" spc="15" dirty="0">
                <a:latin typeface="Arial"/>
                <a:cs typeface="Arial"/>
              </a:rPr>
              <a:t>application </a:t>
            </a:r>
            <a:r>
              <a:rPr sz="2500" spc="5" dirty="0">
                <a:latin typeface="Arial"/>
                <a:cs typeface="Arial"/>
              </a:rPr>
              <a:t>in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</a:t>
            </a:r>
          </a:p>
          <a:p>
            <a:pPr marL="12700" marR="882015">
              <a:lnSpc>
                <a:spcPct val="100000"/>
              </a:lnSpc>
              <a:spcBef>
                <a:spcPts val="120"/>
              </a:spcBef>
            </a:pPr>
            <a:r>
              <a:rPr sz="2500" spc="20" dirty="0">
                <a:latin typeface="Arial"/>
                <a:cs typeface="Arial"/>
              </a:rPr>
              <a:t>small </a:t>
            </a:r>
            <a:r>
              <a:rPr sz="2500" spc="15" dirty="0">
                <a:latin typeface="Arial"/>
                <a:cs typeface="Arial"/>
              </a:rPr>
              <a:t>shop </a:t>
            </a:r>
            <a:r>
              <a:rPr sz="2500" spc="10" dirty="0">
                <a:latin typeface="Arial"/>
                <a:cs typeface="Arial"/>
              </a:rPr>
              <a:t>or </a:t>
            </a:r>
            <a:r>
              <a:rPr sz="2500" spc="20" dirty="0">
                <a:latin typeface="Arial"/>
                <a:cs typeface="Arial"/>
              </a:rPr>
              <a:t>minimarket (imagine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15" dirty="0">
                <a:latin typeface="Arial"/>
                <a:cs typeface="Arial"/>
              </a:rPr>
              <a:t>traditional  </a:t>
            </a:r>
            <a:r>
              <a:rPr sz="2500" spc="20" dirty="0">
                <a:latin typeface="Arial"/>
                <a:cs typeface="Arial"/>
              </a:rPr>
              <a:t>convenient </a:t>
            </a:r>
            <a:r>
              <a:rPr sz="2500" spc="15" dirty="0">
                <a:latin typeface="Arial"/>
                <a:cs typeface="Arial"/>
              </a:rPr>
              <a:t>store). </a:t>
            </a:r>
            <a:r>
              <a:rPr sz="2500" spc="20" dirty="0">
                <a:latin typeface="Arial"/>
                <a:cs typeface="Arial"/>
              </a:rPr>
              <a:t>When drawing </a:t>
            </a:r>
            <a:r>
              <a:rPr sz="2500" spc="10" dirty="0">
                <a:latin typeface="Arial"/>
                <a:cs typeface="Arial"/>
              </a:rPr>
              <a:t>the data</a:t>
            </a:r>
            <a:r>
              <a:rPr sz="2500" spc="25" dirty="0">
                <a:latin typeface="Arial"/>
                <a:cs typeface="Arial"/>
              </a:rPr>
              <a:t> </a:t>
            </a:r>
            <a:r>
              <a:rPr sz="2500" spc="10" dirty="0">
                <a:latin typeface="Arial"/>
                <a:cs typeface="Arial"/>
              </a:rPr>
              <a:t>flow</a:t>
            </a:r>
            <a:endParaRPr sz="2500" dirty="0">
              <a:latin typeface="Arial"/>
              <a:cs typeface="Arial"/>
            </a:endParaRPr>
          </a:p>
          <a:p>
            <a:pPr marL="12700" marR="74930">
              <a:lnSpc>
                <a:spcPct val="100000"/>
              </a:lnSpc>
              <a:spcBef>
                <a:spcPts val="95"/>
              </a:spcBef>
            </a:pPr>
            <a:r>
              <a:rPr sz="2500" spc="20" dirty="0">
                <a:latin typeface="Arial"/>
                <a:cs typeface="Arial"/>
              </a:rPr>
              <a:t>diagrams, </a:t>
            </a:r>
            <a:r>
              <a:rPr sz="2500" spc="10" dirty="0">
                <a:latin typeface="Arial"/>
                <a:cs typeface="Arial"/>
              </a:rPr>
              <a:t>there </a:t>
            </a:r>
            <a:r>
              <a:rPr sz="2500" spc="15" dirty="0">
                <a:latin typeface="Arial"/>
                <a:cs typeface="Arial"/>
              </a:rPr>
              <a:t>should </a:t>
            </a:r>
            <a:r>
              <a:rPr sz="2500" spc="10" dirty="0">
                <a:latin typeface="Arial"/>
                <a:cs typeface="Arial"/>
              </a:rPr>
              <a:t>be at </a:t>
            </a:r>
            <a:r>
              <a:rPr sz="2500" spc="15" dirty="0">
                <a:latin typeface="Arial"/>
                <a:cs typeface="Arial"/>
              </a:rPr>
              <a:t>least </a:t>
            </a:r>
            <a:r>
              <a:rPr sz="2500" dirty="0">
                <a:latin typeface="Arial"/>
                <a:cs typeface="Arial"/>
              </a:rPr>
              <a:t>2 </a:t>
            </a:r>
            <a:r>
              <a:rPr sz="2500" spc="15" dirty="0">
                <a:latin typeface="Arial"/>
                <a:cs typeface="Arial"/>
              </a:rPr>
              <a:t>external entities  which </a:t>
            </a:r>
            <a:r>
              <a:rPr sz="2500" spc="10" dirty="0">
                <a:latin typeface="Arial"/>
                <a:cs typeface="Arial"/>
              </a:rPr>
              <a:t>are the </a:t>
            </a:r>
            <a:r>
              <a:rPr sz="2500" spc="20" dirty="0">
                <a:latin typeface="Arial"/>
                <a:cs typeface="Arial"/>
              </a:rPr>
              <a:t>Buyer </a:t>
            </a:r>
            <a:r>
              <a:rPr sz="2500" spc="15" dirty="0">
                <a:latin typeface="Arial"/>
                <a:cs typeface="Arial"/>
              </a:rPr>
              <a:t>and </a:t>
            </a:r>
            <a:r>
              <a:rPr sz="2500" spc="10" dirty="0">
                <a:latin typeface="Arial"/>
                <a:cs typeface="Arial"/>
              </a:rPr>
              <a:t>the</a:t>
            </a:r>
            <a:r>
              <a:rPr sz="2500" spc="110" dirty="0">
                <a:latin typeface="Arial"/>
                <a:cs typeface="Arial"/>
              </a:rPr>
              <a:t> </a:t>
            </a:r>
            <a:r>
              <a:rPr sz="2500" spc="10" dirty="0">
                <a:latin typeface="Arial"/>
                <a:cs typeface="Arial"/>
              </a:rPr>
              <a:t>ShopOwner.</a:t>
            </a:r>
            <a:endParaRPr sz="25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5542" y="755402"/>
            <a:ext cx="315849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-20" dirty="0"/>
              <a:t>Flowcharts</a:t>
            </a:r>
            <a:endParaRPr sz="4700"/>
          </a:p>
        </p:txBody>
      </p:sp>
      <p:sp>
        <p:nvSpPr>
          <p:cNvPr id="3" name="object 3"/>
          <p:cNvSpPr/>
          <p:nvPr/>
        </p:nvSpPr>
        <p:spPr>
          <a:xfrm>
            <a:off x="2151799" y="1766798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47164" y="2665310"/>
            <a:ext cx="2209165" cy="819785"/>
          </a:xfrm>
          <a:custGeom>
            <a:avLst/>
            <a:gdLst/>
            <a:ahLst/>
            <a:cxnLst/>
            <a:rect l="l" t="t" r="r" b="b"/>
            <a:pathLst>
              <a:path w="2209165" h="819785">
                <a:moveTo>
                  <a:pt x="355392" y="0"/>
                </a:moveTo>
                <a:lnTo>
                  <a:pt x="1853666" y="0"/>
                </a:lnTo>
                <a:lnTo>
                  <a:pt x="1898247" y="3192"/>
                </a:lnTo>
                <a:lnTo>
                  <a:pt x="1941175" y="12514"/>
                </a:lnTo>
                <a:lnTo>
                  <a:pt x="1982118" y="27582"/>
                </a:lnTo>
                <a:lnTo>
                  <a:pt x="2020742" y="48011"/>
                </a:lnTo>
                <a:lnTo>
                  <a:pt x="2056714" y="73417"/>
                </a:lnTo>
                <a:lnTo>
                  <a:pt x="2089701" y="103417"/>
                </a:lnTo>
                <a:lnTo>
                  <a:pt x="2119371" y="137626"/>
                </a:lnTo>
                <a:lnTo>
                  <a:pt x="2145390" y="175660"/>
                </a:lnTo>
                <a:lnTo>
                  <a:pt x="2167424" y="217136"/>
                </a:lnTo>
                <a:lnTo>
                  <a:pt x="2185142" y="261669"/>
                </a:lnTo>
                <a:lnTo>
                  <a:pt x="2198210" y="308876"/>
                </a:lnTo>
                <a:lnTo>
                  <a:pt x="2206295" y="358371"/>
                </a:lnTo>
                <a:lnTo>
                  <a:pt x="2209064" y="409772"/>
                </a:lnTo>
                <a:lnTo>
                  <a:pt x="2206295" y="461173"/>
                </a:lnTo>
                <a:lnTo>
                  <a:pt x="2198210" y="510669"/>
                </a:lnTo>
                <a:lnTo>
                  <a:pt x="2185142" y="557876"/>
                </a:lnTo>
                <a:lnTo>
                  <a:pt x="2167424" y="602409"/>
                </a:lnTo>
                <a:lnTo>
                  <a:pt x="2145390" y="643884"/>
                </a:lnTo>
                <a:lnTo>
                  <a:pt x="2119371" y="681919"/>
                </a:lnTo>
                <a:lnTo>
                  <a:pt x="2089701" y="716128"/>
                </a:lnTo>
                <a:lnTo>
                  <a:pt x="2056714" y="746127"/>
                </a:lnTo>
                <a:lnTo>
                  <a:pt x="2020742" y="771534"/>
                </a:lnTo>
                <a:lnTo>
                  <a:pt x="1982118" y="791963"/>
                </a:lnTo>
                <a:lnTo>
                  <a:pt x="1941175" y="807030"/>
                </a:lnTo>
                <a:lnTo>
                  <a:pt x="1898247" y="816352"/>
                </a:lnTo>
                <a:lnTo>
                  <a:pt x="1853666" y="819545"/>
                </a:lnTo>
                <a:lnTo>
                  <a:pt x="355392" y="819545"/>
                </a:lnTo>
                <a:lnTo>
                  <a:pt x="310813" y="816352"/>
                </a:lnTo>
                <a:lnTo>
                  <a:pt x="267885" y="807030"/>
                </a:lnTo>
                <a:lnTo>
                  <a:pt x="226944" y="791963"/>
                </a:lnTo>
                <a:lnTo>
                  <a:pt x="188320" y="771534"/>
                </a:lnTo>
                <a:lnTo>
                  <a:pt x="152349" y="746127"/>
                </a:lnTo>
                <a:lnTo>
                  <a:pt x="119362" y="716128"/>
                </a:lnTo>
                <a:lnTo>
                  <a:pt x="89693" y="681919"/>
                </a:lnTo>
                <a:lnTo>
                  <a:pt x="63674" y="643884"/>
                </a:lnTo>
                <a:lnTo>
                  <a:pt x="41639" y="602409"/>
                </a:lnTo>
                <a:lnTo>
                  <a:pt x="23921" y="557876"/>
                </a:lnTo>
                <a:lnTo>
                  <a:pt x="10854" y="510669"/>
                </a:lnTo>
                <a:lnTo>
                  <a:pt x="2769" y="461173"/>
                </a:lnTo>
                <a:lnTo>
                  <a:pt x="0" y="409772"/>
                </a:lnTo>
                <a:lnTo>
                  <a:pt x="2769" y="358371"/>
                </a:lnTo>
                <a:lnTo>
                  <a:pt x="10854" y="308876"/>
                </a:lnTo>
                <a:lnTo>
                  <a:pt x="23921" y="261669"/>
                </a:lnTo>
                <a:lnTo>
                  <a:pt x="41639" y="217136"/>
                </a:lnTo>
                <a:lnTo>
                  <a:pt x="63674" y="175660"/>
                </a:lnTo>
                <a:lnTo>
                  <a:pt x="89693" y="137626"/>
                </a:lnTo>
                <a:lnTo>
                  <a:pt x="119362" y="103417"/>
                </a:lnTo>
                <a:lnTo>
                  <a:pt x="152349" y="73417"/>
                </a:lnTo>
                <a:lnTo>
                  <a:pt x="188320" y="48011"/>
                </a:lnTo>
                <a:lnTo>
                  <a:pt x="226944" y="27582"/>
                </a:lnTo>
                <a:lnTo>
                  <a:pt x="267885" y="12514"/>
                </a:lnTo>
                <a:lnTo>
                  <a:pt x="310813" y="3192"/>
                </a:lnTo>
                <a:lnTo>
                  <a:pt x="355392" y="0"/>
                </a:lnTo>
                <a:close/>
              </a:path>
            </a:pathLst>
          </a:custGeom>
          <a:ln w="13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13482" y="2906267"/>
            <a:ext cx="8763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350" dirty="0">
                <a:latin typeface="Trebuchet MS"/>
                <a:cs typeface="Trebuchet MS"/>
              </a:rPr>
              <a:t>T</a:t>
            </a:r>
            <a:r>
              <a:rPr sz="1900" spc="-90" dirty="0">
                <a:latin typeface="Trebuchet MS"/>
                <a:cs typeface="Trebuchet MS"/>
              </a:rPr>
              <a:t>e</a:t>
            </a:r>
            <a:r>
              <a:rPr sz="1900" spc="-45" dirty="0">
                <a:latin typeface="Trebuchet MS"/>
                <a:cs typeface="Trebuchet MS"/>
              </a:rPr>
              <a:t>r</a:t>
            </a:r>
            <a:r>
              <a:rPr sz="1900" spc="-90" dirty="0">
                <a:latin typeface="Trebuchet MS"/>
                <a:cs typeface="Trebuchet MS"/>
              </a:rPr>
              <a:t>m</a:t>
            </a:r>
            <a:r>
              <a:rPr sz="1900" spc="-110" dirty="0">
                <a:latin typeface="Trebuchet MS"/>
                <a:cs typeface="Trebuchet MS"/>
              </a:rPr>
              <a:t>i</a:t>
            </a:r>
            <a:r>
              <a:rPr sz="1900" spc="-35" dirty="0">
                <a:latin typeface="Trebuchet MS"/>
                <a:cs typeface="Trebuchet MS"/>
              </a:rPr>
              <a:t>n</a:t>
            </a:r>
            <a:r>
              <a:rPr sz="1900" spc="-85" dirty="0">
                <a:latin typeface="Trebuchet MS"/>
                <a:cs typeface="Trebuchet MS"/>
              </a:rPr>
              <a:t>a</a:t>
            </a:r>
            <a:r>
              <a:rPr sz="1900" spc="-125" dirty="0">
                <a:latin typeface="Trebuchet MS"/>
                <a:cs typeface="Trebuchet MS"/>
              </a:rPr>
              <a:t>l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47164" y="3726116"/>
            <a:ext cx="2209165" cy="691515"/>
          </a:xfrm>
          <a:custGeom>
            <a:avLst/>
            <a:gdLst/>
            <a:ahLst/>
            <a:cxnLst/>
            <a:rect l="l" t="t" r="r" b="b"/>
            <a:pathLst>
              <a:path w="2209165" h="691514">
                <a:moveTo>
                  <a:pt x="0" y="691510"/>
                </a:moveTo>
                <a:lnTo>
                  <a:pt x="441812" y="0"/>
                </a:lnTo>
                <a:lnTo>
                  <a:pt x="2209064" y="0"/>
                </a:lnTo>
                <a:lnTo>
                  <a:pt x="1767249" y="691510"/>
                </a:lnTo>
                <a:lnTo>
                  <a:pt x="0" y="691510"/>
                </a:lnTo>
                <a:close/>
              </a:path>
            </a:pathLst>
          </a:custGeom>
          <a:ln w="13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81491" y="3902964"/>
            <a:ext cx="3403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14" dirty="0">
                <a:latin typeface="Trebuchet MS"/>
                <a:cs typeface="Trebuchet MS"/>
              </a:rPr>
              <a:t>I</a:t>
            </a:r>
            <a:r>
              <a:rPr sz="1900" spc="-195" dirty="0">
                <a:latin typeface="Trebuchet MS"/>
                <a:cs typeface="Trebuchet MS"/>
              </a:rPr>
              <a:t>/</a:t>
            </a:r>
            <a:r>
              <a:rPr sz="1900" spc="-25" dirty="0">
                <a:latin typeface="Trebuchet MS"/>
                <a:cs typeface="Trebuchet MS"/>
              </a:rPr>
              <a:t>O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9564" y="4757026"/>
            <a:ext cx="2209165" cy="889635"/>
          </a:xfrm>
          <a:prstGeom prst="rect">
            <a:avLst/>
          </a:prstGeom>
          <a:ln w="13476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 marL="731520">
              <a:lnSpc>
                <a:spcPct val="100000"/>
              </a:lnSpc>
            </a:pPr>
            <a:r>
              <a:rPr sz="1900" spc="-70" dirty="0">
                <a:latin typeface="Trebuchet MS"/>
                <a:cs typeface="Trebuchet MS"/>
              </a:rPr>
              <a:t>Process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38040" y="2818892"/>
            <a:ext cx="5614035" cy="541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595" indent="-303530">
              <a:lnSpc>
                <a:spcPts val="2030"/>
              </a:lnSpc>
              <a:spcBef>
                <a:spcPts val="100"/>
              </a:spcBef>
              <a:buChar char="•"/>
              <a:tabLst>
                <a:tab pos="315595" algn="l"/>
                <a:tab pos="316230" algn="l"/>
              </a:tabLst>
            </a:pPr>
            <a:r>
              <a:rPr sz="1700" spc="-5" dirty="0">
                <a:latin typeface="Arial"/>
                <a:cs typeface="Arial"/>
              </a:rPr>
              <a:t>Indicates </a:t>
            </a:r>
            <a:r>
              <a:rPr sz="1700" dirty="0">
                <a:latin typeface="Arial"/>
                <a:cs typeface="Arial"/>
              </a:rPr>
              <a:t>the </a:t>
            </a:r>
            <a:r>
              <a:rPr sz="1700" spc="-5" dirty="0">
                <a:latin typeface="Arial"/>
                <a:cs typeface="Arial"/>
              </a:rPr>
              <a:t>starting or stopping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point</a:t>
            </a:r>
            <a:endParaRPr sz="1700">
              <a:latin typeface="Arial"/>
              <a:cs typeface="Arial"/>
            </a:endParaRPr>
          </a:p>
          <a:p>
            <a:pPr marL="315595" indent="-303530">
              <a:lnSpc>
                <a:spcPts val="2030"/>
              </a:lnSpc>
              <a:buChar char="•"/>
              <a:tabLst>
                <a:tab pos="315595" algn="l"/>
                <a:tab pos="316230" algn="l"/>
              </a:tabLst>
            </a:pPr>
            <a:r>
              <a:rPr sz="1700" spc="-5" dirty="0">
                <a:latin typeface="Arial"/>
                <a:cs typeface="Arial"/>
              </a:rPr>
              <a:t>Every flowcharts should begin and end with this symbol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38040" y="3821684"/>
            <a:ext cx="46043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595" indent="-303530">
              <a:lnSpc>
                <a:spcPct val="100000"/>
              </a:lnSpc>
              <a:spcBef>
                <a:spcPts val="100"/>
              </a:spcBef>
              <a:buChar char="•"/>
              <a:tabLst>
                <a:tab pos="315595" algn="l"/>
                <a:tab pos="316230" algn="l"/>
              </a:tabLst>
            </a:pPr>
            <a:r>
              <a:rPr sz="1700" spc="-5" dirty="0">
                <a:latin typeface="Arial"/>
                <a:cs typeface="Arial"/>
              </a:rPr>
              <a:t>e.g. reading input or writing/displaying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output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38040" y="4915916"/>
            <a:ext cx="4918710" cy="53784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15595" marR="5080" indent="-303530">
              <a:lnSpc>
                <a:spcPts val="1989"/>
              </a:lnSpc>
              <a:spcBef>
                <a:spcPts val="204"/>
              </a:spcBef>
              <a:buChar char="•"/>
              <a:tabLst>
                <a:tab pos="315595" algn="l"/>
                <a:tab pos="316230" algn="l"/>
              </a:tabLst>
            </a:pPr>
            <a:r>
              <a:rPr sz="1700" spc="-5" dirty="0">
                <a:latin typeface="Arial"/>
                <a:cs typeface="Arial"/>
              </a:rPr>
              <a:t>Represents any </a:t>
            </a:r>
            <a:r>
              <a:rPr sz="1700" spc="-10" dirty="0">
                <a:latin typeface="Arial"/>
                <a:cs typeface="Arial"/>
              </a:rPr>
              <a:t>single </a:t>
            </a:r>
            <a:r>
              <a:rPr sz="1700" spc="-5" dirty="0">
                <a:latin typeface="Arial"/>
                <a:cs typeface="Arial"/>
              </a:rPr>
              <a:t>process (e.g. </a:t>
            </a:r>
            <a:r>
              <a:rPr sz="1700" spc="-10" dirty="0">
                <a:latin typeface="Arial"/>
                <a:cs typeface="Arial"/>
              </a:rPr>
              <a:t>assigning </a:t>
            </a:r>
            <a:r>
              <a:rPr sz="1700" dirty="0">
                <a:latin typeface="Arial"/>
                <a:cs typeface="Arial"/>
              </a:rPr>
              <a:t>a  </a:t>
            </a:r>
            <a:r>
              <a:rPr sz="1700" spc="-5" dirty="0">
                <a:latin typeface="Arial"/>
                <a:cs typeface="Arial"/>
              </a:rPr>
              <a:t>value, performing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calculation)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4864" y="7146035"/>
            <a:ext cx="969708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spc="-15" dirty="0">
                <a:latin typeface="Carlito"/>
                <a:cs typeface="Carlito"/>
              </a:rPr>
              <a:t>Source: Lesley Anne </a:t>
            </a:r>
            <a:r>
              <a:rPr sz="1300" i="1" spc="-20" dirty="0">
                <a:latin typeface="Carlito"/>
                <a:cs typeface="Carlito"/>
              </a:rPr>
              <a:t>Robertson, </a:t>
            </a:r>
            <a:r>
              <a:rPr sz="1300" i="1" spc="-15" dirty="0">
                <a:latin typeface="Carlito"/>
                <a:cs typeface="Carlito"/>
              </a:rPr>
              <a:t>Simple Program Design: </a:t>
            </a:r>
            <a:r>
              <a:rPr sz="1300" i="1" dirty="0">
                <a:latin typeface="Carlito"/>
                <a:cs typeface="Carlito"/>
              </a:rPr>
              <a:t>A </a:t>
            </a:r>
            <a:r>
              <a:rPr sz="1300" i="1" spc="-20" dirty="0">
                <a:latin typeface="Carlito"/>
                <a:cs typeface="Carlito"/>
              </a:rPr>
              <a:t>Step-by-Step </a:t>
            </a:r>
            <a:r>
              <a:rPr sz="1300" i="1" spc="-15" dirty="0">
                <a:latin typeface="Carlito"/>
                <a:cs typeface="Carlito"/>
              </a:rPr>
              <a:t>Approach </a:t>
            </a:r>
            <a:r>
              <a:rPr sz="1300" i="1" spc="-10" dirty="0">
                <a:latin typeface="Carlito"/>
                <a:cs typeface="Carlito"/>
              </a:rPr>
              <a:t>5th </a:t>
            </a:r>
            <a:r>
              <a:rPr sz="1300" i="1" spc="-15" dirty="0">
                <a:latin typeface="Carlito"/>
                <a:cs typeface="Carlito"/>
              </a:rPr>
              <a:t>edition, Course </a:t>
            </a:r>
            <a:r>
              <a:rPr sz="1300" i="1" spc="-35" dirty="0">
                <a:latin typeface="Carlito"/>
                <a:cs typeface="Carlito"/>
              </a:rPr>
              <a:t>Technology, </a:t>
            </a:r>
            <a:r>
              <a:rPr sz="1300" i="1" dirty="0">
                <a:latin typeface="Carlito"/>
                <a:cs typeface="Carlito"/>
              </a:rPr>
              <a:t>a </a:t>
            </a:r>
            <a:r>
              <a:rPr sz="1300" i="1" spc="-15" dirty="0">
                <a:latin typeface="Carlito"/>
                <a:cs typeface="Carlito"/>
              </a:rPr>
              <a:t>part </a:t>
            </a:r>
            <a:r>
              <a:rPr sz="1300" i="1" spc="-10" dirty="0">
                <a:latin typeface="Carlito"/>
                <a:cs typeface="Carlito"/>
              </a:rPr>
              <a:t>of </a:t>
            </a:r>
            <a:r>
              <a:rPr sz="1300" i="1" spc="-20" dirty="0">
                <a:latin typeface="Carlito"/>
                <a:cs typeface="Carlito"/>
              </a:rPr>
              <a:t>Cengage </a:t>
            </a:r>
            <a:r>
              <a:rPr sz="1300" i="1" spc="-15" dirty="0">
                <a:latin typeface="Carlito"/>
                <a:cs typeface="Carlito"/>
              </a:rPr>
              <a:t>Learning</a:t>
            </a:r>
            <a:r>
              <a:rPr sz="1300" i="1" spc="45" dirty="0">
                <a:latin typeface="Carlito"/>
                <a:cs typeface="Carlito"/>
              </a:rPr>
              <a:t> </a:t>
            </a:r>
            <a:r>
              <a:rPr sz="1300" i="1" spc="-10" dirty="0">
                <a:latin typeface="Carlito"/>
                <a:cs typeface="Carlito"/>
              </a:rPr>
              <a:t>(2007).</a:t>
            </a:r>
            <a:endParaRPr sz="13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5542" y="916946"/>
            <a:ext cx="315849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-20" dirty="0"/>
              <a:t>Flowcharts</a:t>
            </a:r>
            <a:endParaRPr sz="4700"/>
          </a:p>
        </p:txBody>
      </p:sp>
      <p:sp>
        <p:nvSpPr>
          <p:cNvPr id="3" name="object 3"/>
          <p:cNvSpPr/>
          <p:nvPr/>
        </p:nvSpPr>
        <p:spPr>
          <a:xfrm>
            <a:off x="2151799" y="1803196"/>
            <a:ext cx="6482080" cy="0"/>
          </a:xfrm>
          <a:custGeom>
            <a:avLst/>
            <a:gdLst/>
            <a:ahLst/>
            <a:cxnLst/>
            <a:rect l="l" t="t" r="r" b="b"/>
            <a:pathLst>
              <a:path w="6482080">
                <a:moveTo>
                  <a:pt x="0" y="0"/>
                </a:moveTo>
                <a:lnTo>
                  <a:pt x="648201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33117" y="2500426"/>
            <a:ext cx="2209165" cy="889635"/>
          </a:xfrm>
          <a:custGeom>
            <a:avLst/>
            <a:gdLst/>
            <a:ahLst/>
            <a:cxnLst/>
            <a:rect l="l" t="t" r="r" b="b"/>
            <a:pathLst>
              <a:path w="2209165" h="889635">
                <a:moveTo>
                  <a:pt x="0" y="0"/>
                </a:moveTo>
                <a:lnTo>
                  <a:pt x="2209064" y="0"/>
                </a:lnTo>
                <a:lnTo>
                  <a:pt x="2209064" y="889423"/>
                </a:lnTo>
                <a:lnTo>
                  <a:pt x="0" y="889423"/>
                </a:lnTo>
                <a:lnTo>
                  <a:pt x="0" y="0"/>
                </a:lnTo>
                <a:close/>
              </a:path>
            </a:pathLst>
          </a:custGeom>
          <a:ln w="13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69719" y="2500426"/>
            <a:ext cx="1927225" cy="889635"/>
          </a:xfrm>
          <a:prstGeom prst="rect">
            <a:avLst/>
          </a:prstGeom>
          <a:ln w="12701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950">
              <a:latin typeface="Times New Roman"/>
              <a:cs typeface="Times New Roman"/>
            </a:endParaRPr>
          </a:p>
          <a:p>
            <a:pPr marL="26670">
              <a:lnSpc>
                <a:spcPct val="100000"/>
              </a:lnSpc>
            </a:pPr>
            <a:r>
              <a:rPr sz="1900" spc="-85" dirty="0">
                <a:latin typeface="Trebuchet MS"/>
                <a:cs typeface="Trebuchet MS"/>
              </a:rPr>
              <a:t>Predefined</a:t>
            </a:r>
            <a:r>
              <a:rPr sz="1900" spc="-180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Process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96804" y="2500426"/>
            <a:ext cx="0" cy="889635"/>
          </a:xfrm>
          <a:custGeom>
            <a:avLst/>
            <a:gdLst/>
            <a:ahLst/>
            <a:cxnLst/>
            <a:rect l="l" t="t" r="r" b="b"/>
            <a:pathLst>
              <a:path h="889635">
                <a:moveTo>
                  <a:pt x="0" y="0"/>
                </a:moveTo>
                <a:lnTo>
                  <a:pt x="1" y="889423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47976" y="3601262"/>
            <a:ext cx="1374775" cy="1374775"/>
          </a:xfrm>
          <a:custGeom>
            <a:avLst/>
            <a:gdLst/>
            <a:ahLst/>
            <a:cxnLst/>
            <a:rect l="l" t="t" r="r" b="b"/>
            <a:pathLst>
              <a:path w="1374775" h="1374775">
                <a:moveTo>
                  <a:pt x="0" y="687282"/>
                </a:moveTo>
                <a:lnTo>
                  <a:pt x="687282" y="0"/>
                </a:lnTo>
                <a:lnTo>
                  <a:pt x="1374564" y="687282"/>
                </a:lnTo>
                <a:lnTo>
                  <a:pt x="687282" y="1374564"/>
                </a:lnTo>
                <a:lnTo>
                  <a:pt x="0" y="687282"/>
                </a:lnTo>
                <a:close/>
              </a:path>
            </a:pathLst>
          </a:custGeom>
          <a:ln w="13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07779" y="3973067"/>
            <a:ext cx="454659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130" marR="5080" indent="-12065">
              <a:lnSpc>
                <a:spcPct val="101099"/>
              </a:lnSpc>
              <a:spcBef>
                <a:spcPts val="75"/>
              </a:spcBef>
            </a:pPr>
            <a:r>
              <a:rPr sz="1900" spc="-40" dirty="0">
                <a:latin typeface="Trebuchet MS"/>
                <a:cs typeface="Trebuchet MS"/>
              </a:rPr>
              <a:t>De</a:t>
            </a:r>
            <a:r>
              <a:rPr sz="1900" spc="-140" dirty="0">
                <a:latin typeface="Trebuchet MS"/>
                <a:cs typeface="Trebuchet MS"/>
              </a:rPr>
              <a:t>c</a:t>
            </a:r>
            <a:r>
              <a:rPr sz="1900" spc="-110" dirty="0">
                <a:latin typeface="Trebuchet MS"/>
                <a:cs typeface="Trebuchet MS"/>
              </a:rPr>
              <a:t>i  </a:t>
            </a:r>
            <a:r>
              <a:rPr sz="1900" spc="-85" dirty="0">
                <a:latin typeface="Trebuchet MS"/>
                <a:cs typeface="Trebuchet MS"/>
              </a:rPr>
              <a:t>s</a:t>
            </a:r>
            <a:r>
              <a:rPr sz="1900" spc="-55" dirty="0">
                <a:latin typeface="Trebuchet MS"/>
                <a:cs typeface="Trebuchet MS"/>
              </a:rPr>
              <a:t>i</a:t>
            </a:r>
            <a:r>
              <a:rPr sz="1900" spc="-15" dirty="0">
                <a:latin typeface="Trebuchet MS"/>
                <a:cs typeface="Trebuchet MS"/>
              </a:rPr>
              <a:t>o</a:t>
            </a:r>
            <a:r>
              <a:rPr sz="1900" spc="-40" dirty="0">
                <a:latin typeface="Trebuchet MS"/>
                <a:cs typeface="Trebuchet MS"/>
              </a:rPr>
              <a:t>n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1606" y="2660396"/>
            <a:ext cx="40779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595" indent="-303530">
              <a:lnSpc>
                <a:spcPct val="100000"/>
              </a:lnSpc>
              <a:spcBef>
                <a:spcPts val="100"/>
              </a:spcBef>
              <a:buChar char="•"/>
              <a:tabLst>
                <a:tab pos="315595" algn="l"/>
                <a:tab pos="316230" algn="l"/>
              </a:tabLst>
            </a:pPr>
            <a:r>
              <a:rPr sz="1700" spc="-5" dirty="0">
                <a:latin typeface="Arial"/>
                <a:cs typeface="Arial"/>
              </a:rPr>
              <a:t>Represents any module in an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algorithm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21606" y="4001515"/>
            <a:ext cx="4807585" cy="5410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15595" marR="5080" indent="-303530">
              <a:lnSpc>
                <a:spcPts val="2020"/>
              </a:lnSpc>
              <a:spcBef>
                <a:spcPts val="180"/>
              </a:spcBef>
              <a:buChar char="•"/>
              <a:tabLst>
                <a:tab pos="315595" algn="l"/>
                <a:tab pos="316230" algn="l"/>
              </a:tabLst>
            </a:pPr>
            <a:r>
              <a:rPr sz="1700" spc="-5" dirty="0">
                <a:latin typeface="Arial"/>
                <a:cs typeface="Arial"/>
              </a:rPr>
              <a:t>Represents </a:t>
            </a:r>
            <a:r>
              <a:rPr sz="1700" dirty="0">
                <a:latin typeface="Arial"/>
                <a:cs typeface="Arial"/>
              </a:rPr>
              <a:t>a </a:t>
            </a:r>
            <a:r>
              <a:rPr sz="1700" spc="-10" dirty="0">
                <a:latin typeface="Arial"/>
                <a:cs typeface="Arial"/>
              </a:rPr>
              <a:t>decision </a:t>
            </a:r>
            <a:r>
              <a:rPr sz="1700" spc="-5" dirty="0">
                <a:latin typeface="Arial"/>
                <a:cs typeface="Arial"/>
              </a:rPr>
              <a:t>in </a:t>
            </a:r>
            <a:r>
              <a:rPr sz="1700" dirty="0">
                <a:latin typeface="Arial"/>
                <a:cs typeface="Arial"/>
              </a:rPr>
              <a:t>the </a:t>
            </a:r>
            <a:r>
              <a:rPr sz="1700" spc="-10" dirty="0">
                <a:latin typeface="Arial"/>
                <a:cs typeface="Arial"/>
              </a:rPr>
              <a:t>logic involving </a:t>
            </a:r>
            <a:r>
              <a:rPr sz="1700" dirty="0">
                <a:latin typeface="Arial"/>
                <a:cs typeface="Arial"/>
              </a:rPr>
              <a:t>the  </a:t>
            </a:r>
            <a:r>
              <a:rPr sz="1700" spc="-5" dirty="0">
                <a:latin typeface="Arial"/>
                <a:cs typeface="Arial"/>
              </a:rPr>
              <a:t>comparison of two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values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81822" y="5632500"/>
            <a:ext cx="2260600" cy="81280"/>
          </a:xfrm>
          <a:custGeom>
            <a:avLst/>
            <a:gdLst/>
            <a:ahLst/>
            <a:cxnLst/>
            <a:rect l="l" t="t" r="r" b="b"/>
            <a:pathLst>
              <a:path w="2260600" h="81279">
                <a:moveTo>
                  <a:pt x="2179510" y="0"/>
                </a:moveTo>
                <a:lnTo>
                  <a:pt x="2179510" y="80848"/>
                </a:lnTo>
                <a:lnTo>
                  <a:pt x="2234958" y="53124"/>
                </a:lnTo>
                <a:lnTo>
                  <a:pt x="2192985" y="53124"/>
                </a:lnTo>
                <a:lnTo>
                  <a:pt x="2192985" y="27724"/>
                </a:lnTo>
                <a:lnTo>
                  <a:pt x="2234958" y="27724"/>
                </a:lnTo>
                <a:lnTo>
                  <a:pt x="2179510" y="0"/>
                </a:lnTo>
                <a:close/>
              </a:path>
              <a:path w="2260600" h="81279">
                <a:moveTo>
                  <a:pt x="2179510" y="27724"/>
                </a:moveTo>
                <a:lnTo>
                  <a:pt x="0" y="27724"/>
                </a:lnTo>
                <a:lnTo>
                  <a:pt x="0" y="53124"/>
                </a:lnTo>
                <a:lnTo>
                  <a:pt x="2179510" y="53124"/>
                </a:lnTo>
                <a:lnTo>
                  <a:pt x="2179510" y="27724"/>
                </a:lnTo>
                <a:close/>
              </a:path>
              <a:path w="2260600" h="81279">
                <a:moveTo>
                  <a:pt x="2234958" y="27724"/>
                </a:moveTo>
                <a:lnTo>
                  <a:pt x="2192985" y="27724"/>
                </a:lnTo>
                <a:lnTo>
                  <a:pt x="2192985" y="53124"/>
                </a:lnTo>
                <a:lnTo>
                  <a:pt x="2234958" y="53124"/>
                </a:lnTo>
                <a:lnTo>
                  <a:pt x="2260358" y="40424"/>
                </a:lnTo>
                <a:lnTo>
                  <a:pt x="2234958" y="27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81822" y="5951550"/>
            <a:ext cx="2260600" cy="81280"/>
          </a:xfrm>
          <a:custGeom>
            <a:avLst/>
            <a:gdLst/>
            <a:ahLst/>
            <a:cxnLst/>
            <a:rect l="l" t="t" r="r" b="b"/>
            <a:pathLst>
              <a:path w="2260600" h="81279">
                <a:moveTo>
                  <a:pt x="80860" y="0"/>
                </a:moveTo>
                <a:lnTo>
                  <a:pt x="0" y="40424"/>
                </a:lnTo>
                <a:lnTo>
                  <a:pt x="80860" y="80860"/>
                </a:lnTo>
                <a:lnTo>
                  <a:pt x="80860" y="53124"/>
                </a:lnTo>
                <a:lnTo>
                  <a:pt x="67386" y="53124"/>
                </a:lnTo>
                <a:lnTo>
                  <a:pt x="67386" y="27724"/>
                </a:lnTo>
                <a:lnTo>
                  <a:pt x="80860" y="27724"/>
                </a:lnTo>
                <a:lnTo>
                  <a:pt x="80860" y="0"/>
                </a:lnTo>
                <a:close/>
              </a:path>
              <a:path w="2260600" h="81279">
                <a:moveTo>
                  <a:pt x="80860" y="27724"/>
                </a:moveTo>
                <a:lnTo>
                  <a:pt x="67386" y="27724"/>
                </a:lnTo>
                <a:lnTo>
                  <a:pt x="67386" y="53124"/>
                </a:lnTo>
                <a:lnTo>
                  <a:pt x="80860" y="53124"/>
                </a:lnTo>
                <a:lnTo>
                  <a:pt x="80860" y="27724"/>
                </a:lnTo>
                <a:close/>
              </a:path>
              <a:path w="2260600" h="81279">
                <a:moveTo>
                  <a:pt x="2260358" y="27724"/>
                </a:moveTo>
                <a:lnTo>
                  <a:pt x="80860" y="27724"/>
                </a:lnTo>
                <a:lnTo>
                  <a:pt x="80860" y="53124"/>
                </a:lnTo>
                <a:lnTo>
                  <a:pt x="2260358" y="53124"/>
                </a:lnTo>
                <a:lnTo>
                  <a:pt x="2260358" y="27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4864" y="7146035"/>
            <a:ext cx="969708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spc="-15" dirty="0">
                <a:latin typeface="Carlito"/>
                <a:cs typeface="Carlito"/>
              </a:rPr>
              <a:t>Source: Lesley Anne </a:t>
            </a:r>
            <a:r>
              <a:rPr sz="1300" i="1" spc="-20" dirty="0">
                <a:latin typeface="Carlito"/>
                <a:cs typeface="Carlito"/>
              </a:rPr>
              <a:t>Robertson, </a:t>
            </a:r>
            <a:r>
              <a:rPr sz="1300" i="1" spc="-15" dirty="0">
                <a:latin typeface="Carlito"/>
                <a:cs typeface="Carlito"/>
              </a:rPr>
              <a:t>Simple Program Design: </a:t>
            </a:r>
            <a:r>
              <a:rPr sz="1300" i="1" dirty="0">
                <a:latin typeface="Carlito"/>
                <a:cs typeface="Carlito"/>
              </a:rPr>
              <a:t>A </a:t>
            </a:r>
            <a:r>
              <a:rPr sz="1300" i="1" spc="-20" dirty="0">
                <a:latin typeface="Carlito"/>
                <a:cs typeface="Carlito"/>
              </a:rPr>
              <a:t>Step-by-Step </a:t>
            </a:r>
            <a:r>
              <a:rPr sz="1300" i="1" spc="-15" dirty="0">
                <a:latin typeface="Carlito"/>
                <a:cs typeface="Carlito"/>
              </a:rPr>
              <a:t>Approach </a:t>
            </a:r>
            <a:r>
              <a:rPr sz="1300" i="1" spc="-10" dirty="0">
                <a:latin typeface="Carlito"/>
                <a:cs typeface="Carlito"/>
              </a:rPr>
              <a:t>5th </a:t>
            </a:r>
            <a:r>
              <a:rPr sz="1300" i="1" spc="-15" dirty="0">
                <a:latin typeface="Carlito"/>
                <a:cs typeface="Carlito"/>
              </a:rPr>
              <a:t>edition, Course </a:t>
            </a:r>
            <a:r>
              <a:rPr sz="1300" i="1" spc="-35" dirty="0">
                <a:latin typeface="Carlito"/>
                <a:cs typeface="Carlito"/>
              </a:rPr>
              <a:t>Technology, </a:t>
            </a:r>
            <a:r>
              <a:rPr sz="1300" i="1" dirty="0">
                <a:latin typeface="Carlito"/>
                <a:cs typeface="Carlito"/>
              </a:rPr>
              <a:t>a </a:t>
            </a:r>
            <a:r>
              <a:rPr sz="1300" i="1" spc="-15" dirty="0">
                <a:latin typeface="Carlito"/>
                <a:cs typeface="Carlito"/>
              </a:rPr>
              <a:t>part </a:t>
            </a:r>
            <a:r>
              <a:rPr sz="1300" i="1" spc="-10" dirty="0">
                <a:latin typeface="Carlito"/>
                <a:cs typeface="Carlito"/>
              </a:rPr>
              <a:t>of </a:t>
            </a:r>
            <a:r>
              <a:rPr sz="1300" i="1" spc="-20" dirty="0">
                <a:latin typeface="Carlito"/>
                <a:cs typeface="Carlito"/>
              </a:rPr>
              <a:t>Cengage </a:t>
            </a:r>
            <a:r>
              <a:rPr sz="1300" i="1" spc="-15" dirty="0">
                <a:latin typeface="Carlito"/>
                <a:cs typeface="Carlito"/>
              </a:rPr>
              <a:t>Learning</a:t>
            </a:r>
            <a:r>
              <a:rPr sz="1300" i="1" spc="45" dirty="0">
                <a:latin typeface="Carlito"/>
                <a:cs typeface="Carlito"/>
              </a:rPr>
              <a:t> </a:t>
            </a:r>
            <a:r>
              <a:rPr sz="1300" i="1" spc="-10" dirty="0">
                <a:latin typeface="Carlito"/>
                <a:cs typeface="Carlito"/>
              </a:rPr>
              <a:t>(2007).</a:t>
            </a:r>
            <a:endParaRPr sz="13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21606" y="5388355"/>
            <a:ext cx="5185410" cy="79057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15595" marR="5080" indent="-303530">
              <a:lnSpc>
                <a:spcPts val="1989"/>
              </a:lnSpc>
              <a:spcBef>
                <a:spcPts val="204"/>
              </a:spcBef>
              <a:buChar char="•"/>
              <a:tabLst>
                <a:tab pos="315595" algn="l"/>
                <a:tab pos="316230" algn="l"/>
              </a:tabLst>
            </a:pPr>
            <a:r>
              <a:rPr sz="1700" spc="-5" dirty="0">
                <a:latin typeface="Arial"/>
                <a:cs typeface="Arial"/>
              </a:rPr>
              <a:t>Connects various symbols in </a:t>
            </a:r>
            <a:r>
              <a:rPr sz="1700" dirty="0">
                <a:latin typeface="Arial"/>
                <a:cs typeface="Arial"/>
              </a:rPr>
              <a:t>a </a:t>
            </a:r>
            <a:r>
              <a:rPr sz="1700" spc="-5" dirty="0">
                <a:latin typeface="Arial"/>
                <a:cs typeface="Arial"/>
              </a:rPr>
              <a:t>flowchart, and  contain an arrowhead only when </a:t>
            </a:r>
            <a:r>
              <a:rPr sz="1700" dirty="0">
                <a:latin typeface="Arial"/>
                <a:cs typeface="Arial"/>
              </a:rPr>
              <a:t>the </a:t>
            </a:r>
            <a:r>
              <a:rPr sz="1700" spc="-5" dirty="0">
                <a:latin typeface="Arial"/>
                <a:cs typeface="Arial"/>
              </a:rPr>
              <a:t>flow of control  is not from top </a:t>
            </a:r>
            <a:r>
              <a:rPr sz="1700" dirty="0">
                <a:latin typeface="Arial"/>
                <a:cs typeface="Arial"/>
              </a:rPr>
              <a:t>to </a:t>
            </a:r>
            <a:r>
              <a:rPr sz="1700" spc="-5" dirty="0">
                <a:latin typeface="Arial"/>
                <a:cs typeface="Arial"/>
              </a:rPr>
              <a:t>bottom or left </a:t>
            </a:r>
            <a:r>
              <a:rPr sz="1700" dirty="0">
                <a:latin typeface="Arial"/>
                <a:cs typeface="Arial"/>
              </a:rPr>
              <a:t>to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right.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Flowcharts:</a:t>
            </a:r>
            <a:r>
              <a:rPr spc="-70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4305046" y="1679701"/>
            <a:ext cx="2355850" cy="0"/>
          </a:xfrm>
          <a:custGeom>
            <a:avLst/>
            <a:gdLst/>
            <a:ahLst/>
            <a:cxnLst/>
            <a:rect l="l" t="t" r="r" b="b"/>
            <a:pathLst>
              <a:path w="2355850">
                <a:moveTo>
                  <a:pt x="0" y="0"/>
                </a:moveTo>
                <a:lnTo>
                  <a:pt x="235575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68589" y="2570987"/>
            <a:ext cx="7382509" cy="3506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15" dirty="0">
                <a:latin typeface="Arial"/>
                <a:cs typeface="Arial"/>
              </a:rPr>
              <a:t>Define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15" dirty="0">
                <a:latin typeface="Arial"/>
                <a:cs typeface="Arial"/>
              </a:rPr>
              <a:t>solution algorithm </a:t>
            </a:r>
            <a:r>
              <a:rPr sz="2500" spc="10" dirty="0">
                <a:latin typeface="Arial"/>
                <a:cs typeface="Arial"/>
              </a:rPr>
              <a:t>that</a:t>
            </a:r>
            <a:r>
              <a:rPr sz="2500" spc="110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will:</a:t>
            </a:r>
            <a:endParaRPr sz="2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 dirty="0">
              <a:latin typeface="Arial"/>
              <a:cs typeface="Arial"/>
            </a:endParaRPr>
          </a:p>
          <a:p>
            <a:pPr marL="558165" indent="-546100">
              <a:lnSpc>
                <a:spcPct val="100000"/>
              </a:lnSpc>
              <a:buAutoNum type="arabicPeriod"/>
              <a:tabLst>
                <a:tab pos="558165" algn="l"/>
                <a:tab pos="558800" algn="l"/>
              </a:tabLst>
            </a:pPr>
            <a:r>
              <a:rPr sz="2500" spc="20" dirty="0">
                <a:latin typeface="Arial"/>
                <a:cs typeface="Arial"/>
              </a:rPr>
              <a:t>prompt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15" dirty="0">
                <a:latin typeface="Arial"/>
                <a:cs typeface="Arial"/>
              </a:rPr>
              <a:t>terminal operator </a:t>
            </a:r>
            <a:r>
              <a:rPr sz="2500" spc="10" dirty="0">
                <a:latin typeface="Arial"/>
                <a:cs typeface="Arial"/>
              </a:rPr>
              <a:t>for three</a:t>
            </a:r>
            <a:r>
              <a:rPr sz="2500" spc="80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characters,</a:t>
            </a:r>
            <a:endParaRPr sz="2500" dirty="0">
              <a:latin typeface="Arial"/>
              <a:cs typeface="Arial"/>
            </a:endParaRPr>
          </a:p>
          <a:p>
            <a:pPr marL="558165" indent="-546100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558165" algn="l"/>
                <a:tab pos="558800" algn="l"/>
              </a:tabLst>
            </a:pPr>
            <a:r>
              <a:rPr sz="2500" spc="15" dirty="0">
                <a:latin typeface="Arial"/>
                <a:cs typeface="Arial"/>
              </a:rPr>
              <a:t>accept those characters </a:t>
            </a:r>
            <a:r>
              <a:rPr sz="2500" spc="10" dirty="0">
                <a:latin typeface="Arial"/>
                <a:cs typeface="Arial"/>
              </a:rPr>
              <a:t>as</a:t>
            </a:r>
            <a:r>
              <a:rPr sz="2500" spc="50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input,</a:t>
            </a:r>
            <a:endParaRPr sz="2500" dirty="0">
              <a:latin typeface="Arial"/>
              <a:cs typeface="Arial"/>
            </a:endParaRPr>
          </a:p>
          <a:p>
            <a:pPr marL="558165" indent="-546100">
              <a:lnSpc>
                <a:spcPct val="100000"/>
              </a:lnSpc>
              <a:buAutoNum type="arabicPeriod"/>
              <a:tabLst>
                <a:tab pos="558165" algn="l"/>
                <a:tab pos="558800" algn="l"/>
              </a:tabLst>
            </a:pPr>
            <a:r>
              <a:rPr sz="2500" spc="15" dirty="0">
                <a:latin typeface="Arial"/>
                <a:cs typeface="Arial"/>
              </a:rPr>
              <a:t>sort </a:t>
            </a:r>
            <a:r>
              <a:rPr sz="2500" spc="10" dirty="0">
                <a:latin typeface="Arial"/>
                <a:cs typeface="Arial"/>
              </a:rPr>
              <a:t>them into </a:t>
            </a:r>
            <a:r>
              <a:rPr sz="2500" spc="20" dirty="0">
                <a:latin typeface="Arial"/>
                <a:cs typeface="Arial"/>
              </a:rPr>
              <a:t>ascending sequence,</a:t>
            </a:r>
            <a:r>
              <a:rPr sz="2500" spc="70" dirty="0">
                <a:latin typeface="Arial"/>
                <a:cs typeface="Arial"/>
              </a:rPr>
              <a:t> </a:t>
            </a:r>
            <a:r>
              <a:rPr sz="2500" spc="15" dirty="0">
                <a:latin typeface="Arial"/>
                <a:cs typeface="Arial"/>
              </a:rPr>
              <a:t>and</a:t>
            </a:r>
            <a:endParaRPr sz="2500" dirty="0">
              <a:latin typeface="Arial"/>
              <a:cs typeface="Arial"/>
            </a:endParaRPr>
          </a:p>
          <a:p>
            <a:pPr marL="558165" indent="-546100">
              <a:lnSpc>
                <a:spcPct val="100000"/>
              </a:lnSpc>
              <a:buAutoNum type="arabicPeriod"/>
              <a:tabLst>
                <a:tab pos="558165" algn="l"/>
                <a:tab pos="558800" algn="l"/>
              </a:tabLst>
            </a:pPr>
            <a:r>
              <a:rPr sz="2500" spc="15" dirty="0">
                <a:latin typeface="Arial"/>
                <a:cs typeface="Arial"/>
              </a:rPr>
              <a:t>output </a:t>
            </a:r>
            <a:r>
              <a:rPr sz="2500" spc="10" dirty="0">
                <a:latin typeface="Arial"/>
                <a:cs typeface="Arial"/>
              </a:rPr>
              <a:t>them </a:t>
            </a:r>
            <a:r>
              <a:rPr sz="2500" dirty="0">
                <a:latin typeface="Arial"/>
                <a:cs typeface="Arial"/>
              </a:rPr>
              <a:t>to </a:t>
            </a:r>
            <a:r>
              <a:rPr sz="2500" spc="10" dirty="0">
                <a:latin typeface="Arial"/>
                <a:cs typeface="Arial"/>
              </a:rPr>
              <a:t>the</a:t>
            </a:r>
            <a:r>
              <a:rPr sz="2500" spc="90" dirty="0">
                <a:latin typeface="Arial"/>
                <a:cs typeface="Arial"/>
              </a:rPr>
              <a:t> </a:t>
            </a:r>
            <a:r>
              <a:rPr sz="2500" spc="20" dirty="0">
                <a:latin typeface="Arial"/>
                <a:cs typeface="Arial"/>
              </a:rPr>
              <a:t>screen.</a:t>
            </a:r>
            <a:endParaRPr sz="2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 dirty="0">
              <a:latin typeface="Arial"/>
              <a:cs typeface="Arial"/>
            </a:endParaRPr>
          </a:p>
          <a:p>
            <a:pPr marL="12700" marR="5080">
              <a:lnSpc>
                <a:spcPct val="103200"/>
              </a:lnSpc>
              <a:spcBef>
                <a:spcPts val="5"/>
              </a:spcBef>
            </a:pPr>
            <a:r>
              <a:rPr sz="2500" spc="15" dirty="0">
                <a:latin typeface="Arial"/>
                <a:cs typeface="Arial"/>
              </a:rPr>
              <a:t>The algorithm </a:t>
            </a:r>
            <a:r>
              <a:rPr sz="2500" spc="5" dirty="0">
                <a:latin typeface="Arial"/>
                <a:cs typeface="Arial"/>
              </a:rPr>
              <a:t>is </a:t>
            </a:r>
            <a:r>
              <a:rPr sz="2500" dirty="0">
                <a:latin typeface="Arial"/>
                <a:cs typeface="Arial"/>
              </a:rPr>
              <a:t>to </a:t>
            </a:r>
            <a:r>
              <a:rPr sz="2500" spc="15" dirty="0">
                <a:latin typeface="Arial"/>
                <a:cs typeface="Arial"/>
              </a:rPr>
              <a:t>continue </a:t>
            </a:r>
            <a:r>
              <a:rPr sz="2500" dirty="0">
                <a:latin typeface="Arial"/>
                <a:cs typeface="Arial"/>
              </a:rPr>
              <a:t>to </a:t>
            </a:r>
            <a:r>
              <a:rPr sz="2500" spc="15" dirty="0">
                <a:latin typeface="Arial"/>
                <a:cs typeface="Arial"/>
              </a:rPr>
              <a:t>read characters </a:t>
            </a:r>
            <a:r>
              <a:rPr sz="2500" spc="10" dirty="0">
                <a:latin typeface="Arial"/>
                <a:cs typeface="Arial"/>
              </a:rPr>
              <a:t>until  </a:t>
            </a:r>
            <a:r>
              <a:rPr sz="2500" spc="20" dirty="0">
                <a:latin typeface="Arial"/>
                <a:cs typeface="Arial"/>
              </a:rPr>
              <a:t>XXX </a:t>
            </a:r>
            <a:r>
              <a:rPr sz="2500" spc="5" dirty="0">
                <a:latin typeface="Arial"/>
                <a:cs typeface="Arial"/>
              </a:rPr>
              <a:t>is</a:t>
            </a:r>
            <a:r>
              <a:rPr sz="2500" spc="40" dirty="0">
                <a:latin typeface="Arial"/>
                <a:cs typeface="Arial"/>
              </a:rPr>
              <a:t> </a:t>
            </a:r>
            <a:r>
              <a:rPr sz="2500" spc="20" dirty="0">
                <a:latin typeface="Arial"/>
                <a:cs typeface="Arial"/>
              </a:rPr>
              <a:t>entered.</a:t>
            </a:r>
            <a:endParaRPr sz="25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91934" y="798580"/>
            <a:ext cx="2442210" cy="10134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655955" marR="5080" indent="-643890">
              <a:lnSpc>
                <a:spcPts val="3700"/>
              </a:lnSpc>
              <a:spcBef>
                <a:spcPts val="540"/>
              </a:spcBef>
            </a:pPr>
            <a:r>
              <a:rPr spc="-10" dirty="0"/>
              <a:t>F</a:t>
            </a:r>
            <a:r>
              <a:rPr spc="-5" dirty="0"/>
              <a:t>l</a:t>
            </a:r>
            <a:r>
              <a:rPr spc="-10" dirty="0"/>
              <a:t>o</a:t>
            </a:r>
            <a:r>
              <a:rPr spc="-5" dirty="0"/>
              <a:t>w</a:t>
            </a:r>
            <a:r>
              <a:rPr spc="-10" dirty="0"/>
              <a:t>cha</a:t>
            </a:r>
            <a:r>
              <a:rPr dirty="0"/>
              <a:t>r</a:t>
            </a:r>
            <a:r>
              <a:rPr spc="-5" dirty="0"/>
              <a:t>t</a:t>
            </a:r>
            <a:r>
              <a:rPr spc="-10" dirty="0"/>
              <a:t>s:  </a:t>
            </a:r>
            <a:r>
              <a:rPr dirty="0"/>
              <a:t>E</a:t>
            </a:r>
            <a:r>
              <a:rPr spc="-10" dirty="0"/>
              <a:t>xa</a:t>
            </a:r>
            <a:r>
              <a:rPr spc="-5" dirty="0"/>
              <a:t>m</a:t>
            </a:r>
            <a:r>
              <a:rPr spc="-15" dirty="0"/>
              <a:t>p</a:t>
            </a:r>
            <a:r>
              <a:rPr spc="-5" dirty="0"/>
              <a:t>l</a:t>
            </a:r>
            <a:r>
              <a:rPr dirty="0"/>
              <a:t>e</a:t>
            </a:r>
          </a:p>
        </p:txBody>
      </p:sp>
      <p:sp>
        <p:nvSpPr>
          <p:cNvPr id="3" name="object 3"/>
          <p:cNvSpPr/>
          <p:nvPr/>
        </p:nvSpPr>
        <p:spPr>
          <a:xfrm>
            <a:off x="7162583" y="2067814"/>
            <a:ext cx="2355850" cy="0"/>
          </a:xfrm>
          <a:custGeom>
            <a:avLst/>
            <a:gdLst/>
            <a:ahLst/>
            <a:cxnLst/>
            <a:rect l="l" t="t" r="r" b="b"/>
            <a:pathLst>
              <a:path w="2355850">
                <a:moveTo>
                  <a:pt x="0" y="0"/>
                </a:moveTo>
                <a:lnTo>
                  <a:pt x="2355752" y="1"/>
                </a:lnTo>
              </a:path>
            </a:pathLst>
          </a:custGeom>
          <a:ln w="40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2273" y="399008"/>
            <a:ext cx="6046025" cy="67555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991</Words>
  <Application>Microsoft Macintosh PowerPoint</Application>
  <PresentationFormat>Custom</PresentationFormat>
  <Paragraphs>151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Carlito</vt:lpstr>
      <vt:lpstr>Times New Roman</vt:lpstr>
      <vt:lpstr>Trebuchet MS</vt:lpstr>
      <vt:lpstr>Wingdings</vt:lpstr>
      <vt:lpstr>Office Theme</vt:lpstr>
      <vt:lpstr>Rekayasa Piranti Lunak</vt:lpstr>
      <vt:lpstr>Data Flow Diagrams</vt:lpstr>
      <vt:lpstr>Symbols</vt:lpstr>
      <vt:lpstr>Symbols: Entity</vt:lpstr>
      <vt:lpstr>Symbols: Processes</vt:lpstr>
      <vt:lpstr>Symbols: Data Flow</vt:lpstr>
      <vt:lpstr>Symbols: Data Store</vt:lpstr>
      <vt:lpstr>Basic Rules</vt:lpstr>
      <vt:lpstr>Levels</vt:lpstr>
      <vt:lpstr>PowerPoint Presentation</vt:lpstr>
      <vt:lpstr>Balancing DFD</vt:lpstr>
      <vt:lpstr>Common Mistakes</vt:lpstr>
      <vt:lpstr>Logical &amp; Physical DFD</vt:lpstr>
      <vt:lpstr>Steps</vt:lpstr>
      <vt:lpstr>PowerPoint Presentation</vt:lpstr>
      <vt:lpstr>Class Assignment (30-60 minutes)</vt:lpstr>
      <vt:lpstr>Flowcharts</vt:lpstr>
      <vt:lpstr>Flowcharts</vt:lpstr>
      <vt:lpstr>Flowcharts: Example</vt:lpstr>
      <vt:lpstr>Flowcharts: 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week9</dc:title>
  <dc:creator>andreR</dc:creator>
  <cp:lastModifiedBy>Eunike Endariahna S</cp:lastModifiedBy>
  <cp:revision>6</cp:revision>
  <dcterms:created xsi:type="dcterms:W3CDTF">2021-03-30T11:07:33Z</dcterms:created>
  <dcterms:modified xsi:type="dcterms:W3CDTF">2021-03-30T12:35:56Z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2020-03-28T00:00:00Z</vt:filetime>
  </property>
  <property fmtid="{D5CDD505-2E9C-101B-9397-08002B2CF9AE}" pid="3" name="Creator">
    <vt:lpwstr>PowerPoint</vt:lpwstr>
  </property>
  <property fmtid="{D5CDD505-2E9C-101B-9397-08002B2CF9AE}" pid="4" name="LastSaved">
    <vt:filetime>2021-03-30T00:00:00Z</vt:filetime>
  </property>
</Properties>
</file>