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291" r:id="rId55"/>
    <p:sldId id="292" r:id="rId56"/>
    <p:sldId id="293" r:id="rId5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C3C3C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6531" y="3086100"/>
            <a:ext cx="11262360" cy="3304540"/>
          </a:xfrm>
          <a:custGeom>
            <a:avLst/>
            <a:gdLst/>
            <a:ahLst/>
            <a:cxnLst/>
            <a:rect l="l" t="t" r="r" b="b"/>
            <a:pathLst>
              <a:path w="11262360" h="3304540">
                <a:moveTo>
                  <a:pt x="11262360" y="0"/>
                </a:moveTo>
                <a:lnTo>
                  <a:pt x="0" y="0"/>
                </a:lnTo>
                <a:lnTo>
                  <a:pt x="0" y="3304031"/>
                </a:lnTo>
                <a:lnTo>
                  <a:pt x="11262360" y="3304031"/>
                </a:lnTo>
                <a:lnTo>
                  <a:pt x="1126236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9986" y="447294"/>
            <a:ext cx="3647440" cy="177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9993" y="2696665"/>
            <a:ext cx="5614670" cy="2236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C3C3C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993" y="1640390"/>
            <a:ext cx="5170805" cy="1149985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3600" spc="-114" dirty="0">
                <a:solidFill>
                  <a:srgbClr val="1A315F"/>
                </a:solidFill>
              </a:rPr>
              <a:t>IF351</a:t>
            </a:r>
            <a:r>
              <a:rPr sz="3600" spc="-110" dirty="0">
                <a:solidFill>
                  <a:srgbClr val="1A315F"/>
                </a:solidFill>
              </a:rPr>
              <a:t> </a:t>
            </a:r>
            <a:r>
              <a:rPr sz="3600" spc="35" dirty="0">
                <a:solidFill>
                  <a:srgbClr val="1A315F"/>
                </a:solidFill>
              </a:rPr>
              <a:t>DATABASE</a:t>
            </a:r>
            <a:r>
              <a:rPr sz="3600" spc="-105" dirty="0">
                <a:solidFill>
                  <a:srgbClr val="1A315F"/>
                </a:solidFill>
              </a:rPr>
              <a:t> </a:t>
            </a:r>
            <a:r>
              <a:rPr sz="3600" dirty="0">
                <a:solidFill>
                  <a:srgbClr val="1A315F"/>
                </a:solidFill>
              </a:rPr>
              <a:t>SYSTEMS</a:t>
            </a:r>
            <a:endParaRPr sz="3600" dirty="0"/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spc="-45" dirty="0">
                <a:solidFill>
                  <a:srgbClr val="4590B8"/>
                </a:solidFill>
              </a:rPr>
              <a:t>0</a:t>
            </a:r>
            <a:r>
              <a:rPr lang="en-US" sz="1600" spc="-45" dirty="0">
                <a:solidFill>
                  <a:srgbClr val="4590B8"/>
                </a:solidFill>
              </a:rPr>
              <a:t>7</a:t>
            </a:r>
            <a:r>
              <a:rPr sz="1600" spc="-55" dirty="0">
                <a:solidFill>
                  <a:srgbClr val="4590B8"/>
                </a:solidFill>
              </a:rPr>
              <a:t> </a:t>
            </a:r>
            <a:r>
              <a:rPr sz="1600" dirty="0">
                <a:solidFill>
                  <a:srgbClr val="4590B8"/>
                </a:solidFill>
              </a:rPr>
              <a:t>SELECT</a:t>
            </a:r>
            <a:r>
              <a:rPr sz="1600" spc="-35" dirty="0">
                <a:solidFill>
                  <a:srgbClr val="4590B8"/>
                </a:solidFill>
              </a:rPr>
              <a:t> </a:t>
            </a:r>
            <a:r>
              <a:rPr sz="1600" spc="10" dirty="0">
                <a:solidFill>
                  <a:srgbClr val="4590B8"/>
                </a:solidFill>
              </a:rPr>
              <a:t>STATEMENT</a:t>
            </a:r>
            <a:r>
              <a:rPr sz="1600" spc="-55" dirty="0">
                <a:solidFill>
                  <a:srgbClr val="4590B8"/>
                </a:solidFill>
              </a:rPr>
              <a:t> </a:t>
            </a:r>
            <a:r>
              <a:rPr sz="1600" spc="-45" dirty="0">
                <a:solidFill>
                  <a:srgbClr val="4590B8"/>
                </a:solidFill>
              </a:rPr>
              <a:t>2</a:t>
            </a:r>
            <a:r>
              <a:rPr lang="en-US" sz="1600" spc="-45" dirty="0">
                <a:solidFill>
                  <a:srgbClr val="4590B8"/>
                </a:solidFill>
              </a:rPr>
              <a:t> &amp; 3</a:t>
            </a:r>
            <a:endParaRPr sz="1600" dirty="0"/>
          </a:p>
        </p:txBody>
      </p:sp>
      <p:sp>
        <p:nvSpPr>
          <p:cNvPr id="3" name="object 3"/>
          <p:cNvSpPr txBox="1"/>
          <p:nvPr/>
        </p:nvSpPr>
        <p:spPr>
          <a:xfrm>
            <a:off x="659993" y="976629"/>
            <a:ext cx="18567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85" dirty="0">
                <a:solidFill>
                  <a:srgbClr val="959FA7"/>
                </a:solidFill>
                <a:latin typeface="Trebuchet MS"/>
                <a:cs typeface="Trebuchet MS"/>
              </a:rPr>
              <a:t>DENNIS</a:t>
            </a:r>
            <a:r>
              <a:rPr sz="1600" spc="-95" dirty="0">
                <a:solidFill>
                  <a:srgbClr val="959FA7"/>
                </a:solidFill>
                <a:latin typeface="Trebuchet MS"/>
                <a:cs typeface="Trebuchet MS"/>
              </a:rPr>
              <a:t> </a:t>
            </a:r>
            <a:r>
              <a:rPr sz="1600" spc="130" dirty="0">
                <a:solidFill>
                  <a:srgbClr val="959FA7"/>
                </a:solidFill>
                <a:latin typeface="Trebuchet MS"/>
                <a:cs typeface="Trebuchet MS"/>
              </a:rPr>
              <a:t>GUNAWAN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9714" y="796630"/>
            <a:ext cx="770220" cy="14732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-25" dirty="0">
                <a:solidFill>
                  <a:srgbClr val="FFFFFF"/>
                </a:solidFill>
              </a:rPr>
              <a:t>R</a:t>
            </a:r>
            <a:r>
              <a:rPr sz="2800" spc="-20" dirty="0">
                <a:solidFill>
                  <a:srgbClr val="FFFFFF"/>
                </a:solidFill>
              </a:rPr>
              <a:t>E</a:t>
            </a:r>
            <a:r>
              <a:rPr sz="2800" spc="80" dirty="0">
                <a:solidFill>
                  <a:srgbClr val="FFFFFF"/>
                </a:solidFill>
              </a:rPr>
              <a:t>VIE</a:t>
            </a:r>
            <a:r>
              <a:rPr sz="2800" spc="150" dirty="0">
                <a:solidFill>
                  <a:srgbClr val="FFFFFF"/>
                </a:solidFill>
              </a:rPr>
              <a:t>W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370" dirty="0">
                <a:solidFill>
                  <a:srgbClr val="FFFFFF"/>
                </a:solidFill>
              </a:rPr>
              <a:t> </a:t>
            </a:r>
            <a:r>
              <a:rPr sz="2800" spc="-80" dirty="0">
                <a:solidFill>
                  <a:srgbClr val="FFFFFF"/>
                </a:solidFill>
              </a:rPr>
              <a:t>S</a:t>
            </a:r>
            <a:r>
              <a:rPr sz="2800" spc="-85" dirty="0">
                <a:solidFill>
                  <a:srgbClr val="FFFFFF"/>
                </a:solidFill>
              </a:rPr>
              <a:t>E</a:t>
            </a:r>
            <a:r>
              <a:rPr sz="2800" spc="45" dirty="0">
                <a:solidFill>
                  <a:srgbClr val="FFFFFF"/>
                </a:solidFill>
              </a:rPr>
              <a:t>LEC</a:t>
            </a:r>
            <a:r>
              <a:rPr sz="2800" spc="55" dirty="0">
                <a:solidFill>
                  <a:srgbClr val="FFFFFF"/>
                </a:solidFill>
              </a:rPr>
              <a:t>T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70" dirty="0">
                <a:solidFill>
                  <a:srgbClr val="FFFFFF"/>
                </a:solidFill>
              </a:rPr>
              <a:t>S</a:t>
            </a:r>
            <a:r>
              <a:rPr sz="2800" spc="-210" dirty="0">
                <a:solidFill>
                  <a:srgbClr val="FFFFFF"/>
                </a:solidFill>
              </a:rPr>
              <a:t>T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25" dirty="0">
                <a:solidFill>
                  <a:srgbClr val="FFFFFF"/>
                </a:solidFill>
              </a:rPr>
              <a:t>T</a:t>
            </a:r>
            <a:r>
              <a:rPr sz="2800" spc="-15" dirty="0">
                <a:solidFill>
                  <a:srgbClr val="FFFFFF"/>
                </a:solidFill>
              </a:rPr>
              <a:t>E</a:t>
            </a:r>
            <a:r>
              <a:rPr sz="2800" spc="135" dirty="0">
                <a:solidFill>
                  <a:srgbClr val="FFFFFF"/>
                </a:solidFill>
              </a:rPr>
              <a:t>MENT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75" dirty="0">
                <a:solidFill>
                  <a:srgbClr val="FFFFFF"/>
                </a:solidFill>
              </a:rPr>
              <a:t>1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078450"/>
            <a:ext cx="2387600" cy="205232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2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5" dirty="0">
                <a:solidFill>
                  <a:srgbClr val="3C3C3C"/>
                </a:solidFill>
                <a:latin typeface="Trebuchet MS"/>
                <a:cs typeface="Trebuchet MS"/>
              </a:rPr>
              <a:t>SELECT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50" dirty="0">
                <a:solidFill>
                  <a:srgbClr val="3C3C3C"/>
                </a:solidFill>
                <a:latin typeface="Trebuchet MS"/>
                <a:cs typeface="Trebuchet MS"/>
              </a:rPr>
              <a:t>FROM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75" dirty="0">
                <a:solidFill>
                  <a:srgbClr val="3C3C3C"/>
                </a:solidFill>
                <a:latin typeface="Trebuchet MS"/>
                <a:cs typeface="Trebuchet MS"/>
              </a:rPr>
              <a:t>WHERE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Operators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Agg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egatio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Functions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30" dirty="0">
                <a:solidFill>
                  <a:srgbClr val="FFFFFF"/>
                </a:solidFill>
              </a:rPr>
              <a:t>COURSE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25" dirty="0">
                <a:solidFill>
                  <a:srgbClr val="FFFFFF"/>
                </a:solidFill>
              </a:rPr>
              <a:t>SUB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120" dirty="0">
                <a:solidFill>
                  <a:srgbClr val="FFFFFF"/>
                </a:solidFill>
              </a:rPr>
              <a:t>LEARNING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70" dirty="0">
                <a:solidFill>
                  <a:srgbClr val="FFFFFF"/>
                </a:solidFill>
              </a:rPr>
              <a:t>OUTCOMES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(SUB-CLO)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527297"/>
            <a:ext cx="5164455" cy="83693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15" dirty="0">
                <a:solidFill>
                  <a:srgbClr val="3C3C3C"/>
                </a:solidFill>
                <a:latin typeface="Trebuchet MS"/>
                <a:cs typeface="Trebuchet MS"/>
              </a:rPr>
              <a:t>Sub-CLO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  <a:p>
            <a:pPr marL="641985" lvl="1" indent="-305435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641985" algn="l"/>
                <a:tab pos="642620" algn="l"/>
              </a:tabLst>
            </a:pP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Students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8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able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use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SEL</a:t>
            </a:r>
            <a:r>
              <a:rPr sz="1800" spc="55" dirty="0">
                <a:solidFill>
                  <a:srgbClr val="3C3C3C"/>
                </a:solidFill>
                <a:latin typeface="Trebuchet MS"/>
                <a:cs typeface="Trebuchet MS"/>
              </a:rPr>
              <a:t>ECT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stateme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nt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</a:t>
            </a:r>
            <a:r>
              <a:rPr sz="1800" spc="20" dirty="0">
                <a:solidFill>
                  <a:srgbClr val="3C3C3C"/>
                </a:solidFill>
                <a:latin typeface="Trebuchet MS"/>
                <a:cs typeface="Trebuchet MS"/>
              </a:rPr>
              <a:t>C3)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10" dirty="0">
                <a:solidFill>
                  <a:srgbClr val="FFFFFF"/>
                </a:solidFill>
              </a:rPr>
              <a:t>OUTLINE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994748"/>
            <a:ext cx="1939289" cy="245935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65" dirty="0">
                <a:solidFill>
                  <a:srgbClr val="3C3C3C"/>
                </a:solidFill>
                <a:latin typeface="Trebuchet MS"/>
                <a:cs typeface="Trebuchet MS"/>
              </a:rPr>
              <a:t>GROUP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75" dirty="0">
                <a:solidFill>
                  <a:srgbClr val="3C3C3C"/>
                </a:solidFill>
                <a:latin typeface="Trebuchet MS"/>
                <a:cs typeface="Trebuchet MS"/>
              </a:rPr>
              <a:t>HAVING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105" dirty="0">
                <a:solidFill>
                  <a:srgbClr val="3C3C3C"/>
                </a:solidFill>
                <a:latin typeface="Trebuchet MS"/>
                <a:cs typeface="Trebuchet MS"/>
              </a:rPr>
              <a:t>ORDER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5" dirty="0">
                <a:solidFill>
                  <a:srgbClr val="3C3C3C"/>
                </a:solidFill>
                <a:latin typeface="Trebuchet MS"/>
                <a:cs typeface="Trebuchet MS"/>
              </a:rPr>
              <a:t>LIMIT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65" dirty="0">
                <a:solidFill>
                  <a:srgbClr val="3C3C3C"/>
                </a:solidFill>
                <a:latin typeface="Trebuchet MS"/>
                <a:cs typeface="Trebuchet MS"/>
              </a:rPr>
              <a:t>CASE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Expression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Subquery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GROUP</a:t>
            </a:r>
            <a:r>
              <a:rPr sz="2800" spc="-95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BY</a:t>
            </a:r>
            <a:r>
              <a:rPr sz="2800" spc="-90" dirty="0">
                <a:solidFill>
                  <a:srgbClr val="FFFFFF"/>
                </a:solidFill>
              </a:rPr>
              <a:t> </a:t>
            </a:r>
            <a:r>
              <a:rPr sz="2800" spc="65" dirty="0">
                <a:solidFill>
                  <a:srgbClr val="FFFFFF"/>
                </a:solidFill>
              </a:rPr>
              <a:t>CLAUSE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48001"/>
            <a:ext cx="4736465" cy="157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800"/>
              </a:lnSpc>
              <a:spcBef>
                <a:spcPts val="100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4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actor_id,</a:t>
            </a:r>
            <a:r>
              <a:rPr sz="24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SUM(salary) </a:t>
            </a:r>
            <a:r>
              <a:rPr sz="2400" b="1" spc="-130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4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GROUP</a:t>
            </a:r>
            <a:r>
              <a:rPr sz="24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400" b="1" spc="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actor_id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3671" y="2769107"/>
            <a:ext cx="3939539" cy="37764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11895" y="3429000"/>
            <a:ext cx="3299459" cy="3116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70" dirty="0">
                <a:solidFill>
                  <a:srgbClr val="FFFFFF"/>
                </a:solidFill>
              </a:rPr>
              <a:t>G</a:t>
            </a:r>
            <a:r>
              <a:rPr sz="2800" spc="-120" dirty="0">
                <a:solidFill>
                  <a:srgbClr val="FFFFFF"/>
                </a:solidFill>
              </a:rPr>
              <a:t>R</a:t>
            </a:r>
            <a:r>
              <a:rPr sz="2800" spc="150" dirty="0">
                <a:solidFill>
                  <a:srgbClr val="FFFFFF"/>
                </a:solidFill>
              </a:rPr>
              <a:t>OU</a:t>
            </a:r>
            <a:r>
              <a:rPr sz="2800" spc="130" dirty="0">
                <a:solidFill>
                  <a:srgbClr val="FFFFFF"/>
                </a:solidFill>
              </a:rPr>
              <a:t>P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BY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</a:t>
            </a:r>
            <a:r>
              <a:rPr sz="2800" dirty="0">
                <a:solidFill>
                  <a:srgbClr val="FFFFFF"/>
                </a:solidFill>
              </a:rPr>
              <a:t>E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320" dirty="0">
                <a:solidFill>
                  <a:srgbClr val="FFFFFF"/>
                </a:solidFill>
              </a:rPr>
              <a:t> </a:t>
            </a:r>
            <a:r>
              <a:rPr sz="2800" spc="170" dirty="0">
                <a:solidFill>
                  <a:srgbClr val="FFFFFF"/>
                </a:solidFill>
              </a:rPr>
              <a:t>G</a:t>
            </a:r>
            <a:r>
              <a:rPr sz="2800" spc="-114" dirty="0">
                <a:solidFill>
                  <a:srgbClr val="FFFFFF"/>
                </a:solidFill>
              </a:rPr>
              <a:t>R</a:t>
            </a:r>
            <a:r>
              <a:rPr sz="2800" spc="150" dirty="0">
                <a:solidFill>
                  <a:srgbClr val="FFFFFF"/>
                </a:solidFill>
              </a:rPr>
              <a:t>OU</a:t>
            </a:r>
            <a:r>
              <a:rPr sz="2800" spc="135" dirty="0">
                <a:solidFill>
                  <a:srgbClr val="FFFFFF"/>
                </a:solidFill>
              </a:rPr>
              <a:t>P</a:t>
            </a:r>
            <a:r>
              <a:rPr sz="2800" spc="175" dirty="0">
                <a:solidFill>
                  <a:srgbClr val="FFFFFF"/>
                </a:solidFill>
              </a:rPr>
              <a:t>_</a:t>
            </a:r>
            <a:r>
              <a:rPr sz="2800" spc="204" dirty="0">
                <a:solidFill>
                  <a:srgbClr val="FFFFFF"/>
                </a:solidFill>
              </a:rPr>
              <a:t>C</a:t>
            </a:r>
            <a:r>
              <a:rPr sz="2800" spc="375" dirty="0">
                <a:solidFill>
                  <a:srgbClr val="FFFFFF"/>
                </a:solidFill>
              </a:rPr>
              <a:t>ON</a:t>
            </a:r>
            <a:r>
              <a:rPr sz="2800" spc="425" dirty="0">
                <a:solidFill>
                  <a:srgbClr val="FFFFFF"/>
                </a:solidFill>
              </a:rPr>
              <a:t>C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60" dirty="0">
                <a:solidFill>
                  <a:srgbClr val="FFFFFF"/>
                </a:solidFill>
              </a:rPr>
              <a:t>T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180" dirty="0">
                <a:solidFill>
                  <a:srgbClr val="FFFFFF"/>
                </a:solidFill>
              </a:rPr>
              <a:t>FUNCTION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48001"/>
            <a:ext cx="6250305" cy="157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800"/>
              </a:lnSpc>
              <a:spcBef>
                <a:spcPts val="100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400" b="1" spc="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actor_id,</a:t>
            </a:r>
            <a:r>
              <a:rPr sz="24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GROUP_CONCAT(salary) </a:t>
            </a:r>
            <a:r>
              <a:rPr sz="2400" b="1" spc="-130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4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GROUP</a:t>
            </a:r>
            <a:r>
              <a:rPr sz="24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actor_id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1252" y="2843783"/>
            <a:ext cx="3456432" cy="33116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3131" y="3025139"/>
            <a:ext cx="4078224" cy="3130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GROUP</a:t>
            </a:r>
            <a:r>
              <a:rPr sz="2800" spc="-95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BY</a:t>
            </a:r>
            <a:r>
              <a:rPr sz="2800" spc="-90" dirty="0">
                <a:solidFill>
                  <a:srgbClr val="FFFFFF"/>
                </a:solidFill>
              </a:rPr>
              <a:t> </a:t>
            </a:r>
            <a:r>
              <a:rPr sz="2800" spc="65" dirty="0">
                <a:solidFill>
                  <a:srgbClr val="FFFFFF"/>
                </a:solidFill>
              </a:rPr>
              <a:t>CLAUSE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1411"/>
            <a:ext cx="5753735" cy="135255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YEAR(birth_date),</a:t>
            </a:r>
            <a:r>
              <a:rPr sz="20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COUNT(*)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5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GROUP 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000" b="1" spc="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YEAR(birth_date)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3605784"/>
            <a:ext cx="3988308" cy="28910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9659" y="3605784"/>
            <a:ext cx="4396740" cy="28910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GROUP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BY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75" dirty="0">
                <a:solidFill>
                  <a:srgbClr val="FFFFFF"/>
                </a:solidFill>
              </a:rPr>
              <a:t>CLAUSE:WITH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30" dirty="0">
                <a:solidFill>
                  <a:srgbClr val="FFFFFF"/>
                </a:solidFill>
              </a:rPr>
              <a:t>ROLLUP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1411"/>
            <a:ext cx="6451600" cy="135255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YEAR(birth_date),</a:t>
            </a:r>
            <a:r>
              <a:rPr sz="20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COUNT(*)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5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GROUP</a:t>
            </a:r>
            <a:r>
              <a:rPr sz="2000" b="1" spc="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000" b="1" spc="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20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YEAR(birth_date)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WITH</a:t>
            </a:r>
            <a:r>
              <a:rPr sz="20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ROLLUP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3605784"/>
            <a:ext cx="3988308" cy="28910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9659" y="3605784"/>
            <a:ext cx="4314444" cy="28910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20" dirty="0">
                <a:solidFill>
                  <a:srgbClr val="FFFFFF"/>
                </a:solidFill>
              </a:rPr>
              <a:t>HAVING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spc="65" dirty="0">
                <a:solidFill>
                  <a:srgbClr val="FFFFFF"/>
                </a:solidFill>
              </a:rPr>
              <a:t>CLAUSE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83027"/>
            <a:ext cx="5238750" cy="2226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95"/>
              </a:spcBef>
            </a:pPr>
            <a:r>
              <a:rPr sz="2200" spc="90" dirty="0">
                <a:solidFill>
                  <a:srgbClr val="4590B8"/>
                </a:solidFill>
                <a:latin typeface="Trebuchet MS"/>
                <a:cs typeface="Trebuchet MS"/>
              </a:rPr>
              <a:t>HAVING</a:t>
            </a:r>
            <a:r>
              <a:rPr sz="2200" spc="-90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rgbClr val="4590B8"/>
                </a:solidFill>
                <a:latin typeface="Trebuchet MS"/>
                <a:cs typeface="Trebuchet MS"/>
              </a:rPr>
              <a:t>Clause</a:t>
            </a:r>
            <a:endParaRPr sz="2200">
              <a:latin typeface="Trebuchet MS"/>
              <a:cs typeface="Trebuchet MS"/>
            </a:endParaRPr>
          </a:p>
          <a:p>
            <a:pPr marL="318770" marR="5080" indent="-306705">
              <a:lnSpc>
                <a:spcPct val="100000"/>
              </a:lnSpc>
              <a:spcBef>
                <a:spcPts val="183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  <a:tab pos="1315720" algn="l"/>
                <a:tab pos="2025650" algn="l"/>
                <a:tab pos="2317115" algn="l"/>
                <a:tab pos="2896235" algn="l"/>
                <a:tab pos="3248025" algn="l"/>
                <a:tab pos="3934460" algn="l"/>
                <a:tab pos="4545330" algn="l"/>
                <a:tab pos="5127625" algn="l"/>
              </a:tabLst>
            </a:pPr>
            <a:r>
              <a:rPr sz="1800" spc="130" dirty="0">
                <a:solidFill>
                  <a:srgbClr val="3C3C3C"/>
                </a:solidFill>
                <a:latin typeface="Trebuchet MS"/>
                <a:cs typeface="Trebuchet MS"/>
              </a:rPr>
              <a:t>H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AV</a:t>
            </a:r>
            <a:r>
              <a:rPr sz="1800" spc="-5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sz="1800" spc="185" dirty="0">
                <a:solidFill>
                  <a:srgbClr val="3C3C3C"/>
                </a:solidFill>
                <a:latin typeface="Trebuchet MS"/>
                <a:cs typeface="Trebuchet MS"/>
              </a:rPr>
              <a:t>NG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cla</a:t>
            </a:r>
            <a:r>
              <a:rPr sz="1800" spc="-160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sed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ele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1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w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200" dirty="0">
                <a:solidFill>
                  <a:srgbClr val="3C3C3C"/>
                </a:solidFill>
                <a:latin typeface="Trebuchet MS"/>
                <a:cs typeface="Trebuchet MS"/>
              </a:rPr>
              <a:t>af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1800" spc="-15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1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a  </a:t>
            </a:r>
            <a:r>
              <a:rPr sz="1800" spc="110" dirty="0">
                <a:solidFill>
                  <a:srgbClr val="3C3C3C"/>
                </a:solidFill>
                <a:latin typeface="Trebuchet MS"/>
                <a:cs typeface="Trebuchet MS"/>
              </a:rPr>
              <a:t>G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254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10" dirty="0">
                <a:solidFill>
                  <a:srgbClr val="3C3C3C"/>
                </a:solidFill>
                <a:latin typeface="Trebuchet MS"/>
                <a:cs typeface="Trebuchet MS"/>
              </a:rPr>
              <a:t>UP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3C3C3C"/>
                </a:solidFill>
                <a:latin typeface="Trebuchet MS"/>
                <a:cs typeface="Trebuchet MS"/>
              </a:rPr>
              <a:t>B</a:t>
            </a:r>
            <a:r>
              <a:rPr sz="1800" spc="25" dirty="0">
                <a:solidFill>
                  <a:srgbClr val="3C3C3C"/>
                </a:solidFill>
                <a:latin typeface="Trebuchet MS"/>
                <a:cs typeface="Trebuchet MS"/>
              </a:rPr>
              <a:t>Y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clau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has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been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x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ecuted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590B8"/>
              </a:buClr>
              <a:buFont typeface="Cambria"/>
              <a:buChar char="◾"/>
            </a:pPr>
            <a:endParaRPr sz="2100">
              <a:latin typeface="Trebuchet MS"/>
              <a:cs typeface="Trebuchet MS"/>
            </a:endParaRPr>
          </a:p>
          <a:p>
            <a:pPr marL="318770" marR="5715" indent="-306705">
              <a:lnSpc>
                <a:spcPct val="100000"/>
              </a:lnSpc>
              <a:spcBef>
                <a:spcPts val="1789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Expressions</a:t>
            </a:r>
            <a:r>
              <a:rPr sz="1800" spc="3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condition</a:t>
            </a:r>
            <a:r>
              <a:rPr sz="1800" spc="3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3C3C3C"/>
                </a:solidFill>
                <a:latin typeface="Trebuchet MS"/>
                <a:cs typeface="Trebuchet MS"/>
              </a:rPr>
              <a:t>HAVING</a:t>
            </a:r>
            <a:r>
              <a:rPr sz="1800" spc="3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clause </a:t>
            </a:r>
            <a:r>
              <a:rPr sz="1800" spc="-5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can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co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ntain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agg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egatio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uncti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ons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7295" y="2400426"/>
            <a:ext cx="5238115" cy="220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95"/>
              </a:spcBef>
            </a:pPr>
            <a:r>
              <a:rPr sz="2200" spc="90" dirty="0">
                <a:solidFill>
                  <a:srgbClr val="4590B8"/>
                </a:solidFill>
                <a:latin typeface="Trebuchet MS"/>
                <a:cs typeface="Trebuchet MS"/>
              </a:rPr>
              <a:t>WHERE</a:t>
            </a:r>
            <a:r>
              <a:rPr sz="2200" spc="-9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200" spc="-75" dirty="0">
                <a:solidFill>
                  <a:srgbClr val="4590B8"/>
                </a:solidFill>
                <a:latin typeface="Trebuchet MS"/>
                <a:cs typeface="Trebuchet MS"/>
              </a:rPr>
              <a:t>Clause</a:t>
            </a:r>
            <a:endParaRPr sz="2200">
              <a:latin typeface="Trebuchet MS"/>
              <a:cs typeface="Trebuchet MS"/>
            </a:endParaRPr>
          </a:p>
          <a:p>
            <a:pPr marL="318770" marR="5080" indent="-306705">
              <a:lnSpc>
                <a:spcPct val="100000"/>
              </a:lnSpc>
              <a:spcBef>
                <a:spcPts val="169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  <a:tab pos="1225550" algn="l"/>
                <a:tab pos="1920875" algn="l"/>
                <a:tab pos="2195195" algn="l"/>
                <a:tab pos="2757170" algn="l"/>
                <a:tab pos="3094355" algn="l"/>
                <a:tab pos="3763645" algn="l"/>
                <a:tab pos="4359275" algn="l"/>
                <a:tab pos="4925060" algn="l"/>
              </a:tabLst>
            </a:pPr>
            <a:r>
              <a:rPr sz="1800" spc="265" dirty="0">
                <a:solidFill>
                  <a:srgbClr val="3C3C3C"/>
                </a:solidFill>
                <a:latin typeface="Trebuchet MS"/>
                <a:cs typeface="Trebuchet MS"/>
              </a:rPr>
              <a:t>W</a:t>
            </a:r>
            <a:r>
              <a:rPr sz="1800" spc="195" dirty="0">
                <a:solidFill>
                  <a:srgbClr val="3C3C3C"/>
                </a:solidFill>
                <a:latin typeface="Trebuchet MS"/>
                <a:cs typeface="Trebuchet MS"/>
              </a:rPr>
              <a:t>H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ERE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clau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is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ed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se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l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ect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15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w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19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ter</a:t>
            </a:r>
            <a:r>
              <a:rPr sz="1800" dirty="0">
                <a:solidFill>
                  <a:srgbClr val="3C3C3C"/>
                </a:solidFill>
                <a:latin typeface="Trebuchet MS"/>
                <a:cs typeface="Trebuchet MS"/>
              </a:rPr>
              <a:t>	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the 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254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125" dirty="0">
                <a:solidFill>
                  <a:srgbClr val="3C3C3C"/>
                </a:solidFill>
                <a:latin typeface="Trebuchet MS"/>
                <a:cs typeface="Trebuchet MS"/>
              </a:rPr>
              <a:t>M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clau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has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been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oc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es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ed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590B8"/>
              </a:buClr>
              <a:buFont typeface="Cambria"/>
              <a:buChar char="◾"/>
            </a:pPr>
            <a:endParaRPr sz="2100">
              <a:latin typeface="Trebuchet MS"/>
              <a:cs typeface="Trebuchet MS"/>
            </a:endParaRPr>
          </a:p>
          <a:p>
            <a:pPr marL="318770" marR="6985" indent="-306705">
              <a:lnSpc>
                <a:spcPct val="100000"/>
              </a:lnSpc>
              <a:spcBef>
                <a:spcPts val="179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Expressions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condition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80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1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3C3C3C"/>
                </a:solidFill>
                <a:latin typeface="Trebuchet MS"/>
                <a:cs typeface="Trebuchet MS"/>
              </a:rPr>
              <a:t>WHERE</a:t>
            </a:r>
            <a:r>
              <a:rPr sz="1800" spc="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clause </a:t>
            </a:r>
            <a:r>
              <a:rPr sz="1800" spc="-5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canno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co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ntain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agg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egatio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f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uncti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20" dirty="0">
                <a:solidFill>
                  <a:srgbClr val="FFFFFF"/>
                </a:solidFill>
              </a:rPr>
              <a:t>HAVING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spc="65" dirty="0">
                <a:solidFill>
                  <a:srgbClr val="FFFFFF"/>
                </a:solidFill>
              </a:rPr>
              <a:t>CLAUSE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267958" y="2109190"/>
            <a:ext cx="4078604" cy="179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4780">
              <a:lnSpc>
                <a:spcPct val="1451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actor_id,</a:t>
            </a:r>
            <a:r>
              <a:rPr sz="20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SUM(salary)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GROUP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0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actor_id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HAVING</a:t>
            </a:r>
            <a:r>
              <a:rPr sz="2000" b="1" spc="-3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SUM(salary)</a:t>
            </a:r>
            <a:r>
              <a:rPr sz="20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&gt;</a:t>
            </a:r>
            <a:r>
              <a:rPr sz="20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4000000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5691" y="2628900"/>
            <a:ext cx="3892296" cy="36484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1928" y="4058411"/>
            <a:ext cx="4454652" cy="26197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20" dirty="0">
                <a:solidFill>
                  <a:srgbClr val="FFFFFF"/>
                </a:solidFill>
              </a:rPr>
              <a:t>HAVING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spc="65" dirty="0">
                <a:solidFill>
                  <a:srgbClr val="FFFFFF"/>
                </a:solidFill>
              </a:rPr>
              <a:t>CLAUSE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1411"/>
            <a:ext cx="5614035" cy="2679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1235" marR="5080" indent="-979169">
              <a:lnSpc>
                <a:spcPct val="145000"/>
              </a:lnSpc>
              <a:spcBef>
                <a:spcPts val="105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LEFT(first_name,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1) AS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Initial,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COUNT(*)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AS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“Number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of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Actors”,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GROUP_CONCAT(first_name) AS</a:t>
            </a:r>
            <a:r>
              <a:rPr sz="20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Names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5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2000">
              <a:latin typeface="Consolas"/>
              <a:cs typeface="Consolas"/>
            </a:endParaRPr>
          </a:p>
          <a:p>
            <a:pPr marL="12700" marR="1680845">
              <a:lnSpc>
                <a:spcPct val="145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GROUP 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LEFT(first_name,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1)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HAVING</a:t>
            </a:r>
            <a:r>
              <a:rPr sz="20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COUNT(*)</a:t>
            </a:r>
            <a:r>
              <a:rPr sz="20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&gt;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1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97196" y="3505200"/>
            <a:ext cx="6614159" cy="3115310"/>
            <a:chOff x="4997196" y="3505200"/>
            <a:chExt cx="6614159" cy="31153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7196" y="3505200"/>
              <a:ext cx="2525268" cy="29855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5268" y="4114800"/>
              <a:ext cx="5276088" cy="25054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280" dirty="0">
                <a:solidFill>
                  <a:srgbClr val="FFFFFF"/>
                </a:solidFill>
              </a:rPr>
              <a:t>ORD</a:t>
            </a:r>
            <a:r>
              <a:rPr sz="2800" spc="-25" dirty="0">
                <a:solidFill>
                  <a:srgbClr val="FFFFFF"/>
                </a:solidFill>
              </a:rPr>
              <a:t>ER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BY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</a:t>
            </a:r>
            <a:r>
              <a:rPr sz="2800" dirty="0">
                <a:solidFill>
                  <a:srgbClr val="FFFFFF"/>
                </a:solidFill>
              </a:rPr>
              <a:t>E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335" dirty="0">
                <a:solidFill>
                  <a:srgbClr val="FFFFFF"/>
                </a:solidFill>
              </a:rPr>
              <a:t> </a:t>
            </a:r>
            <a:r>
              <a:rPr sz="2800" spc="170" dirty="0">
                <a:solidFill>
                  <a:srgbClr val="FFFFFF"/>
                </a:solidFill>
              </a:rPr>
              <a:t>SO</a:t>
            </a:r>
            <a:r>
              <a:rPr sz="2800" spc="-190" dirty="0">
                <a:solidFill>
                  <a:srgbClr val="FFFFFF"/>
                </a:solidFill>
              </a:rPr>
              <a:t>R</a:t>
            </a:r>
            <a:r>
              <a:rPr sz="2800" spc="135" dirty="0">
                <a:solidFill>
                  <a:srgbClr val="FFFFFF"/>
                </a:solidFill>
              </a:rPr>
              <a:t>TING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409" dirty="0">
                <a:solidFill>
                  <a:srgbClr val="FFFFFF"/>
                </a:solidFill>
              </a:rPr>
              <a:t>O</a:t>
            </a:r>
            <a:r>
              <a:rPr sz="2800" spc="390" dirty="0">
                <a:solidFill>
                  <a:srgbClr val="FFFFFF"/>
                </a:solidFill>
              </a:rPr>
              <a:t>N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235" dirty="0">
                <a:solidFill>
                  <a:srgbClr val="FFFFFF"/>
                </a:solidFill>
              </a:rPr>
              <a:t>COLUMN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125" dirty="0">
                <a:solidFill>
                  <a:srgbClr val="FFFFFF"/>
                </a:solidFill>
              </a:rPr>
              <a:t>NAMES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168523"/>
            <a:ext cx="3895725" cy="157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800"/>
              </a:lnSpc>
              <a:spcBef>
                <a:spcPts val="100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SELECT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name, year,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rank </a:t>
            </a:r>
            <a:r>
              <a:rPr sz="2400" b="1" spc="-130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4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ORDER</a:t>
            </a:r>
            <a:r>
              <a:rPr sz="24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-5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name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8488" y="2604516"/>
            <a:ext cx="6182868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60" dirty="0">
                <a:solidFill>
                  <a:srgbClr val="FFFFFF"/>
                </a:solidFill>
              </a:rPr>
              <a:t>ORDER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BY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5" dirty="0">
                <a:solidFill>
                  <a:srgbClr val="FFFFFF"/>
                </a:solidFill>
              </a:rPr>
              <a:t>CLAUSE:</a:t>
            </a:r>
            <a:r>
              <a:rPr sz="2800" spc="-335" dirty="0">
                <a:solidFill>
                  <a:srgbClr val="FFFFFF"/>
                </a:solidFill>
              </a:rPr>
              <a:t> </a:t>
            </a:r>
            <a:r>
              <a:rPr sz="2800" spc="100" dirty="0">
                <a:solidFill>
                  <a:srgbClr val="FFFFFF"/>
                </a:solidFill>
              </a:rPr>
              <a:t>SORTING</a:t>
            </a:r>
            <a:r>
              <a:rPr sz="2800" spc="-420" dirty="0">
                <a:solidFill>
                  <a:srgbClr val="FFFFFF"/>
                </a:solidFill>
              </a:rPr>
              <a:t> </a:t>
            </a:r>
            <a:r>
              <a:rPr sz="2800" spc="175" dirty="0">
                <a:solidFill>
                  <a:srgbClr val="FFFFFF"/>
                </a:solidFill>
              </a:rPr>
              <a:t>WITH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10" dirty="0">
                <a:solidFill>
                  <a:srgbClr val="FFFFFF"/>
                </a:solidFill>
              </a:rPr>
              <a:t>SEQUENCE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90" dirty="0">
                <a:solidFill>
                  <a:srgbClr val="FFFFFF"/>
                </a:solidFill>
              </a:rPr>
              <a:t>NUMBERS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168523"/>
            <a:ext cx="3895725" cy="157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800"/>
              </a:lnSpc>
              <a:spcBef>
                <a:spcPts val="100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SELECT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name, year,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rank </a:t>
            </a:r>
            <a:r>
              <a:rPr sz="2400" b="1" spc="-130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4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ORDER</a:t>
            </a:r>
            <a:r>
              <a:rPr sz="24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-5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4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-5" dirty="0">
                <a:solidFill>
                  <a:srgbClr val="3C3C3C"/>
                </a:solidFill>
                <a:latin typeface="Consolas"/>
                <a:cs typeface="Consolas"/>
              </a:rPr>
              <a:t>1</a:t>
            </a:r>
            <a:r>
              <a:rPr sz="24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8676" y="2599944"/>
            <a:ext cx="6202680" cy="2889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60" dirty="0">
                <a:solidFill>
                  <a:srgbClr val="FFFFFF"/>
                </a:solidFill>
              </a:rPr>
              <a:t>ORDER</a:t>
            </a:r>
            <a:r>
              <a:rPr sz="2800" spc="-114" dirty="0">
                <a:solidFill>
                  <a:srgbClr val="FFFFFF"/>
                </a:solidFill>
              </a:rPr>
              <a:t> </a:t>
            </a:r>
            <a:r>
              <a:rPr sz="2800" spc="40" dirty="0">
                <a:solidFill>
                  <a:srgbClr val="FFFFFF"/>
                </a:solidFill>
              </a:rPr>
              <a:t>BY</a:t>
            </a:r>
            <a:r>
              <a:rPr sz="2800" spc="-95" dirty="0">
                <a:solidFill>
                  <a:srgbClr val="FFFFFF"/>
                </a:solidFill>
              </a:rPr>
              <a:t> </a:t>
            </a:r>
            <a:r>
              <a:rPr sz="2800" spc="65" dirty="0">
                <a:solidFill>
                  <a:srgbClr val="FFFFFF"/>
                </a:solidFill>
              </a:rPr>
              <a:t>CLAUSE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09190"/>
            <a:ext cx="3238500" cy="135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name,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year,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rank </a:t>
            </a:r>
            <a:r>
              <a:rPr sz="2000" b="1" spc="-108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ORDER</a:t>
            </a:r>
            <a:r>
              <a:rPr sz="20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year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7958" y="2109190"/>
            <a:ext cx="3238500" cy="1353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name,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year,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rank </a:t>
            </a:r>
            <a:r>
              <a:rPr sz="2000" b="1" spc="-108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ORDER</a:t>
            </a:r>
            <a:r>
              <a:rPr sz="20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0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2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655" y="3688079"/>
            <a:ext cx="6179820" cy="28788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812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560"/>
              </a:spcBef>
            </a:pPr>
            <a:r>
              <a:rPr sz="2800" spc="160" dirty="0">
                <a:solidFill>
                  <a:srgbClr val="FFFFFF"/>
                </a:solidFill>
                <a:latin typeface="Trebuchet MS"/>
                <a:cs typeface="Trebuchet MS"/>
              </a:rPr>
              <a:t>ORDER</a:t>
            </a:r>
            <a:r>
              <a:rPr sz="2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4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28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rebuchet MS"/>
                <a:cs typeface="Trebuchet MS"/>
              </a:rPr>
              <a:t>CLAUSE:</a:t>
            </a:r>
            <a:endParaRPr sz="2800">
              <a:latin typeface="Trebuchet MS"/>
              <a:cs typeface="Trebuchet MS"/>
            </a:endParaRPr>
          </a:p>
          <a:p>
            <a:pPr marL="226060">
              <a:lnSpc>
                <a:spcPct val="100000"/>
              </a:lnSpc>
            </a:pPr>
            <a:r>
              <a:rPr sz="2800" spc="100" dirty="0">
                <a:solidFill>
                  <a:srgbClr val="FFFFFF"/>
                </a:solidFill>
                <a:latin typeface="Trebuchet MS"/>
                <a:cs typeface="Trebuchet MS"/>
              </a:rPr>
              <a:t>SORTING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5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800" spc="-3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75" dirty="0">
                <a:solidFill>
                  <a:srgbClr val="FFFFFF"/>
                </a:solidFill>
                <a:latin typeface="Trebuchet MS"/>
                <a:cs typeface="Trebuchet MS"/>
              </a:rPr>
              <a:t>ASCENDING</a:t>
            </a:r>
            <a:r>
              <a:rPr sz="2800" spc="-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325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2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Trebuchet MS"/>
                <a:cs typeface="Trebuchet MS"/>
              </a:rPr>
              <a:t>DESCENDING</a:t>
            </a:r>
            <a:r>
              <a:rPr sz="2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60" dirty="0">
                <a:solidFill>
                  <a:srgbClr val="FFFFFF"/>
                </a:solidFill>
                <a:latin typeface="Trebuchet MS"/>
                <a:cs typeface="Trebuchet MS"/>
              </a:rPr>
              <a:t>ORDER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93" y="3286480"/>
            <a:ext cx="4078604" cy="135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45185">
              <a:lnSpc>
                <a:spcPct val="1450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name,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year,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rank </a:t>
            </a:r>
            <a:r>
              <a:rPr sz="2000" b="1" spc="-108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ORDER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 BY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year DESC, name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ASC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4208" y="2615183"/>
            <a:ext cx="6137147" cy="28590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5" dirty="0">
                <a:solidFill>
                  <a:srgbClr val="FFFFFF"/>
                </a:solidFill>
                <a:latin typeface="Trebuchet MS"/>
                <a:cs typeface="Trebuchet MS"/>
              </a:rPr>
              <a:t>LIMIT</a:t>
            </a:r>
            <a:r>
              <a:rPr sz="2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FFFFFF"/>
                </a:solidFill>
                <a:latin typeface="Trebuchet MS"/>
                <a:cs typeface="Trebuchet MS"/>
              </a:rPr>
              <a:t>CLAUSE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93" y="2754909"/>
            <a:ext cx="3540125" cy="237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390">
              <a:lnSpc>
                <a:spcPct val="1379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SELECT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name,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rank </a:t>
            </a:r>
            <a:r>
              <a:rPr sz="2800" b="1" spc="-15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endParaRPr sz="2800">
              <a:latin typeface="Consolas"/>
              <a:cs typeface="Consolas"/>
            </a:endParaRPr>
          </a:p>
          <a:p>
            <a:pPr marL="12700" marR="5080">
              <a:lnSpc>
                <a:spcPts val="4630"/>
              </a:lnSpc>
              <a:spcBef>
                <a:spcPts val="165"/>
              </a:spcBef>
            </a:pP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ORDER</a:t>
            </a:r>
            <a:r>
              <a:rPr sz="2800" b="1" spc="-3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2800" b="1" spc="-3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rank</a:t>
            </a:r>
            <a:r>
              <a:rPr sz="2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DESC </a:t>
            </a:r>
            <a:r>
              <a:rPr sz="2800" b="1" spc="-15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LIMIT</a:t>
            </a:r>
            <a:r>
              <a:rPr sz="2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3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8559" y="2063495"/>
            <a:ext cx="4082796" cy="22418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0211" y="4447032"/>
            <a:ext cx="4581144" cy="21838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5" dirty="0">
                <a:solidFill>
                  <a:srgbClr val="FFFFFF"/>
                </a:solidFill>
              </a:rPr>
              <a:t>LIMIT</a:t>
            </a:r>
            <a:r>
              <a:rPr sz="2800" spc="-100" dirty="0">
                <a:solidFill>
                  <a:srgbClr val="FFFFFF"/>
                </a:solidFill>
              </a:rPr>
              <a:t> </a:t>
            </a:r>
            <a:r>
              <a:rPr sz="2800" spc="65" dirty="0">
                <a:solidFill>
                  <a:srgbClr val="FFFFFF"/>
                </a:solidFill>
              </a:rPr>
              <a:t>CLAUSE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267958" y="2109190"/>
            <a:ext cx="3658235" cy="179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82980">
              <a:lnSpc>
                <a:spcPct val="1451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role,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145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ORDER </a:t>
            </a:r>
            <a:r>
              <a:rPr sz="2000" b="1" spc="-10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 DESC,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LIMIT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5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3452" y="4034028"/>
            <a:ext cx="3820667" cy="25054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7319" y="2441448"/>
            <a:ext cx="3750563" cy="38846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</a:rPr>
              <a:t>LIMI</a:t>
            </a:r>
            <a:r>
              <a:rPr sz="2800" spc="10" dirty="0">
                <a:solidFill>
                  <a:srgbClr val="FFFFFF"/>
                </a:solidFill>
              </a:rPr>
              <a:t>T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0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</a:t>
            </a:r>
            <a:r>
              <a:rPr sz="2800" dirty="0">
                <a:solidFill>
                  <a:srgbClr val="FFFFFF"/>
                </a:solidFill>
              </a:rPr>
              <a:t>E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33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LIMI</a:t>
            </a:r>
            <a:r>
              <a:rPr sz="2800" spc="10" dirty="0">
                <a:solidFill>
                  <a:srgbClr val="FFFFFF"/>
                </a:solidFill>
              </a:rPr>
              <a:t>T</a:t>
            </a:r>
            <a:r>
              <a:rPr sz="2800" spc="-409" dirty="0">
                <a:solidFill>
                  <a:srgbClr val="FFFFFF"/>
                </a:solidFill>
              </a:rPr>
              <a:t> </a:t>
            </a:r>
            <a:r>
              <a:rPr sz="2800" spc="175" dirty="0">
                <a:solidFill>
                  <a:srgbClr val="FFFFFF"/>
                </a:solidFill>
              </a:rPr>
              <a:t>WITH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300" dirty="0">
                <a:solidFill>
                  <a:srgbClr val="FFFFFF"/>
                </a:solidFill>
              </a:rPr>
              <a:t>AN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OFFSET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267958" y="2109190"/>
            <a:ext cx="3658235" cy="179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82980">
              <a:lnSpc>
                <a:spcPct val="1451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role,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145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ORDER </a:t>
            </a:r>
            <a:r>
              <a:rPr sz="2000" b="1" spc="-10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 DESC,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LIMIT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5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OFFSET 3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319" y="2441448"/>
            <a:ext cx="3750563" cy="38846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3452" y="4034028"/>
            <a:ext cx="3820667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</a:rPr>
              <a:t>LIMI</a:t>
            </a:r>
            <a:r>
              <a:rPr sz="2800" spc="10" dirty="0">
                <a:solidFill>
                  <a:srgbClr val="FFFFFF"/>
                </a:solidFill>
              </a:rPr>
              <a:t>T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0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</a:t>
            </a:r>
            <a:r>
              <a:rPr sz="2800" dirty="0">
                <a:solidFill>
                  <a:srgbClr val="FFFFFF"/>
                </a:solidFill>
              </a:rPr>
              <a:t>E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33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LIMI</a:t>
            </a:r>
            <a:r>
              <a:rPr sz="2800" spc="10" dirty="0">
                <a:solidFill>
                  <a:srgbClr val="FFFFFF"/>
                </a:solidFill>
              </a:rPr>
              <a:t>T</a:t>
            </a:r>
            <a:r>
              <a:rPr sz="2800" spc="-409" dirty="0">
                <a:solidFill>
                  <a:srgbClr val="FFFFFF"/>
                </a:solidFill>
              </a:rPr>
              <a:t> </a:t>
            </a:r>
            <a:r>
              <a:rPr sz="2800" spc="175" dirty="0">
                <a:solidFill>
                  <a:srgbClr val="FFFFFF"/>
                </a:solidFill>
              </a:rPr>
              <a:t>WITH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300" dirty="0">
                <a:solidFill>
                  <a:srgbClr val="FFFFFF"/>
                </a:solidFill>
              </a:rPr>
              <a:t>AN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OFFSET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267958" y="2109190"/>
            <a:ext cx="3658235" cy="179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82980">
              <a:lnSpc>
                <a:spcPct val="1451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role,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145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ORDER </a:t>
            </a:r>
            <a:r>
              <a:rPr sz="2000" b="1" spc="-10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 DESC,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LIMIT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3, 5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319" y="2441448"/>
            <a:ext cx="3750563" cy="38846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3452" y="4034028"/>
            <a:ext cx="3820667" cy="25054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00" dirty="0">
                <a:solidFill>
                  <a:srgbClr val="FFFFFF"/>
                </a:solidFill>
              </a:rPr>
              <a:t>CASE</a:t>
            </a:r>
            <a:r>
              <a:rPr sz="2800" spc="-110" dirty="0">
                <a:solidFill>
                  <a:srgbClr val="FFFFFF"/>
                </a:solidFill>
              </a:rPr>
              <a:t> </a:t>
            </a:r>
            <a:r>
              <a:rPr sz="2800" spc="75" dirty="0">
                <a:solidFill>
                  <a:srgbClr val="FFFFFF"/>
                </a:solidFill>
              </a:rPr>
              <a:t>EXPRESSION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736050"/>
            <a:ext cx="6294120" cy="245935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CONCAT(first_name,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last_name)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 Name,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5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CASE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</a:t>
            </a:r>
            <a:endParaRPr sz="1800">
              <a:latin typeface="Consolas"/>
              <a:cs typeface="Consolas"/>
            </a:endParaRPr>
          </a:p>
          <a:p>
            <a:pPr marL="1265555">
              <a:lnSpc>
                <a:spcPct val="100000"/>
              </a:lnSpc>
              <a:spcBef>
                <a:spcPts val="1035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WHEN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‘M’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THEN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‘Male’</a:t>
            </a:r>
            <a:endParaRPr sz="1800">
              <a:latin typeface="Consolas"/>
              <a:cs typeface="Consolas"/>
            </a:endParaRPr>
          </a:p>
          <a:p>
            <a:pPr marL="1265555">
              <a:lnSpc>
                <a:spcPct val="100000"/>
              </a:lnSpc>
              <a:spcBef>
                <a:spcPts val="1030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ELSE</a:t>
            </a:r>
            <a:r>
              <a:rPr sz="1800" b="1" spc="-6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‘Female’</a:t>
            </a:r>
            <a:endParaRPr sz="1800">
              <a:latin typeface="Consolas"/>
              <a:cs typeface="Consolas"/>
            </a:endParaRPr>
          </a:p>
          <a:p>
            <a:pPr marL="12700" marR="3767454" indent="87630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END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5264" y="2644139"/>
            <a:ext cx="4546091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00" dirty="0">
                <a:solidFill>
                  <a:srgbClr val="FFFFFF"/>
                </a:solidFill>
              </a:rPr>
              <a:t>CASE</a:t>
            </a:r>
            <a:r>
              <a:rPr sz="2800" spc="-110" dirty="0">
                <a:solidFill>
                  <a:srgbClr val="FFFFFF"/>
                </a:solidFill>
              </a:rPr>
              <a:t> </a:t>
            </a:r>
            <a:r>
              <a:rPr sz="2800" spc="75" dirty="0">
                <a:solidFill>
                  <a:srgbClr val="FFFFFF"/>
                </a:solidFill>
              </a:rPr>
              <a:t>EXPRESSION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927070"/>
            <a:ext cx="4157979" cy="268414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400" b="1" dirty="0">
                <a:solidFill>
                  <a:srgbClr val="4590B8"/>
                </a:solidFill>
                <a:latin typeface="Consolas"/>
                <a:cs typeface="Consolas"/>
              </a:rPr>
              <a:t>SELECT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name AS</a:t>
            </a:r>
            <a:r>
              <a:rPr sz="1400" b="1" spc="-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Movie,</a:t>
            </a:r>
            <a:endParaRPr sz="1400">
              <a:latin typeface="Consolas"/>
              <a:cs typeface="Consolas"/>
            </a:endParaRPr>
          </a:p>
          <a:p>
            <a:pPr marL="701040">
              <a:lnSpc>
                <a:spcPct val="100000"/>
              </a:lnSpc>
              <a:spcBef>
                <a:spcPts val="935"/>
              </a:spcBef>
            </a:pP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CASE</a:t>
            </a:r>
            <a:endParaRPr sz="1400">
              <a:latin typeface="Consolas"/>
              <a:cs typeface="Consolas"/>
            </a:endParaRPr>
          </a:p>
          <a:p>
            <a:pPr marL="995680" marR="5080">
              <a:lnSpc>
                <a:spcPct val="155700"/>
              </a:lnSpc>
            </a:pP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WHEN</a:t>
            </a:r>
            <a:r>
              <a:rPr sz="14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rank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IS</a:t>
            </a:r>
            <a:r>
              <a:rPr sz="14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NULL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THEN ‘Unknown’ </a:t>
            </a:r>
            <a:r>
              <a:rPr sz="1400" b="1" spc="-7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WHEN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rank &lt;</a:t>
            </a:r>
            <a:r>
              <a:rPr sz="14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6.0 THEN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‘Bad’</a:t>
            </a:r>
            <a:endParaRPr sz="1400">
              <a:latin typeface="Consolas"/>
              <a:cs typeface="Consolas"/>
            </a:endParaRPr>
          </a:p>
          <a:p>
            <a:pPr marL="995680" marR="201295">
              <a:lnSpc>
                <a:spcPct val="155700"/>
              </a:lnSpc>
              <a:spcBef>
                <a:spcPts val="5"/>
              </a:spcBef>
            </a:pP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WHEN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rank &lt;</a:t>
            </a:r>
            <a:r>
              <a:rPr sz="14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7.0 THEN</a:t>
            </a:r>
            <a:r>
              <a:rPr sz="14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‘Average’ </a:t>
            </a:r>
            <a:r>
              <a:rPr sz="1400" b="1" spc="-7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WHEN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rank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&gt;=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7.0</a:t>
            </a:r>
            <a:r>
              <a:rPr sz="1400" b="1" spc="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THEN</a:t>
            </a:r>
            <a:r>
              <a:rPr sz="1400" b="1" spc="-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‘Good’</a:t>
            </a:r>
            <a:endParaRPr sz="1400">
              <a:latin typeface="Consolas"/>
              <a:cs typeface="Consolas"/>
            </a:endParaRPr>
          </a:p>
          <a:p>
            <a:pPr marL="12700" marR="2366010" indent="688340">
              <a:lnSpc>
                <a:spcPct val="155700"/>
              </a:lnSpc>
            </a:pP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END</a:t>
            </a:r>
            <a:r>
              <a:rPr sz="14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4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3C3C3C"/>
                </a:solidFill>
                <a:latin typeface="Consolas"/>
                <a:cs typeface="Consolas"/>
              </a:rPr>
              <a:t>Rank </a:t>
            </a:r>
            <a:r>
              <a:rPr sz="1400" b="1" spc="-7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4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4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400" b="1" spc="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r>
              <a:rPr sz="1400" b="1" spc="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1288" y="2304288"/>
            <a:ext cx="6640067" cy="4066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</a:rPr>
              <a:t>US</a:t>
            </a:r>
            <a:r>
              <a:rPr sz="2800" dirty="0">
                <a:solidFill>
                  <a:srgbClr val="FFFFFF"/>
                </a:solidFill>
              </a:rPr>
              <a:t>E</a:t>
            </a:r>
            <a:r>
              <a:rPr sz="2800" spc="55" dirty="0">
                <a:solidFill>
                  <a:srgbClr val="FFFFFF"/>
                </a:solidFill>
              </a:rPr>
              <a:t>R</a:t>
            </a:r>
            <a:r>
              <a:rPr sz="2800" spc="-484" dirty="0">
                <a:solidFill>
                  <a:srgbClr val="FFFFFF"/>
                </a:solidFill>
              </a:rPr>
              <a:t> </a:t>
            </a:r>
            <a:r>
              <a:rPr sz="2800" spc="-185" dirty="0">
                <a:solidFill>
                  <a:srgbClr val="FFFFFF"/>
                </a:solidFill>
              </a:rPr>
              <a:t>V</a:t>
            </a:r>
            <a:r>
              <a:rPr sz="2800" spc="95" dirty="0">
                <a:solidFill>
                  <a:srgbClr val="FFFFFF"/>
                </a:solidFill>
              </a:rPr>
              <a:t>ARI</a:t>
            </a:r>
            <a:r>
              <a:rPr sz="2800" spc="105" dirty="0">
                <a:solidFill>
                  <a:srgbClr val="FFFFFF"/>
                </a:solidFill>
              </a:rPr>
              <a:t>A</a:t>
            </a:r>
            <a:r>
              <a:rPr sz="2800" spc="-55" dirty="0">
                <a:solidFill>
                  <a:srgbClr val="FFFFFF"/>
                </a:solidFill>
              </a:rPr>
              <a:t>BLE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80" dirty="0">
                <a:solidFill>
                  <a:srgbClr val="FFFFFF"/>
                </a:solidFill>
              </a:rPr>
              <a:t>S</a:t>
            </a:r>
            <a:r>
              <a:rPr sz="2800" spc="-85" dirty="0">
                <a:solidFill>
                  <a:srgbClr val="FFFFFF"/>
                </a:solidFill>
              </a:rPr>
              <a:t>E</a:t>
            </a:r>
            <a:r>
              <a:rPr sz="2800" spc="60" dirty="0">
                <a:solidFill>
                  <a:srgbClr val="FFFFFF"/>
                </a:solidFill>
              </a:rPr>
              <a:t>T</a:t>
            </a:r>
            <a:r>
              <a:rPr sz="2800" spc="-70" dirty="0">
                <a:solidFill>
                  <a:srgbClr val="FFFFFF"/>
                </a:solidFill>
              </a:rPr>
              <a:t> S</a:t>
            </a:r>
            <a:r>
              <a:rPr sz="2800" spc="-220" dirty="0">
                <a:solidFill>
                  <a:srgbClr val="FFFFFF"/>
                </a:solidFill>
              </a:rPr>
              <a:t>T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25" dirty="0">
                <a:solidFill>
                  <a:srgbClr val="FFFFFF"/>
                </a:solidFill>
              </a:rPr>
              <a:t>T</a:t>
            </a:r>
            <a:r>
              <a:rPr sz="2800" spc="-15" dirty="0">
                <a:solidFill>
                  <a:srgbClr val="FFFFFF"/>
                </a:solidFill>
              </a:rPr>
              <a:t>E</a:t>
            </a:r>
            <a:r>
              <a:rPr sz="2800" spc="135" dirty="0">
                <a:solidFill>
                  <a:srgbClr val="FFFFFF"/>
                </a:solidFill>
              </a:rPr>
              <a:t>MENT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280920"/>
            <a:ext cx="3238500" cy="3867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SET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@salary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 2500000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6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@salary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-3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role,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salary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7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&gt;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@salary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SET</a:t>
            </a:r>
            <a:r>
              <a:rPr sz="20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@salary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20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NULL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8964" y="2404872"/>
            <a:ext cx="3662172" cy="36484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55" dirty="0">
                <a:solidFill>
                  <a:srgbClr val="FFFFFF"/>
                </a:solidFill>
              </a:rPr>
              <a:t>SUBQUERY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910967"/>
            <a:ext cx="5743575" cy="208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26665">
              <a:lnSpc>
                <a:spcPct val="140800"/>
              </a:lnSpc>
              <a:spcBef>
                <a:spcPts val="100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4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role,</a:t>
            </a:r>
            <a:r>
              <a:rPr sz="24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salary </a:t>
            </a:r>
            <a:r>
              <a:rPr sz="2400" b="1" spc="-130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4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2400" b="1" spc="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salary</a:t>
            </a:r>
            <a:r>
              <a:rPr sz="24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&lt;</a:t>
            </a:r>
            <a:r>
              <a:rPr sz="2400" b="1" spc="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dirty="0">
                <a:solidFill>
                  <a:srgbClr val="3C3C3C"/>
                </a:solidFill>
                <a:latin typeface="Consolas"/>
                <a:cs typeface="Consolas"/>
              </a:rPr>
              <a:t>(SELECT AVG(salary)</a:t>
            </a:r>
            <a:endParaRPr sz="2400">
              <a:latin typeface="Consolas"/>
              <a:cs typeface="Consolas"/>
            </a:endParaRPr>
          </a:p>
          <a:p>
            <a:pPr marL="2703830">
              <a:lnSpc>
                <a:spcPct val="100000"/>
              </a:lnSpc>
              <a:spcBef>
                <a:spcPts val="1180"/>
              </a:spcBef>
            </a:pP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FROM</a:t>
            </a:r>
            <a:r>
              <a:rPr sz="2400" b="1" spc="-5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400" b="1" spc="5" dirty="0">
                <a:solidFill>
                  <a:srgbClr val="3C3C3C"/>
                </a:solidFill>
                <a:latin typeface="Consolas"/>
                <a:cs typeface="Consolas"/>
              </a:rPr>
              <a:t>roles)</a:t>
            </a:r>
            <a:r>
              <a:rPr sz="2400" b="1" spc="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671" y="2560320"/>
            <a:ext cx="4329683" cy="29672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55" dirty="0">
                <a:solidFill>
                  <a:srgbClr val="FFFFFF"/>
                </a:solidFill>
              </a:rPr>
              <a:t>SUBQUERY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>
                <a:solidFill>
                  <a:srgbClr val="4590B8"/>
                </a:solidFill>
              </a:rPr>
              <a:t>SELECT</a:t>
            </a:r>
            <a:r>
              <a:rPr spc="-20" dirty="0">
                <a:solidFill>
                  <a:srgbClr val="4590B8"/>
                </a:solidFill>
              </a:rPr>
              <a:t> </a:t>
            </a:r>
            <a:r>
              <a:rPr spc="-5" dirty="0"/>
              <a:t>actor_id,</a:t>
            </a:r>
            <a:r>
              <a:rPr spc="-10" dirty="0"/>
              <a:t> </a:t>
            </a:r>
            <a:r>
              <a:rPr spc="-5" dirty="0"/>
              <a:t>salary</a:t>
            </a:r>
          </a:p>
          <a:p>
            <a:pPr marL="852169" marR="1541145" indent="-840105">
              <a:lnSpc>
                <a:spcPct val="145000"/>
              </a:lnSpc>
            </a:pPr>
            <a:r>
              <a:rPr dirty="0">
                <a:solidFill>
                  <a:srgbClr val="4590B8"/>
                </a:solidFill>
              </a:rPr>
              <a:t>FROM </a:t>
            </a:r>
            <a:r>
              <a:rPr spc="-5" dirty="0"/>
              <a:t>(SELECT actor_id, </a:t>
            </a:r>
            <a:r>
              <a:rPr dirty="0"/>
              <a:t>salary </a:t>
            </a:r>
            <a:r>
              <a:rPr spc="-1085" dirty="0"/>
              <a:t> </a:t>
            </a:r>
            <a:r>
              <a:rPr spc="-5" dirty="0"/>
              <a:t>FROM</a:t>
            </a:r>
            <a:r>
              <a:rPr spc="-20" dirty="0"/>
              <a:t> </a:t>
            </a:r>
            <a:r>
              <a:rPr dirty="0"/>
              <a:t>roles</a:t>
            </a:r>
          </a:p>
          <a:p>
            <a:pPr marL="852169">
              <a:lnSpc>
                <a:spcPct val="100000"/>
              </a:lnSpc>
              <a:spcBef>
                <a:spcPts val="1080"/>
              </a:spcBef>
            </a:pPr>
            <a:r>
              <a:rPr spc="-5" dirty="0"/>
              <a:t>GROUP</a:t>
            </a:r>
            <a:r>
              <a:rPr spc="-3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spc="-5" dirty="0"/>
              <a:t>actor_id</a:t>
            </a:r>
          </a:p>
          <a:p>
            <a:pPr marL="852169">
              <a:lnSpc>
                <a:spcPct val="100000"/>
              </a:lnSpc>
              <a:spcBef>
                <a:spcPts val="1080"/>
              </a:spcBef>
            </a:pPr>
            <a:r>
              <a:rPr spc="-5" dirty="0"/>
              <a:t>HAVING</a:t>
            </a:r>
            <a:r>
              <a:rPr spc="-15" dirty="0"/>
              <a:t> </a:t>
            </a:r>
            <a:r>
              <a:rPr dirty="0"/>
              <a:t>COUNT(*)</a:t>
            </a:r>
            <a:r>
              <a:rPr spc="-30" dirty="0"/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dirty="0"/>
              <a:t>1)</a:t>
            </a:r>
            <a:r>
              <a:rPr spc="-15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single_act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9993" y="4907584"/>
            <a:ext cx="2820670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100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ORDER </a:t>
            </a:r>
            <a:r>
              <a:rPr sz="2000" b="1" spc="-10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salary DESC </a:t>
            </a:r>
            <a:r>
              <a:rPr sz="2000" b="1" spc="-109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LIMIT</a:t>
            </a:r>
            <a:r>
              <a:rPr sz="20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3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14188" y="2031492"/>
            <a:ext cx="6297295" cy="4616450"/>
            <a:chOff x="5314188" y="2031492"/>
            <a:chExt cx="6297295" cy="46164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4188" y="2031492"/>
              <a:ext cx="4573523" cy="25389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0188" y="3494532"/>
              <a:ext cx="4011167" cy="31531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516373" y="5078729"/>
            <a:ext cx="2780030" cy="1569720"/>
          </a:xfrm>
          <a:prstGeom prst="rect">
            <a:avLst/>
          </a:prstGeom>
          <a:ln w="28575">
            <a:solidFill>
              <a:srgbClr val="1A315F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70"/>
              </a:spcBef>
            </a:pPr>
            <a:r>
              <a:rPr sz="1600" b="1" spc="-5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6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actor_id,</a:t>
            </a:r>
            <a:r>
              <a:rPr sz="1600" b="1" spc="-25" dirty="0"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salary</a:t>
            </a:r>
            <a:endParaRPr sz="1600">
              <a:latin typeface="Consolas"/>
              <a:cs typeface="Consolas"/>
            </a:endParaRPr>
          </a:p>
          <a:p>
            <a:pPr marL="90170">
              <a:lnSpc>
                <a:spcPct val="100000"/>
              </a:lnSpc>
            </a:pPr>
            <a:r>
              <a:rPr sz="16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6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roles</a:t>
            </a:r>
            <a:endParaRPr sz="1600">
              <a:latin typeface="Consolas"/>
              <a:cs typeface="Consolas"/>
            </a:endParaRPr>
          </a:p>
          <a:p>
            <a:pPr marL="90170" marR="568325">
              <a:lnSpc>
                <a:spcPct val="100000"/>
              </a:lnSpc>
            </a:pPr>
            <a:r>
              <a:rPr sz="1600" b="1" spc="-10" dirty="0">
                <a:solidFill>
                  <a:srgbClr val="4590B8"/>
                </a:solidFill>
                <a:latin typeface="Consolas"/>
                <a:cs typeface="Consolas"/>
              </a:rPr>
              <a:t>GROUP </a:t>
            </a:r>
            <a:r>
              <a:rPr sz="1600" b="1" spc="-5" dirty="0">
                <a:solidFill>
                  <a:srgbClr val="4590B8"/>
                </a:solidFill>
                <a:latin typeface="Consolas"/>
                <a:cs typeface="Consolas"/>
              </a:rPr>
              <a:t>BY </a:t>
            </a:r>
            <a:r>
              <a:rPr sz="1600" b="1" spc="-10" dirty="0">
                <a:latin typeface="Consolas"/>
                <a:cs typeface="Consolas"/>
              </a:rPr>
              <a:t>actor_id </a:t>
            </a:r>
            <a:r>
              <a:rPr sz="1600" b="1" spc="-5" dirty="0"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4590B8"/>
                </a:solidFill>
                <a:latin typeface="Consolas"/>
                <a:cs typeface="Consolas"/>
              </a:rPr>
              <a:t>HAVING</a:t>
            </a:r>
            <a:r>
              <a:rPr sz="16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COUNT(*)</a:t>
            </a:r>
            <a:r>
              <a:rPr sz="1600" b="1" spc="-15" dirty="0">
                <a:latin typeface="Consolas"/>
                <a:cs typeface="Consolas"/>
              </a:rPr>
              <a:t> </a:t>
            </a:r>
            <a:r>
              <a:rPr sz="1600" b="1" spc="-5" dirty="0">
                <a:latin typeface="Consolas"/>
                <a:cs typeface="Consolas"/>
              </a:rPr>
              <a:t>=</a:t>
            </a:r>
            <a:r>
              <a:rPr sz="1600" b="1" spc="-20" dirty="0">
                <a:latin typeface="Consolas"/>
                <a:cs typeface="Consolas"/>
              </a:rPr>
              <a:t> </a:t>
            </a:r>
            <a:r>
              <a:rPr sz="1600" b="1" spc="-5" dirty="0">
                <a:latin typeface="Consolas"/>
                <a:cs typeface="Consolas"/>
              </a:rPr>
              <a:t>1</a:t>
            </a:r>
            <a:endParaRPr sz="1600">
              <a:latin typeface="Consolas"/>
              <a:cs typeface="Consolas"/>
            </a:endParaRPr>
          </a:p>
          <a:p>
            <a:pPr marL="90170" marR="456565">
              <a:lnSpc>
                <a:spcPct val="100000"/>
              </a:lnSpc>
            </a:pPr>
            <a:r>
              <a:rPr sz="1600" b="1" spc="-10" dirty="0">
                <a:solidFill>
                  <a:srgbClr val="4590B8"/>
                </a:solidFill>
                <a:latin typeface="Consolas"/>
                <a:cs typeface="Consolas"/>
              </a:rPr>
              <a:t>ORDER</a:t>
            </a:r>
            <a:r>
              <a:rPr sz="16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solidFill>
                  <a:srgbClr val="4590B8"/>
                </a:solidFill>
                <a:latin typeface="Consolas"/>
                <a:cs typeface="Consolas"/>
              </a:rPr>
              <a:t>BY</a:t>
            </a:r>
            <a:r>
              <a:rPr sz="16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latin typeface="Consolas"/>
                <a:cs typeface="Consolas"/>
              </a:rPr>
              <a:t>salary</a:t>
            </a:r>
            <a:r>
              <a:rPr sz="1600" b="1" spc="-25" dirty="0">
                <a:latin typeface="Consolas"/>
                <a:cs typeface="Consolas"/>
              </a:rPr>
              <a:t> </a:t>
            </a:r>
            <a:r>
              <a:rPr sz="1600" b="1" spc="-5" dirty="0">
                <a:latin typeface="Consolas"/>
                <a:cs typeface="Consolas"/>
              </a:rPr>
              <a:t>DESC </a:t>
            </a:r>
            <a:r>
              <a:rPr sz="1600" b="1" spc="-865" dirty="0"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4590B8"/>
                </a:solidFill>
                <a:latin typeface="Consolas"/>
                <a:cs typeface="Consolas"/>
              </a:rPr>
              <a:t>LIMIT</a:t>
            </a:r>
            <a:r>
              <a:rPr sz="16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600" b="1" spc="-5" dirty="0">
                <a:latin typeface="Consolas"/>
                <a:cs typeface="Consolas"/>
              </a:rPr>
              <a:t>3</a:t>
            </a:r>
            <a:r>
              <a:rPr sz="16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69401"/>
            <a:ext cx="6418580" cy="286512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last_name)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5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“Birth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Date”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763905" marR="3389629" indent="-751840">
              <a:lnSpc>
                <a:spcPct val="147800"/>
              </a:lnSpc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WHERE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&lt;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ALL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(SELECT</a:t>
            </a:r>
            <a:r>
              <a:rPr sz="1800" b="1" spc="-9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FROM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0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WHERE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YEAR(birth_date)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%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2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&lt;&gt;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0)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1803" y="3051048"/>
            <a:ext cx="5559552" cy="33055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264402" y="2393442"/>
            <a:ext cx="5347970" cy="822960"/>
          </a:xfrm>
          <a:prstGeom prst="rect">
            <a:avLst/>
          </a:prstGeom>
          <a:ln w="28575">
            <a:solidFill>
              <a:srgbClr val="1A315F"/>
            </a:solidFill>
          </a:ln>
        </p:spPr>
        <p:txBody>
          <a:bodyPr vert="horz" wrap="square" lIns="0" tIns="1847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55"/>
              </a:spcBef>
              <a:tabLst>
                <a:tab pos="1282065" algn="l"/>
                <a:tab pos="1927225" algn="l"/>
              </a:tabLst>
            </a:pP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&lt;</a:t>
            </a:r>
            <a:r>
              <a:rPr sz="2800" b="1" spc="-34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250" dirty="0">
                <a:solidFill>
                  <a:srgbClr val="4590B8"/>
                </a:solidFill>
                <a:latin typeface="Trebuchet MS"/>
                <a:cs typeface="Trebuchet MS"/>
              </a:rPr>
              <a:t>ALL	</a:t>
            </a:r>
            <a:r>
              <a:rPr sz="2800" spc="-5" dirty="0">
                <a:solidFill>
                  <a:srgbClr val="3C3C3C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3C3C3C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&lt;</a:t>
            </a:r>
            <a:r>
              <a:rPr sz="2800" b="1" spc="-10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35" dirty="0">
                <a:solidFill>
                  <a:srgbClr val="4590B8"/>
                </a:solidFill>
                <a:latin typeface="Trebuchet MS"/>
                <a:cs typeface="Trebuchet MS"/>
              </a:rPr>
              <a:t>MINIMUM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644" y="2392679"/>
            <a:ext cx="5560060" cy="3304540"/>
            <a:chOff x="580644" y="2392679"/>
            <a:chExt cx="5560060" cy="33045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644" y="2392679"/>
              <a:ext cx="5559552" cy="3304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7658" y="4394453"/>
              <a:ext cx="996950" cy="504825"/>
            </a:xfrm>
            <a:custGeom>
              <a:avLst/>
              <a:gdLst/>
              <a:ahLst/>
              <a:cxnLst/>
              <a:rect l="l" t="t" r="r" b="b"/>
              <a:pathLst>
                <a:path w="996950" h="504825">
                  <a:moveTo>
                    <a:pt x="0" y="25146"/>
                  </a:moveTo>
                  <a:lnTo>
                    <a:pt x="1982" y="15376"/>
                  </a:lnTo>
                  <a:lnTo>
                    <a:pt x="7381" y="7381"/>
                  </a:lnTo>
                  <a:lnTo>
                    <a:pt x="15376" y="1982"/>
                  </a:lnTo>
                  <a:lnTo>
                    <a:pt x="25146" y="0"/>
                  </a:lnTo>
                  <a:lnTo>
                    <a:pt x="971550" y="0"/>
                  </a:lnTo>
                  <a:lnTo>
                    <a:pt x="981319" y="1982"/>
                  </a:lnTo>
                  <a:lnTo>
                    <a:pt x="989314" y="7381"/>
                  </a:lnTo>
                  <a:lnTo>
                    <a:pt x="994713" y="15376"/>
                  </a:lnTo>
                  <a:lnTo>
                    <a:pt x="996695" y="25146"/>
                  </a:lnTo>
                  <a:lnTo>
                    <a:pt x="996695" y="125730"/>
                  </a:lnTo>
                  <a:lnTo>
                    <a:pt x="994713" y="135499"/>
                  </a:lnTo>
                  <a:lnTo>
                    <a:pt x="989314" y="143494"/>
                  </a:lnTo>
                  <a:lnTo>
                    <a:pt x="981319" y="148893"/>
                  </a:lnTo>
                  <a:lnTo>
                    <a:pt x="971550" y="150876"/>
                  </a:lnTo>
                  <a:lnTo>
                    <a:pt x="25146" y="150876"/>
                  </a:lnTo>
                  <a:lnTo>
                    <a:pt x="15376" y="148893"/>
                  </a:lnTo>
                  <a:lnTo>
                    <a:pt x="7381" y="143494"/>
                  </a:lnTo>
                  <a:lnTo>
                    <a:pt x="1982" y="135499"/>
                  </a:lnTo>
                  <a:lnTo>
                    <a:pt x="0" y="125730"/>
                  </a:lnTo>
                  <a:lnTo>
                    <a:pt x="0" y="25146"/>
                  </a:lnTo>
                  <a:close/>
                </a:path>
                <a:path w="996950" h="504825">
                  <a:moveTo>
                    <a:pt x="3048" y="288544"/>
                  </a:moveTo>
                  <a:lnTo>
                    <a:pt x="6437" y="271724"/>
                  </a:lnTo>
                  <a:lnTo>
                    <a:pt x="15684" y="258000"/>
                  </a:lnTo>
                  <a:lnTo>
                    <a:pt x="29408" y="248753"/>
                  </a:lnTo>
                  <a:lnTo>
                    <a:pt x="46228" y="245364"/>
                  </a:lnTo>
                  <a:lnTo>
                    <a:pt x="953516" y="245364"/>
                  </a:lnTo>
                  <a:lnTo>
                    <a:pt x="970335" y="248753"/>
                  </a:lnTo>
                  <a:lnTo>
                    <a:pt x="984059" y="258000"/>
                  </a:lnTo>
                  <a:lnTo>
                    <a:pt x="993306" y="271724"/>
                  </a:lnTo>
                  <a:lnTo>
                    <a:pt x="996695" y="288544"/>
                  </a:lnTo>
                  <a:lnTo>
                    <a:pt x="996695" y="461264"/>
                  </a:lnTo>
                  <a:lnTo>
                    <a:pt x="993306" y="478083"/>
                  </a:lnTo>
                  <a:lnTo>
                    <a:pt x="984059" y="491807"/>
                  </a:lnTo>
                  <a:lnTo>
                    <a:pt x="970335" y="501054"/>
                  </a:lnTo>
                  <a:lnTo>
                    <a:pt x="953516" y="504444"/>
                  </a:lnTo>
                  <a:lnTo>
                    <a:pt x="46228" y="504444"/>
                  </a:lnTo>
                  <a:lnTo>
                    <a:pt x="29408" y="501054"/>
                  </a:lnTo>
                  <a:lnTo>
                    <a:pt x="15684" y="491807"/>
                  </a:lnTo>
                  <a:lnTo>
                    <a:pt x="6437" y="478083"/>
                  </a:lnTo>
                  <a:lnTo>
                    <a:pt x="3048" y="461264"/>
                  </a:lnTo>
                  <a:lnTo>
                    <a:pt x="3048" y="288544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3640" y="3436620"/>
            <a:ext cx="5347716" cy="22600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69401"/>
            <a:ext cx="6418580" cy="286512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last_name)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5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“Birth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Date”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763905" marR="3389629" indent="-751840">
              <a:lnSpc>
                <a:spcPct val="147800"/>
              </a:lnSpc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WHERE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&gt;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ALL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(SELECT</a:t>
            </a:r>
            <a:r>
              <a:rPr sz="1800" b="1" spc="-9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FROM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0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WHERE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YEAR(birth_date)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%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2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&lt;&gt;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0)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1803" y="3051048"/>
            <a:ext cx="5559552" cy="33055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264402" y="2660142"/>
            <a:ext cx="5347970" cy="822960"/>
          </a:xfrm>
          <a:prstGeom prst="rect">
            <a:avLst/>
          </a:prstGeom>
          <a:ln w="28575">
            <a:solidFill>
              <a:srgbClr val="1A315F"/>
            </a:solidFill>
          </a:ln>
        </p:spPr>
        <p:txBody>
          <a:bodyPr vert="horz" wrap="square" lIns="0" tIns="184785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455"/>
              </a:spcBef>
              <a:tabLst>
                <a:tab pos="1880235" algn="l"/>
                <a:tab pos="2524760" algn="l"/>
              </a:tabLst>
            </a:pP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&gt;</a:t>
            </a:r>
            <a:r>
              <a:rPr sz="2800" b="1" spc="-34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250" dirty="0">
                <a:solidFill>
                  <a:srgbClr val="4590B8"/>
                </a:solidFill>
                <a:latin typeface="Trebuchet MS"/>
                <a:cs typeface="Trebuchet MS"/>
              </a:rPr>
              <a:t>ALL	</a:t>
            </a:r>
            <a:r>
              <a:rPr sz="2800" spc="-5" dirty="0">
                <a:solidFill>
                  <a:srgbClr val="3C3C3C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3C3C3C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&gt;</a:t>
            </a:r>
            <a:r>
              <a:rPr sz="2800" b="1" spc="-100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85" dirty="0">
                <a:solidFill>
                  <a:srgbClr val="4590B8"/>
                </a:solidFill>
                <a:latin typeface="Trebuchet MS"/>
                <a:cs typeface="Trebuchet MS"/>
              </a:rPr>
              <a:t>MAXIMUM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644" y="2392679"/>
            <a:ext cx="5560060" cy="3304540"/>
            <a:chOff x="580644" y="2392679"/>
            <a:chExt cx="5560060" cy="33045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644" y="2392679"/>
              <a:ext cx="5559552" cy="3304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7658" y="4394453"/>
              <a:ext cx="996950" cy="504825"/>
            </a:xfrm>
            <a:custGeom>
              <a:avLst/>
              <a:gdLst/>
              <a:ahLst/>
              <a:cxnLst/>
              <a:rect l="l" t="t" r="r" b="b"/>
              <a:pathLst>
                <a:path w="996950" h="504825">
                  <a:moveTo>
                    <a:pt x="0" y="25146"/>
                  </a:moveTo>
                  <a:lnTo>
                    <a:pt x="1982" y="15376"/>
                  </a:lnTo>
                  <a:lnTo>
                    <a:pt x="7381" y="7381"/>
                  </a:lnTo>
                  <a:lnTo>
                    <a:pt x="15376" y="1982"/>
                  </a:lnTo>
                  <a:lnTo>
                    <a:pt x="25146" y="0"/>
                  </a:lnTo>
                  <a:lnTo>
                    <a:pt x="971550" y="0"/>
                  </a:lnTo>
                  <a:lnTo>
                    <a:pt x="981319" y="1982"/>
                  </a:lnTo>
                  <a:lnTo>
                    <a:pt x="989314" y="7381"/>
                  </a:lnTo>
                  <a:lnTo>
                    <a:pt x="994713" y="15376"/>
                  </a:lnTo>
                  <a:lnTo>
                    <a:pt x="996695" y="25146"/>
                  </a:lnTo>
                  <a:lnTo>
                    <a:pt x="996695" y="125730"/>
                  </a:lnTo>
                  <a:lnTo>
                    <a:pt x="994713" y="135499"/>
                  </a:lnTo>
                  <a:lnTo>
                    <a:pt x="989314" y="143494"/>
                  </a:lnTo>
                  <a:lnTo>
                    <a:pt x="981319" y="148893"/>
                  </a:lnTo>
                  <a:lnTo>
                    <a:pt x="971550" y="150876"/>
                  </a:lnTo>
                  <a:lnTo>
                    <a:pt x="25146" y="150876"/>
                  </a:lnTo>
                  <a:lnTo>
                    <a:pt x="15376" y="148893"/>
                  </a:lnTo>
                  <a:lnTo>
                    <a:pt x="7381" y="143494"/>
                  </a:lnTo>
                  <a:lnTo>
                    <a:pt x="1982" y="135499"/>
                  </a:lnTo>
                  <a:lnTo>
                    <a:pt x="0" y="125730"/>
                  </a:lnTo>
                  <a:lnTo>
                    <a:pt x="0" y="25146"/>
                  </a:lnTo>
                  <a:close/>
                </a:path>
                <a:path w="996950" h="504825">
                  <a:moveTo>
                    <a:pt x="3048" y="288544"/>
                  </a:moveTo>
                  <a:lnTo>
                    <a:pt x="6437" y="271724"/>
                  </a:lnTo>
                  <a:lnTo>
                    <a:pt x="15684" y="258000"/>
                  </a:lnTo>
                  <a:lnTo>
                    <a:pt x="29408" y="248753"/>
                  </a:lnTo>
                  <a:lnTo>
                    <a:pt x="46228" y="245364"/>
                  </a:lnTo>
                  <a:lnTo>
                    <a:pt x="953516" y="245364"/>
                  </a:lnTo>
                  <a:lnTo>
                    <a:pt x="970335" y="248753"/>
                  </a:lnTo>
                  <a:lnTo>
                    <a:pt x="984059" y="258000"/>
                  </a:lnTo>
                  <a:lnTo>
                    <a:pt x="993306" y="271724"/>
                  </a:lnTo>
                  <a:lnTo>
                    <a:pt x="996695" y="288544"/>
                  </a:lnTo>
                  <a:lnTo>
                    <a:pt x="996695" y="461264"/>
                  </a:lnTo>
                  <a:lnTo>
                    <a:pt x="993306" y="478083"/>
                  </a:lnTo>
                  <a:lnTo>
                    <a:pt x="984059" y="491807"/>
                  </a:lnTo>
                  <a:lnTo>
                    <a:pt x="970335" y="501054"/>
                  </a:lnTo>
                  <a:lnTo>
                    <a:pt x="953516" y="504444"/>
                  </a:lnTo>
                  <a:lnTo>
                    <a:pt x="46228" y="504444"/>
                  </a:lnTo>
                  <a:lnTo>
                    <a:pt x="29408" y="501054"/>
                  </a:lnTo>
                  <a:lnTo>
                    <a:pt x="15684" y="491807"/>
                  </a:lnTo>
                  <a:lnTo>
                    <a:pt x="6437" y="478083"/>
                  </a:lnTo>
                  <a:lnTo>
                    <a:pt x="3048" y="461264"/>
                  </a:lnTo>
                  <a:lnTo>
                    <a:pt x="3048" y="288544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3640" y="3742944"/>
            <a:ext cx="5349240" cy="16870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69401"/>
            <a:ext cx="6418580" cy="286512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last_name)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5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“Birth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Date”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763905" marR="3389629" indent="-751840">
              <a:lnSpc>
                <a:spcPct val="147800"/>
              </a:lnSpc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WHERE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&lt;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ANY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(SELECT</a:t>
            </a:r>
            <a:r>
              <a:rPr sz="1800" b="1" spc="-9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FROM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0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WHERE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YEAR(birth_date)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%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2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&lt;&gt;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0)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1803" y="3051048"/>
            <a:ext cx="5559552" cy="33055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649973" y="2230373"/>
            <a:ext cx="4962525" cy="824865"/>
          </a:xfrm>
          <a:prstGeom prst="rect">
            <a:avLst/>
          </a:prstGeom>
          <a:ln w="28575">
            <a:solidFill>
              <a:srgbClr val="1A315F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1465"/>
              </a:spcBef>
              <a:tabLst>
                <a:tab pos="1743075" algn="l"/>
                <a:tab pos="2387600" algn="l"/>
              </a:tabLst>
            </a:pP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&lt;</a:t>
            </a:r>
            <a:r>
              <a:rPr sz="2800" b="1" spc="-34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85" dirty="0">
                <a:solidFill>
                  <a:srgbClr val="4590B8"/>
                </a:solidFill>
                <a:latin typeface="Trebuchet MS"/>
                <a:cs typeface="Trebuchet MS"/>
              </a:rPr>
              <a:t>ANY	</a:t>
            </a:r>
            <a:r>
              <a:rPr sz="2800" spc="-5" dirty="0">
                <a:solidFill>
                  <a:srgbClr val="3C3C3C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3C3C3C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&lt;</a:t>
            </a:r>
            <a:r>
              <a:rPr sz="2800" b="1" spc="-100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85" dirty="0">
                <a:solidFill>
                  <a:srgbClr val="4590B8"/>
                </a:solidFill>
                <a:latin typeface="Trebuchet MS"/>
                <a:cs typeface="Trebuchet MS"/>
              </a:rPr>
              <a:t>MAXIMUM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644" y="2734055"/>
            <a:ext cx="5560060" cy="3305810"/>
            <a:chOff x="580644" y="2734055"/>
            <a:chExt cx="5560060" cy="3305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644" y="2734055"/>
              <a:ext cx="5559552" cy="33055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7658" y="4737354"/>
              <a:ext cx="996950" cy="504825"/>
            </a:xfrm>
            <a:custGeom>
              <a:avLst/>
              <a:gdLst/>
              <a:ahLst/>
              <a:cxnLst/>
              <a:rect l="l" t="t" r="r" b="b"/>
              <a:pathLst>
                <a:path w="996950" h="504825">
                  <a:moveTo>
                    <a:pt x="0" y="24892"/>
                  </a:moveTo>
                  <a:lnTo>
                    <a:pt x="1960" y="15216"/>
                  </a:lnTo>
                  <a:lnTo>
                    <a:pt x="7302" y="7302"/>
                  </a:lnTo>
                  <a:lnTo>
                    <a:pt x="15216" y="1960"/>
                  </a:lnTo>
                  <a:lnTo>
                    <a:pt x="24892" y="0"/>
                  </a:lnTo>
                  <a:lnTo>
                    <a:pt x="971804" y="0"/>
                  </a:lnTo>
                  <a:lnTo>
                    <a:pt x="981479" y="1960"/>
                  </a:lnTo>
                  <a:lnTo>
                    <a:pt x="989393" y="7302"/>
                  </a:lnTo>
                  <a:lnTo>
                    <a:pt x="994735" y="15216"/>
                  </a:lnTo>
                  <a:lnTo>
                    <a:pt x="996695" y="24892"/>
                  </a:lnTo>
                  <a:lnTo>
                    <a:pt x="996695" y="124460"/>
                  </a:lnTo>
                  <a:lnTo>
                    <a:pt x="994735" y="134135"/>
                  </a:lnTo>
                  <a:lnTo>
                    <a:pt x="989393" y="142049"/>
                  </a:lnTo>
                  <a:lnTo>
                    <a:pt x="981479" y="147391"/>
                  </a:lnTo>
                  <a:lnTo>
                    <a:pt x="971804" y="149352"/>
                  </a:lnTo>
                  <a:lnTo>
                    <a:pt x="24892" y="149352"/>
                  </a:lnTo>
                  <a:lnTo>
                    <a:pt x="15216" y="147391"/>
                  </a:lnTo>
                  <a:lnTo>
                    <a:pt x="7302" y="142049"/>
                  </a:lnTo>
                  <a:lnTo>
                    <a:pt x="1960" y="134135"/>
                  </a:lnTo>
                  <a:lnTo>
                    <a:pt x="0" y="124460"/>
                  </a:lnTo>
                  <a:lnTo>
                    <a:pt x="0" y="24892"/>
                  </a:lnTo>
                  <a:close/>
                </a:path>
                <a:path w="996950" h="504825">
                  <a:moveTo>
                    <a:pt x="3048" y="288544"/>
                  </a:moveTo>
                  <a:lnTo>
                    <a:pt x="6437" y="271724"/>
                  </a:lnTo>
                  <a:lnTo>
                    <a:pt x="15684" y="258000"/>
                  </a:lnTo>
                  <a:lnTo>
                    <a:pt x="29408" y="248753"/>
                  </a:lnTo>
                  <a:lnTo>
                    <a:pt x="46228" y="245364"/>
                  </a:lnTo>
                  <a:lnTo>
                    <a:pt x="953516" y="245364"/>
                  </a:lnTo>
                  <a:lnTo>
                    <a:pt x="970335" y="248753"/>
                  </a:lnTo>
                  <a:lnTo>
                    <a:pt x="984059" y="258000"/>
                  </a:lnTo>
                  <a:lnTo>
                    <a:pt x="993306" y="271724"/>
                  </a:lnTo>
                  <a:lnTo>
                    <a:pt x="996695" y="288544"/>
                  </a:lnTo>
                  <a:lnTo>
                    <a:pt x="996695" y="461264"/>
                  </a:lnTo>
                  <a:lnTo>
                    <a:pt x="993306" y="478083"/>
                  </a:lnTo>
                  <a:lnTo>
                    <a:pt x="984059" y="491807"/>
                  </a:lnTo>
                  <a:lnTo>
                    <a:pt x="970335" y="501054"/>
                  </a:lnTo>
                  <a:lnTo>
                    <a:pt x="953516" y="504444"/>
                  </a:lnTo>
                  <a:lnTo>
                    <a:pt x="46228" y="504444"/>
                  </a:lnTo>
                  <a:lnTo>
                    <a:pt x="29408" y="501054"/>
                  </a:lnTo>
                  <a:lnTo>
                    <a:pt x="15684" y="491807"/>
                  </a:lnTo>
                  <a:lnTo>
                    <a:pt x="6437" y="478083"/>
                  </a:lnTo>
                  <a:lnTo>
                    <a:pt x="3048" y="461264"/>
                  </a:lnTo>
                  <a:lnTo>
                    <a:pt x="3048" y="288544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9211" y="3275076"/>
            <a:ext cx="4962144" cy="32689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69401"/>
            <a:ext cx="6418580" cy="286512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last_name)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5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“Birth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Date”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763905" marR="3389629" indent="-751840">
              <a:lnSpc>
                <a:spcPct val="147800"/>
              </a:lnSpc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WHERE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&gt;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ANY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(SELECT</a:t>
            </a:r>
            <a:r>
              <a:rPr sz="1800" b="1" spc="-9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FROM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0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WHERE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YEAR(birth_date)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%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2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&lt;&gt;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0)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1803" y="3051048"/>
            <a:ext cx="5559552" cy="33055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7376" y="3246120"/>
            <a:ext cx="5173980" cy="32979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438138" y="2230373"/>
            <a:ext cx="5173980" cy="824865"/>
          </a:xfrm>
          <a:prstGeom prst="rect">
            <a:avLst/>
          </a:prstGeom>
          <a:ln w="28575">
            <a:solidFill>
              <a:srgbClr val="1A315F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1465"/>
              </a:spcBef>
              <a:tabLst>
                <a:tab pos="1922145" algn="l"/>
                <a:tab pos="2567305" algn="l"/>
              </a:tabLst>
            </a:pP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&gt;</a:t>
            </a:r>
            <a:r>
              <a:rPr sz="2800" b="1" spc="-34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85" dirty="0">
                <a:solidFill>
                  <a:srgbClr val="4590B8"/>
                </a:solidFill>
                <a:latin typeface="Trebuchet MS"/>
                <a:cs typeface="Trebuchet MS"/>
              </a:rPr>
              <a:t>ANY	</a:t>
            </a:r>
            <a:r>
              <a:rPr sz="2800" spc="-5" dirty="0">
                <a:solidFill>
                  <a:srgbClr val="3C3C3C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3C3C3C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&gt;</a:t>
            </a:r>
            <a:r>
              <a:rPr sz="2800" b="1" spc="-100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35" dirty="0">
                <a:solidFill>
                  <a:srgbClr val="4590B8"/>
                </a:solidFill>
                <a:latin typeface="Trebuchet MS"/>
                <a:cs typeface="Trebuchet MS"/>
              </a:rPr>
              <a:t>MINIMUM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0644" y="2734055"/>
            <a:ext cx="5560060" cy="3305810"/>
            <a:chOff x="580644" y="2734055"/>
            <a:chExt cx="5560060" cy="33058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644" y="2734055"/>
              <a:ext cx="5559552" cy="33055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97658" y="4737354"/>
              <a:ext cx="996950" cy="504825"/>
            </a:xfrm>
            <a:custGeom>
              <a:avLst/>
              <a:gdLst/>
              <a:ahLst/>
              <a:cxnLst/>
              <a:rect l="l" t="t" r="r" b="b"/>
              <a:pathLst>
                <a:path w="996950" h="504825">
                  <a:moveTo>
                    <a:pt x="0" y="24892"/>
                  </a:moveTo>
                  <a:lnTo>
                    <a:pt x="1960" y="15216"/>
                  </a:lnTo>
                  <a:lnTo>
                    <a:pt x="7302" y="7302"/>
                  </a:lnTo>
                  <a:lnTo>
                    <a:pt x="15216" y="1960"/>
                  </a:lnTo>
                  <a:lnTo>
                    <a:pt x="24892" y="0"/>
                  </a:lnTo>
                  <a:lnTo>
                    <a:pt x="971804" y="0"/>
                  </a:lnTo>
                  <a:lnTo>
                    <a:pt x="981479" y="1960"/>
                  </a:lnTo>
                  <a:lnTo>
                    <a:pt x="989393" y="7302"/>
                  </a:lnTo>
                  <a:lnTo>
                    <a:pt x="994735" y="15216"/>
                  </a:lnTo>
                  <a:lnTo>
                    <a:pt x="996695" y="24892"/>
                  </a:lnTo>
                  <a:lnTo>
                    <a:pt x="996695" y="124460"/>
                  </a:lnTo>
                  <a:lnTo>
                    <a:pt x="994735" y="134135"/>
                  </a:lnTo>
                  <a:lnTo>
                    <a:pt x="989393" y="142049"/>
                  </a:lnTo>
                  <a:lnTo>
                    <a:pt x="981479" y="147391"/>
                  </a:lnTo>
                  <a:lnTo>
                    <a:pt x="971804" y="149352"/>
                  </a:lnTo>
                  <a:lnTo>
                    <a:pt x="24892" y="149352"/>
                  </a:lnTo>
                  <a:lnTo>
                    <a:pt x="15216" y="147391"/>
                  </a:lnTo>
                  <a:lnTo>
                    <a:pt x="7302" y="142049"/>
                  </a:lnTo>
                  <a:lnTo>
                    <a:pt x="1960" y="134135"/>
                  </a:lnTo>
                  <a:lnTo>
                    <a:pt x="0" y="124460"/>
                  </a:lnTo>
                  <a:lnTo>
                    <a:pt x="0" y="24892"/>
                  </a:lnTo>
                  <a:close/>
                </a:path>
                <a:path w="996950" h="504825">
                  <a:moveTo>
                    <a:pt x="3048" y="288544"/>
                  </a:moveTo>
                  <a:lnTo>
                    <a:pt x="6437" y="271724"/>
                  </a:lnTo>
                  <a:lnTo>
                    <a:pt x="15684" y="258000"/>
                  </a:lnTo>
                  <a:lnTo>
                    <a:pt x="29408" y="248753"/>
                  </a:lnTo>
                  <a:lnTo>
                    <a:pt x="46228" y="245364"/>
                  </a:lnTo>
                  <a:lnTo>
                    <a:pt x="953516" y="245364"/>
                  </a:lnTo>
                  <a:lnTo>
                    <a:pt x="970335" y="248753"/>
                  </a:lnTo>
                  <a:lnTo>
                    <a:pt x="984059" y="258000"/>
                  </a:lnTo>
                  <a:lnTo>
                    <a:pt x="993306" y="271724"/>
                  </a:lnTo>
                  <a:lnTo>
                    <a:pt x="996695" y="288544"/>
                  </a:lnTo>
                  <a:lnTo>
                    <a:pt x="996695" y="461264"/>
                  </a:lnTo>
                  <a:lnTo>
                    <a:pt x="993306" y="478083"/>
                  </a:lnTo>
                  <a:lnTo>
                    <a:pt x="984059" y="491807"/>
                  </a:lnTo>
                  <a:lnTo>
                    <a:pt x="970335" y="501054"/>
                  </a:lnTo>
                  <a:lnTo>
                    <a:pt x="953516" y="504444"/>
                  </a:lnTo>
                  <a:lnTo>
                    <a:pt x="46228" y="504444"/>
                  </a:lnTo>
                  <a:lnTo>
                    <a:pt x="29408" y="501054"/>
                  </a:lnTo>
                  <a:lnTo>
                    <a:pt x="15684" y="491807"/>
                  </a:lnTo>
                  <a:lnTo>
                    <a:pt x="6437" y="478083"/>
                  </a:lnTo>
                  <a:lnTo>
                    <a:pt x="3048" y="461264"/>
                  </a:lnTo>
                  <a:lnTo>
                    <a:pt x="3048" y="288544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369401"/>
            <a:ext cx="6418580" cy="286512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last_name)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5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“Birth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Date”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763905" marR="3389629" indent="-751840">
              <a:lnSpc>
                <a:spcPct val="147800"/>
              </a:lnSpc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WHERE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ANY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(SELECT</a:t>
            </a:r>
            <a:r>
              <a:rPr sz="1800" b="1" spc="-9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FROM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889000">
              <a:lnSpc>
                <a:spcPct val="100000"/>
              </a:lnSpc>
              <a:spcBef>
                <a:spcPts val="1030"/>
              </a:spcBef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WHERE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YEAR(birth_date)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%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2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&lt;&gt;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0)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1803" y="3051048"/>
            <a:ext cx="5559552" cy="33055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9171" y="3334511"/>
            <a:ext cx="5282183" cy="24597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580644" y="2392679"/>
            <a:ext cx="5560060" cy="3304540"/>
            <a:chOff x="580644" y="2392679"/>
            <a:chExt cx="5560060" cy="33045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644" y="2392679"/>
              <a:ext cx="5559552" cy="3304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7658" y="4394453"/>
              <a:ext cx="996950" cy="504825"/>
            </a:xfrm>
            <a:custGeom>
              <a:avLst/>
              <a:gdLst/>
              <a:ahLst/>
              <a:cxnLst/>
              <a:rect l="l" t="t" r="r" b="b"/>
              <a:pathLst>
                <a:path w="996950" h="504825">
                  <a:moveTo>
                    <a:pt x="0" y="25146"/>
                  </a:moveTo>
                  <a:lnTo>
                    <a:pt x="1982" y="15376"/>
                  </a:lnTo>
                  <a:lnTo>
                    <a:pt x="7381" y="7381"/>
                  </a:lnTo>
                  <a:lnTo>
                    <a:pt x="15376" y="1982"/>
                  </a:lnTo>
                  <a:lnTo>
                    <a:pt x="25146" y="0"/>
                  </a:lnTo>
                  <a:lnTo>
                    <a:pt x="971550" y="0"/>
                  </a:lnTo>
                  <a:lnTo>
                    <a:pt x="981319" y="1982"/>
                  </a:lnTo>
                  <a:lnTo>
                    <a:pt x="989314" y="7381"/>
                  </a:lnTo>
                  <a:lnTo>
                    <a:pt x="994713" y="15376"/>
                  </a:lnTo>
                  <a:lnTo>
                    <a:pt x="996695" y="25146"/>
                  </a:lnTo>
                  <a:lnTo>
                    <a:pt x="996695" y="125730"/>
                  </a:lnTo>
                  <a:lnTo>
                    <a:pt x="994713" y="135499"/>
                  </a:lnTo>
                  <a:lnTo>
                    <a:pt x="989314" y="143494"/>
                  </a:lnTo>
                  <a:lnTo>
                    <a:pt x="981319" y="148893"/>
                  </a:lnTo>
                  <a:lnTo>
                    <a:pt x="971550" y="150876"/>
                  </a:lnTo>
                  <a:lnTo>
                    <a:pt x="25146" y="150876"/>
                  </a:lnTo>
                  <a:lnTo>
                    <a:pt x="15376" y="148893"/>
                  </a:lnTo>
                  <a:lnTo>
                    <a:pt x="7381" y="143494"/>
                  </a:lnTo>
                  <a:lnTo>
                    <a:pt x="1982" y="135499"/>
                  </a:lnTo>
                  <a:lnTo>
                    <a:pt x="0" y="125730"/>
                  </a:lnTo>
                  <a:lnTo>
                    <a:pt x="0" y="25146"/>
                  </a:lnTo>
                  <a:close/>
                </a:path>
                <a:path w="996950" h="504825">
                  <a:moveTo>
                    <a:pt x="3048" y="288544"/>
                  </a:moveTo>
                  <a:lnTo>
                    <a:pt x="6437" y="271724"/>
                  </a:lnTo>
                  <a:lnTo>
                    <a:pt x="15684" y="258000"/>
                  </a:lnTo>
                  <a:lnTo>
                    <a:pt x="29408" y="248753"/>
                  </a:lnTo>
                  <a:lnTo>
                    <a:pt x="46228" y="245364"/>
                  </a:lnTo>
                  <a:lnTo>
                    <a:pt x="953516" y="245364"/>
                  </a:lnTo>
                  <a:lnTo>
                    <a:pt x="970335" y="248753"/>
                  </a:lnTo>
                  <a:lnTo>
                    <a:pt x="984059" y="258000"/>
                  </a:lnTo>
                  <a:lnTo>
                    <a:pt x="993306" y="271724"/>
                  </a:lnTo>
                  <a:lnTo>
                    <a:pt x="996695" y="288544"/>
                  </a:lnTo>
                  <a:lnTo>
                    <a:pt x="996695" y="461264"/>
                  </a:lnTo>
                  <a:lnTo>
                    <a:pt x="993306" y="478083"/>
                  </a:lnTo>
                  <a:lnTo>
                    <a:pt x="984059" y="491807"/>
                  </a:lnTo>
                  <a:lnTo>
                    <a:pt x="970335" y="501054"/>
                  </a:lnTo>
                  <a:lnTo>
                    <a:pt x="953516" y="504444"/>
                  </a:lnTo>
                  <a:lnTo>
                    <a:pt x="46228" y="504444"/>
                  </a:lnTo>
                  <a:lnTo>
                    <a:pt x="29408" y="501054"/>
                  </a:lnTo>
                  <a:lnTo>
                    <a:pt x="15684" y="491807"/>
                  </a:lnTo>
                  <a:lnTo>
                    <a:pt x="6437" y="478083"/>
                  </a:lnTo>
                  <a:lnTo>
                    <a:pt x="3048" y="461264"/>
                  </a:lnTo>
                  <a:lnTo>
                    <a:pt x="3048" y="288544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29934" y="2297429"/>
            <a:ext cx="5282565" cy="824865"/>
          </a:xfrm>
          <a:prstGeom prst="rect">
            <a:avLst/>
          </a:prstGeom>
          <a:ln w="28575">
            <a:solidFill>
              <a:srgbClr val="1A315F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65"/>
              </a:spcBef>
              <a:tabLst>
                <a:tab pos="1395730" algn="l"/>
                <a:tab pos="2040255" algn="l"/>
              </a:tabLst>
            </a:pP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=</a:t>
            </a:r>
            <a:r>
              <a:rPr sz="2800" b="1" spc="-34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85" dirty="0">
                <a:solidFill>
                  <a:srgbClr val="4590B8"/>
                </a:solidFill>
                <a:latin typeface="Trebuchet MS"/>
                <a:cs typeface="Trebuchet MS"/>
              </a:rPr>
              <a:t>ANY	</a:t>
            </a:r>
            <a:r>
              <a:rPr sz="2800" spc="-5" dirty="0">
                <a:solidFill>
                  <a:srgbClr val="3C3C3C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3C3C3C"/>
                </a:solidFill>
                <a:latin typeface="Times New Roman"/>
                <a:cs typeface="Times New Roman"/>
              </a:rPr>
              <a:t>	</a:t>
            </a:r>
            <a:r>
              <a:rPr sz="2800" b="1" spc="-180" dirty="0">
                <a:solidFill>
                  <a:srgbClr val="4590B8"/>
                </a:solidFill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95" dirty="0">
                <a:solidFill>
                  <a:srgbClr val="FFFFFF"/>
                </a:solidFill>
              </a:rPr>
              <a:t>SUBQU</a:t>
            </a:r>
            <a:r>
              <a:rPr sz="2800" spc="85" dirty="0">
                <a:solidFill>
                  <a:srgbClr val="FFFFFF"/>
                </a:solidFill>
              </a:rPr>
              <a:t>E</a:t>
            </a:r>
            <a:r>
              <a:rPr sz="2800" spc="-220" dirty="0">
                <a:solidFill>
                  <a:srgbClr val="FFFFFF"/>
                </a:solidFill>
              </a:rPr>
              <a:t>R</a:t>
            </a:r>
            <a:r>
              <a:rPr sz="2800" spc="5" dirty="0">
                <a:solidFill>
                  <a:srgbClr val="FFFFFF"/>
                </a:solidFill>
              </a:rPr>
              <a:t>Y</a:t>
            </a:r>
            <a:r>
              <a:rPr sz="2800" spc="-420" dirty="0">
                <a:solidFill>
                  <a:srgbClr val="FFFFFF"/>
                </a:solidFill>
              </a:rPr>
              <a:t>:</a:t>
            </a:r>
            <a:r>
              <a:rPr sz="2800" spc="-63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229" dirty="0">
                <a:solidFill>
                  <a:srgbClr val="FFFFFF"/>
                </a:solidFill>
              </a:rPr>
              <a:t>&amp;</a:t>
            </a:r>
            <a:r>
              <a:rPr sz="2800" spc="-350" dirty="0">
                <a:solidFill>
                  <a:srgbClr val="FFFFFF"/>
                </a:solidFill>
              </a:rPr>
              <a:t> </a:t>
            </a:r>
            <a:r>
              <a:rPr sz="2800" spc="229" dirty="0">
                <a:solidFill>
                  <a:srgbClr val="FFFFFF"/>
                </a:solidFill>
              </a:rPr>
              <a:t>ANY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OPER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30" dirty="0">
                <a:solidFill>
                  <a:srgbClr val="FFFFFF"/>
                </a:solidFill>
              </a:rPr>
              <a:t>ORS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329934" y="2297429"/>
            <a:ext cx="5282565" cy="824865"/>
          </a:xfrm>
          <a:prstGeom prst="rect">
            <a:avLst/>
          </a:prstGeom>
          <a:ln w="28575">
            <a:solidFill>
              <a:srgbClr val="1A315F"/>
            </a:solidFill>
          </a:ln>
        </p:spPr>
        <p:txBody>
          <a:bodyPr vert="horz" wrap="square" lIns="0" tIns="186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65"/>
              </a:spcBef>
              <a:tabLst>
                <a:tab pos="1395730" algn="l"/>
                <a:tab pos="2040255" algn="l"/>
              </a:tabLst>
            </a:pPr>
            <a:r>
              <a:rPr sz="2800" b="1" spc="-10" dirty="0">
                <a:solidFill>
                  <a:srgbClr val="4590B8"/>
                </a:solidFill>
                <a:latin typeface="Trebuchet MS"/>
                <a:cs typeface="Trebuchet MS"/>
              </a:rPr>
              <a:t>=</a:t>
            </a:r>
            <a:r>
              <a:rPr sz="2800" b="1" spc="-34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2800" b="1" spc="385" dirty="0">
                <a:solidFill>
                  <a:srgbClr val="4590B8"/>
                </a:solidFill>
                <a:latin typeface="Trebuchet MS"/>
                <a:cs typeface="Trebuchet MS"/>
              </a:rPr>
              <a:t>ANY	</a:t>
            </a:r>
            <a:r>
              <a:rPr sz="2800" spc="-5" dirty="0">
                <a:solidFill>
                  <a:srgbClr val="3C3C3C"/>
                </a:solidFill>
                <a:latin typeface="Wingdings"/>
                <a:cs typeface="Wingdings"/>
              </a:rPr>
              <a:t></a:t>
            </a:r>
            <a:r>
              <a:rPr sz="2800" spc="-5" dirty="0">
                <a:solidFill>
                  <a:srgbClr val="3C3C3C"/>
                </a:solidFill>
                <a:latin typeface="Times New Roman"/>
                <a:cs typeface="Times New Roman"/>
              </a:rPr>
              <a:t>	</a:t>
            </a:r>
            <a:r>
              <a:rPr sz="2800" b="1" spc="320" dirty="0">
                <a:solidFill>
                  <a:srgbClr val="4590B8"/>
                </a:solidFill>
                <a:latin typeface="Trebuchet MS"/>
                <a:cs typeface="Trebuchet MS"/>
              </a:rPr>
              <a:t>IN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0644" y="2392679"/>
            <a:ext cx="5560060" cy="3304540"/>
            <a:chOff x="580644" y="2392679"/>
            <a:chExt cx="5560060" cy="33045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644" y="2392679"/>
              <a:ext cx="5559552" cy="3304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97658" y="4394453"/>
              <a:ext cx="996950" cy="504825"/>
            </a:xfrm>
            <a:custGeom>
              <a:avLst/>
              <a:gdLst/>
              <a:ahLst/>
              <a:cxnLst/>
              <a:rect l="l" t="t" r="r" b="b"/>
              <a:pathLst>
                <a:path w="996950" h="504825">
                  <a:moveTo>
                    <a:pt x="0" y="25146"/>
                  </a:moveTo>
                  <a:lnTo>
                    <a:pt x="1982" y="15376"/>
                  </a:lnTo>
                  <a:lnTo>
                    <a:pt x="7381" y="7381"/>
                  </a:lnTo>
                  <a:lnTo>
                    <a:pt x="15376" y="1982"/>
                  </a:lnTo>
                  <a:lnTo>
                    <a:pt x="25146" y="0"/>
                  </a:lnTo>
                  <a:lnTo>
                    <a:pt x="971550" y="0"/>
                  </a:lnTo>
                  <a:lnTo>
                    <a:pt x="981319" y="1982"/>
                  </a:lnTo>
                  <a:lnTo>
                    <a:pt x="989314" y="7381"/>
                  </a:lnTo>
                  <a:lnTo>
                    <a:pt x="994713" y="15376"/>
                  </a:lnTo>
                  <a:lnTo>
                    <a:pt x="996695" y="25146"/>
                  </a:lnTo>
                  <a:lnTo>
                    <a:pt x="996695" y="125730"/>
                  </a:lnTo>
                  <a:lnTo>
                    <a:pt x="994713" y="135499"/>
                  </a:lnTo>
                  <a:lnTo>
                    <a:pt x="989314" y="143494"/>
                  </a:lnTo>
                  <a:lnTo>
                    <a:pt x="981319" y="148893"/>
                  </a:lnTo>
                  <a:lnTo>
                    <a:pt x="971550" y="150876"/>
                  </a:lnTo>
                  <a:lnTo>
                    <a:pt x="25146" y="150876"/>
                  </a:lnTo>
                  <a:lnTo>
                    <a:pt x="15376" y="148893"/>
                  </a:lnTo>
                  <a:lnTo>
                    <a:pt x="7381" y="143494"/>
                  </a:lnTo>
                  <a:lnTo>
                    <a:pt x="1982" y="135499"/>
                  </a:lnTo>
                  <a:lnTo>
                    <a:pt x="0" y="125730"/>
                  </a:lnTo>
                  <a:lnTo>
                    <a:pt x="0" y="25146"/>
                  </a:lnTo>
                  <a:close/>
                </a:path>
                <a:path w="996950" h="504825">
                  <a:moveTo>
                    <a:pt x="3048" y="288544"/>
                  </a:moveTo>
                  <a:lnTo>
                    <a:pt x="6437" y="271724"/>
                  </a:lnTo>
                  <a:lnTo>
                    <a:pt x="15684" y="258000"/>
                  </a:lnTo>
                  <a:lnTo>
                    <a:pt x="29408" y="248753"/>
                  </a:lnTo>
                  <a:lnTo>
                    <a:pt x="46228" y="245364"/>
                  </a:lnTo>
                  <a:lnTo>
                    <a:pt x="953516" y="245364"/>
                  </a:lnTo>
                  <a:lnTo>
                    <a:pt x="970335" y="248753"/>
                  </a:lnTo>
                  <a:lnTo>
                    <a:pt x="984059" y="258000"/>
                  </a:lnTo>
                  <a:lnTo>
                    <a:pt x="993306" y="271724"/>
                  </a:lnTo>
                  <a:lnTo>
                    <a:pt x="996695" y="288544"/>
                  </a:lnTo>
                  <a:lnTo>
                    <a:pt x="996695" y="461264"/>
                  </a:lnTo>
                  <a:lnTo>
                    <a:pt x="993306" y="478083"/>
                  </a:lnTo>
                  <a:lnTo>
                    <a:pt x="984059" y="491807"/>
                  </a:lnTo>
                  <a:lnTo>
                    <a:pt x="970335" y="501054"/>
                  </a:lnTo>
                  <a:lnTo>
                    <a:pt x="953516" y="504444"/>
                  </a:lnTo>
                  <a:lnTo>
                    <a:pt x="46228" y="504444"/>
                  </a:lnTo>
                  <a:lnTo>
                    <a:pt x="29408" y="501054"/>
                  </a:lnTo>
                  <a:lnTo>
                    <a:pt x="15684" y="491807"/>
                  </a:lnTo>
                  <a:lnTo>
                    <a:pt x="6437" y="478083"/>
                  </a:lnTo>
                  <a:lnTo>
                    <a:pt x="3048" y="461264"/>
                  </a:lnTo>
                  <a:lnTo>
                    <a:pt x="3048" y="288544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9171" y="3334511"/>
            <a:ext cx="5282183" cy="24597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FF4D0D-BA8E-2FDA-8E81-C965D2CE8FBB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[LECTURE SLIDES] Week02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6531" y="3086100"/>
            <a:ext cx="11262360" cy="3304540"/>
          </a:xfrm>
          <a:custGeom>
            <a:avLst/>
            <a:gdLst/>
            <a:ahLst/>
            <a:cxnLst/>
            <a:rect l="l" t="t" r="r" b="b"/>
            <a:pathLst>
              <a:path w="11262360" h="3304540">
                <a:moveTo>
                  <a:pt x="11262360" y="0"/>
                </a:moveTo>
                <a:lnTo>
                  <a:pt x="0" y="0"/>
                </a:lnTo>
                <a:lnTo>
                  <a:pt x="0" y="3304031"/>
                </a:lnTo>
                <a:lnTo>
                  <a:pt x="11262360" y="3304031"/>
                </a:lnTo>
                <a:lnTo>
                  <a:pt x="1126236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9993" y="1640390"/>
            <a:ext cx="5170805" cy="1149985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3600" spc="-114" dirty="0">
                <a:solidFill>
                  <a:srgbClr val="1A315F"/>
                </a:solidFill>
              </a:rPr>
              <a:t>IF351</a:t>
            </a:r>
            <a:r>
              <a:rPr sz="3600" spc="-110" dirty="0">
                <a:solidFill>
                  <a:srgbClr val="1A315F"/>
                </a:solidFill>
              </a:rPr>
              <a:t> </a:t>
            </a:r>
            <a:r>
              <a:rPr sz="3600" spc="35" dirty="0">
                <a:solidFill>
                  <a:srgbClr val="1A315F"/>
                </a:solidFill>
              </a:rPr>
              <a:t>DATABASE</a:t>
            </a:r>
            <a:r>
              <a:rPr sz="3600" spc="-105" dirty="0">
                <a:solidFill>
                  <a:srgbClr val="1A315F"/>
                </a:solidFill>
              </a:rPr>
              <a:t> </a:t>
            </a:r>
            <a:r>
              <a:rPr sz="3600" dirty="0">
                <a:solidFill>
                  <a:srgbClr val="1A315F"/>
                </a:solidFill>
              </a:rPr>
              <a:t>SYSTEMS</a:t>
            </a:r>
            <a:endParaRPr sz="3600" dirty="0"/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00" spc="-45" dirty="0">
                <a:solidFill>
                  <a:srgbClr val="4590B8"/>
                </a:solidFill>
              </a:rPr>
              <a:t>0</a:t>
            </a:r>
            <a:r>
              <a:rPr lang="en-US" sz="1600" spc="-45" dirty="0">
                <a:solidFill>
                  <a:srgbClr val="4590B8"/>
                </a:solidFill>
              </a:rPr>
              <a:t>7</a:t>
            </a:r>
            <a:r>
              <a:rPr sz="1600" spc="-55" dirty="0">
                <a:solidFill>
                  <a:srgbClr val="4590B8"/>
                </a:solidFill>
              </a:rPr>
              <a:t> </a:t>
            </a:r>
            <a:r>
              <a:rPr sz="1600" dirty="0">
                <a:solidFill>
                  <a:srgbClr val="4590B8"/>
                </a:solidFill>
              </a:rPr>
              <a:t>SELECT</a:t>
            </a:r>
            <a:r>
              <a:rPr sz="1600" spc="-35" dirty="0">
                <a:solidFill>
                  <a:srgbClr val="4590B8"/>
                </a:solidFill>
              </a:rPr>
              <a:t> </a:t>
            </a:r>
            <a:r>
              <a:rPr sz="1600" spc="10" dirty="0">
                <a:solidFill>
                  <a:srgbClr val="4590B8"/>
                </a:solidFill>
              </a:rPr>
              <a:t>STATEMENT</a:t>
            </a:r>
            <a:r>
              <a:rPr sz="1600" spc="-55" dirty="0">
                <a:solidFill>
                  <a:srgbClr val="4590B8"/>
                </a:solidFill>
              </a:rPr>
              <a:t> </a:t>
            </a:r>
            <a:r>
              <a:rPr sz="1600" spc="-45" dirty="0">
                <a:solidFill>
                  <a:srgbClr val="4590B8"/>
                </a:solidFill>
              </a:rPr>
              <a:t>3</a:t>
            </a:r>
            <a:endParaRPr sz="1600" dirty="0"/>
          </a:p>
        </p:txBody>
      </p:sp>
      <p:sp>
        <p:nvSpPr>
          <p:cNvPr id="4" name="object 4"/>
          <p:cNvSpPr txBox="1"/>
          <p:nvPr/>
        </p:nvSpPr>
        <p:spPr>
          <a:xfrm>
            <a:off x="659993" y="976629"/>
            <a:ext cx="18567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85" dirty="0">
                <a:solidFill>
                  <a:srgbClr val="959FA7"/>
                </a:solidFill>
                <a:latin typeface="Trebuchet MS"/>
                <a:cs typeface="Trebuchet MS"/>
              </a:rPr>
              <a:t>DENNIS</a:t>
            </a:r>
            <a:r>
              <a:rPr sz="1600" spc="-95" dirty="0">
                <a:solidFill>
                  <a:srgbClr val="959FA7"/>
                </a:solidFill>
                <a:latin typeface="Trebuchet MS"/>
                <a:cs typeface="Trebuchet MS"/>
              </a:rPr>
              <a:t> </a:t>
            </a:r>
            <a:r>
              <a:rPr sz="1600" spc="130" dirty="0">
                <a:solidFill>
                  <a:srgbClr val="959FA7"/>
                </a:solidFill>
                <a:latin typeface="Trebuchet MS"/>
                <a:cs typeface="Trebuchet MS"/>
              </a:rPr>
              <a:t>GUNAWAN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9714" y="796630"/>
            <a:ext cx="770220" cy="147323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110" dirty="0">
                <a:solidFill>
                  <a:srgbClr val="FFFFFF"/>
                </a:solidFill>
              </a:rPr>
              <a:t>OUTLINE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3806443"/>
            <a:ext cx="1577340" cy="83629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10" dirty="0">
                <a:solidFill>
                  <a:srgbClr val="3C3C3C"/>
                </a:solidFill>
                <a:latin typeface="Trebuchet MS"/>
                <a:cs typeface="Trebuchet MS"/>
              </a:rPr>
              <a:t>JOIN</a:t>
            </a:r>
            <a:endParaRPr sz="1800">
              <a:latin typeface="Trebuchet MS"/>
              <a:cs typeface="Trebuchet MS"/>
            </a:endParaRPr>
          </a:p>
          <a:p>
            <a:pPr marL="318770" indent="-30670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18770" algn="l"/>
                <a:tab pos="319405" algn="l"/>
              </a:tabLst>
            </a:pP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Set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254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perator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80" dirty="0">
                <a:solidFill>
                  <a:srgbClr val="FFFFFF"/>
                </a:solidFill>
                <a:latin typeface="Trebuchet MS"/>
                <a:cs typeface="Trebuchet MS"/>
              </a:rPr>
              <a:t>MU</a:t>
            </a:r>
            <a:r>
              <a:rPr sz="2800" spc="-33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2800" spc="-65" dirty="0">
                <a:solidFill>
                  <a:srgbClr val="FFFFFF"/>
                </a:solidFill>
                <a:latin typeface="Trebuchet MS"/>
                <a:cs typeface="Trebuchet MS"/>
              </a:rPr>
              <a:t>TIPLE</a:t>
            </a:r>
            <a:r>
              <a:rPr sz="2800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1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800" spc="50" dirty="0">
                <a:solidFill>
                  <a:srgbClr val="FFFFFF"/>
                </a:solidFill>
                <a:latin typeface="Trebuchet MS"/>
                <a:cs typeface="Trebuchet MS"/>
              </a:rPr>
              <a:t>AB</a:t>
            </a:r>
            <a:r>
              <a:rPr sz="2800" spc="3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SP</a:t>
            </a:r>
            <a:r>
              <a:rPr sz="2800" spc="-1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800" spc="-5" dirty="0">
                <a:solidFill>
                  <a:srgbClr val="FFFFFF"/>
                </a:solidFill>
                <a:latin typeface="Trebuchet MS"/>
                <a:cs typeface="Trebuchet MS"/>
              </a:rPr>
              <a:t>CIF</a:t>
            </a:r>
            <a:r>
              <a:rPr sz="2800" spc="-1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2800" spc="36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800" spc="145" dirty="0">
                <a:solidFill>
                  <a:srgbClr val="FFFFFF"/>
                </a:solidFill>
                <a:latin typeface="Trebuchet MS"/>
                <a:cs typeface="Trebuchet MS"/>
              </a:rPr>
              <a:t>TIONS</a:t>
            </a:r>
            <a:r>
              <a:rPr sz="2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5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800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800" spc="29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2800" spc="31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50" dirty="0">
                <a:solidFill>
                  <a:srgbClr val="FFFFFF"/>
                </a:solidFill>
                <a:latin typeface="Trebuchet MS"/>
                <a:cs typeface="Trebuchet MS"/>
              </a:rPr>
              <a:t>CL</a:t>
            </a:r>
            <a:r>
              <a:rPr sz="2800" spc="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800" spc="-5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93" y="2730333"/>
            <a:ext cx="9986010" cy="2378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9855" marR="5080" indent="-1367790">
              <a:lnSpc>
                <a:spcPct val="1379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CONCAT(first_name, ‘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last_name)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 Actor, </a:t>
            </a:r>
            <a:r>
              <a:rPr sz="2800" b="1" spc="-15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r>
              <a:rPr sz="2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2800">
              <a:latin typeface="Consolas"/>
              <a:cs typeface="Consolas"/>
            </a:endParaRPr>
          </a:p>
          <a:p>
            <a:pPr marL="12700" marR="6059805">
              <a:lnSpc>
                <a:spcPct val="137900"/>
              </a:lnSpc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FROM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actors, roles 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28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id</a:t>
            </a:r>
            <a:r>
              <a:rPr sz="2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2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actor_id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80" dirty="0">
                <a:solidFill>
                  <a:srgbClr val="FFFFFF"/>
                </a:solidFill>
              </a:rPr>
              <a:t>MU</a:t>
            </a:r>
            <a:r>
              <a:rPr sz="2800" spc="-330" dirty="0">
                <a:solidFill>
                  <a:srgbClr val="FFFFFF"/>
                </a:solidFill>
              </a:rPr>
              <a:t>L</a:t>
            </a:r>
            <a:r>
              <a:rPr sz="2800" spc="-65" dirty="0">
                <a:solidFill>
                  <a:srgbClr val="FFFFFF"/>
                </a:solidFill>
              </a:rPr>
              <a:t>TIPLE</a:t>
            </a:r>
            <a:r>
              <a:rPr sz="2800" spc="-405" dirty="0">
                <a:solidFill>
                  <a:srgbClr val="FFFFFF"/>
                </a:solidFill>
              </a:rPr>
              <a:t> </a:t>
            </a:r>
            <a:r>
              <a:rPr sz="2800" spc="-215" dirty="0">
                <a:solidFill>
                  <a:srgbClr val="FFFFFF"/>
                </a:solidFill>
              </a:rPr>
              <a:t>T</a:t>
            </a:r>
            <a:r>
              <a:rPr sz="2800" spc="50" dirty="0">
                <a:solidFill>
                  <a:srgbClr val="FFFFFF"/>
                </a:solidFill>
              </a:rPr>
              <a:t>AB</a:t>
            </a:r>
            <a:r>
              <a:rPr sz="2800" spc="35" dirty="0">
                <a:solidFill>
                  <a:srgbClr val="FFFFFF"/>
                </a:solidFill>
              </a:rPr>
              <a:t>L</a:t>
            </a:r>
            <a:r>
              <a:rPr sz="2800" spc="-105" dirty="0">
                <a:solidFill>
                  <a:srgbClr val="FFFFFF"/>
                </a:solidFill>
              </a:rPr>
              <a:t>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5" dirty="0">
                <a:solidFill>
                  <a:srgbClr val="FFFFFF"/>
                </a:solidFill>
              </a:rPr>
              <a:t>SP</a:t>
            </a:r>
            <a:r>
              <a:rPr sz="2800" spc="-100" dirty="0">
                <a:solidFill>
                  <a:srgbClr val="FFFFFF"/>
                </a:solidFill>
              </a:rPr>
              <a:t>E</a:t>
            </a:r>
            <a:r>
              <a:rPr sz="2800" spc="-5" dirty="0">
                <a:solidFill>
                  <a:srgbClr val="FFFFFF"/>
                </a:solidFill>
              </a:rPr>
              <a:t>CIF</a:t>
            </a:r>
            <a:r>
              <a:rPr sz="2800" spc="-15" dirty="0">
                <a:solidFill>
                  <a:srgbClr val="FFFFFF"/>
                </a:solidFill>
              </a:rPr>
              <a:t>I</a:t>
            </a:r>
            <a:r>
              <a:rPr sz="2800" spc="365" dirty="0">
                <a:solidFill>
                  <a:srgbClr val="FFFFFF"/>
                </a:solidFill>
              </a:rPr>
              <a:t>C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145" dirty="0">
                <a:solidFill>
                  <a:srgbClr val="FFFFFF"/>
                </a:solidFill>
              </a:rPr>
              <a:t>TIONS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155" dirty="0">
                <a:solidFill>
                  <a:srgbClr val="FFFFFF"/>
                </a:solidFill>
              </a:rPr>
              <a:t>IN</a:t>
            </a:r>
            <a:r>
              <a:rPr sz="2800" spc="-405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THE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-165" dirty="0">
                <a:solidFill>
                  <a:srgbClr val="FFFFFF"/>
                </a:solidFill>
              </a:rPr>
              <a:t>F</a:t>
            </a:r>
            <a:r>
              <a:rPr sz="2800" spc="-114" dirty="0">
                <a:solidFill>
                  <a:srgbClr val="FFFFFF"/>
                </a:solidFill>
              </a:rPr>
              <a:t>R</a:t>
            </a:r>
            <a:r>
              <a:rPr sz="2800" spc="290" dirty="0">
                <a:solidFill>
                  <a:srgbClr val="FFFFFF"/>
                </a:solidFill>
              </a:rPr>
              <a:t>O</a:t>
            </a:r>
            <a:r>
              <a:rPr sz="2800" spc="310" dirty="0">
                <a:solidFill>
                  <a:srgbClr val="FFFFFF"/>
                </a:solidFill>
              </a:rPr>
              <a:t>M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8410"/>
            <a:ext cx="8173084" cy="164846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CONCAT(actors.first_name,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actors.last_name)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1800">
              <a:latin typeface="Consolas"/>
              <a:cs typeface="Consolas"/>
            </a:endParaRPr>
          </a:p>
          <a:p>
            <a:pPr marL="12700" marR="5017770" indent="87630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roles.role</a:t>
            </a:r>
            <a:r>
              <a:rPr sz="1800" b="1" spc="-4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4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actors.id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roles.actor_id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1184" y="2648711"/>
            <a:ext cx="6710171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88595" rIns="0" bIns="0" rtlCol="0">
            <a:spAutoFit/>
          </a:bodyPr>
          <a:lstStyle/>
          <a:p>
            <a:pPr marL="231775" marR="2205990">
              <a:lnSpc>
                <a:spcPct val="100000"/>
              </a:lnSpc>
              <a:spcBef>
                <a:spcPts val="1485"/>
              </a:spcBef>
            </a:pPr>
            <a:r>
              <a:rPr sz="2800" spc="180" dirty="0">
                <a:solidFill>
                  <a:srgbClr val="FFFFFF"/>
                </a:solidFill>
              </a:rPr>
              <a:t>MU</a:t>
            </a:r>
            <a:r>
              <a:rPr sz="2800" spc="-330" dirty="0">
                <a:solidFill>
                  <a:srgbClr val="FFFFFF"/>
                </a:solidFill>
              </a:rPr>
              <a:t>L</a:t>
            </a:r>
            <a:r>
              <a:rPr sz="2800" spc="-65" dirty="0">
                <a:solidFill>
                  <a:srgbClr val="FFFFFF"/>
                </a:solidFill>
              </a:rPr>
              <a:t>TIPLE</a:t>
            </a:r>
            <a:r>
              <a:rPr sz="2800" spc="-405" dirty="0">
                <a:solidFill>
                  <a:srgbClr val="FFFFFF"/>
                </a:solidFill>
              </a:rPr>
              <a:t> </a:t>
            </a:r>
            <a:r>
              <a:rPr sz="2800" spc="-215" dirty="0">
                <a:solidFill>
                  <a:srgbClr val="FFFFFF"/>
                </a:solidFill>
              </a:rPr>
              <a:t>T</a:t>
            </a:r>
            <a:r>
              <a:rPr sz="2800" spc="50" dirty="0">
                <a:solidFill>
                  <a:srgbClr val="FFFFFF"/>
                </a:solidFill>
              </a:rPr>
              <a:t>AB</a:t>
            </a:r>
            <a:r>
              <a:rPr sz="2800" spc="35" dirty="0">
                <a:solidFill>
                  <a:srgbClr val="FFFFFF"/>
                </a:solidFill>
              </a:rPr>
              <a:t>L</a:t>
            </a:r>
            <a:r>
              <a:rPr sz="2800" spc="-105" dirty="0">
                <a:solidFill>
                  <a:srgbClr val="FFFFFF"/>
                </a:solidFill>
              </a:rPr>
              <a:t>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5" dirty="0">
                <a:solidFill>
                  <a:srgbClr val="FFFFFF"/>
                </a:solidFill>
              </a:rPr>
              <a:t>SP</a:t>
            </a:r>
            <a:r>
              <a:rPr sz="2800" spc="-100" dirty="0">
                <a:solidFill>
                  <a:srgbClr val="FFFFFF"/>
                </a:solidFill>
              </a:rPr>
              <a:t>E</a:t>
            </a:r>
            <a:r>
              <a:rPr sz="2800" spc="-5" dirty="0">
                <a:solidFill>
                  <a:srgbClr val="FFFFFF"/>
                </a:solidFill>
              </a:rPr>
              <a:t>CIF</a:t>
            </a:r>
            <a:r>
              <a:rPr sz="2800" spc="-15" dirty="0">
                <a:solidFill>
                  <a:srgbClr val="FFFFFF"/>
                </a:solidFill>
              </a:rPr>
              <a:t>I</a:t>
            </a:r>
            <a:r>
              <a:rPr sz="2800" spc="365" dirty="0">
                <a:solidFill>
                  <a:srgbClr val="FFFFFF"/>
                </a:solidFill>
              </a:rPr>
              <a:t>C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145" dirty="0">
                <a:solidFill>
                  <a:srgbClr val="FFFFFF"/>
                </a:solidFill>
              </a:rPr>
              <a:t>TIONS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155" dirty="0">
                <a:solidFill>
                  <a:srgbClr val="FFFFFF"/>
                </a:solidFill>
              </a:rPr>
              <a:t>IN</a:t>
            </a:r>
            <a:r>
              <a:rPr sz="2800" spc="-405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THE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-165" dirty="0">
                <a:solidFill>
                  <a:srgbClr val="FFFFFF"/>
                </a:solidFill>
              </a:rPr>
              <a:t>F</a:t>
            </a:r>
            <a:r>
              <a:rPr sz="2800" spc="-114" dirty="0">
                <a:solidFill>
                  <a:srgbClr val="FFFFFF"/>
                </a:solidFill>
              </a:rPr>
              <a:t>R</a:t>
            </a:r>
            <a:r>
              <a:rPr sz="2800" spc="290" dirty="0">
                <a:solidFill>
                  <a:srgbClr val="FFFFFF"/>
                </a:solidFill>
              </a:rPr>
              <a:t>O</a:t>
            </a:r>
            <a:r>
              <a:rPr sz="2800" spc="310" dirty="0">
                <a:solidFill>
                  <a:srgbClr val="FFFFFF"/>
                </a:solidFill>
              </a:rPr>
              <a:t>M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</a:t>
            </a:r>
            <a:r>
              <a:rPr sz="2800" dirty="0">
                <a:solidFill>
                  <a:srgbClr val="FFFFFF"/>
                </a:solidFill>
              </a:rPr>
              <a:t>E</a:t>
            </a:r>
            <a:r>
              <a:rPr sz="2800" spc="-370" dirty="0">
                <a:solidFill>
                  <a:srgbClr val="FFFFFF"/>
                </a:solidFill>
              </a:rPr>
              <a:t>:  </a:t>
            </a:r>
            <a:r>
              <a:rPr sz="2800" spc="-105" dirty="0">
                <a:solidFill>
                  <a:srgbClr val="FFFFFF"/>
                </a:solidFill>
              </a:rPr>
              <a:t>PS</a:t>
            </a:r>
            <a:r>
              <a:rPr sz="2800" spc="-100" dirty="0">
                <a:solidFill>
                  <a:srgbClr val="FFFFFF"/>
                </a:solidFill>
              </a:rPr>
              <a:t>E</a:t>
            </a:r>
            <a:r>
              <a:rPr sz="2800" spc="295" dirty="0">
                <a:solidFill>
                  <a:srgbClr val="FFFFFF"/>
                </a:solidFill>
              </a:rPr>
              <a:t>UDON</a:t>
            </a:r>
            <a:r>
              <a:rPr sz="2800" spc="265" dirty="0">
                <a:solidFill>
                  <a:srgbClr val="FFFFFF"/>
                </a:solidFill>
              </a:rPr>
              <a:t>Y</a:t>
            </a:r>
            <a:r>
              <a:rPr sz="2800" spc="65" dirty="0">
                <a:solidFill>
                  <a:srgbClr val="FFFFFF"/>
                </a:solidFill>
              </a:rPr>
              <a:t>MS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100" dirty="0">
                <a:solidFill>
                  <a:srgbClr val="FFFFFF"/>
                </a:solidFill>
              </a:rPr>
              <a:t>FOR</a:t>
            </a:r>
            <a:r>
              <a:rPr sz="2800" spc="-420" dirty="0">
                <a:solidFill>
                  <a:srgbClr val="FFFFFF"/>
                </a:solidFill>
              </a:rPr>
              <a:t> </a:t>
            </a:r>
            <a:r>
              <a:rPr sz="2800" spc="-215" dirty="0">
                <a:solidFill>
                  <a:srgbClr val="FFFFFF"/>
                </a:solidFill>
              </a:rPr>
              <a:t>T</a:t>
            </a:r>
            <a:r>
              <a:rPr sz="2800" spc="50" dirty="0">
                <a:solidFill>
                  <a:srgbClr val="FFFFFF"/>
                </a:solidFill>
              </a:rPr>
              <a:t>AB</a:t>
            </a:r>
            <a:r>
              <a:rPr sz="2800" spc="35" dirty="0">
                <a:solidFill>
                  <a:srgbClr val="FFFFFF"/>
                </a:solidFill>
              </a:rPr>
              <a:t>L</a:t>
            </a:r>
            <a:r>
              <a:rPr sz="2800" spc="-105" dirty="0">
                <a:solidFill>
                  <a:srgbClr val="FFFFFF"/>
                </a:solidFill>
              </a:rPr>
              <a:t>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125" dirty="0">
                <a:solidFill>
                  <a:srgbClr val="FFFFFF"/>
                </a:solidFill>
              </a:rPr>
              <a:t>NAMES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1411"/>
            <a:ext cx="7708900" cy="179451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2000" b="1" spc="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20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 a.last_name)</a:t>
            </a:r>
            <a:r>
              <a:rPr sz="2000" b="1" spc="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2000">
              <a:latin typeface="Consolas"/>
              <a:cs typeface="Consolas"/>
            </a:endParaRPr>
          </a:p>
          <a:p>
            <a:pPr marL="991235">
              <a:lnSpc>
                <a:spcPct val="100000"/>
              </a:lnSpc>
              <a:spcBef>
                <a:spcPts val="1080"/>
              </a:spcBef>
            </a:pP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2000">
              <a:latin typeface="Consolas"/>
              <a:cs typeface="Consolas"/>
            </a:endParaRPr>
          </a:p>
          <a:p>
            <a:pPr marL="12700" marR="3775710">
              <a:lnSpc>
                <a:spcPct val="145000"/>
              </a:lnSpc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20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a,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roles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a.id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=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r.actor_id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991" y="2657855"/>
            <a:ext cx="5960364" cy="39913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80" dirty="0">
                <a:solidFill>
                  <a:srgbClr val="FFFFFF"/>
                </a:solidFill>
              </a:rPr>
              <a:t>MU</a:t>
            </a:r>
            <a:r>
              <a:rPr sz="2800" spc="-330" dirty="0">
                <a:solidFill>
                  <a:srgbClr val="FFFFFF"/>
                </a:solidFill>
              </a:rPr>
              <a:t>L</a:t>
            </a:r>
            <a:r>
              <a:rPr sz="2800" spc="-65" dirty="0">
                <a:solidFill>
                  <a:srgbClr val="FFFFFF"/>
                </a:solidFill>
              </a:rPr>
              <a:t>TIPLE</a:t>
            </a:r>
            <a:r>
              <a:rPr sz="2800" spc="-405" dirty="0">
                <a:solidFill>
                  <a:srgbClr val="FFFFFF"/>
                </a:solidFill>
              </a:rPr>
              <a:t> </a:t>
            </a:r>
            <a:r>
              <a:rPr sz="2800" spc="-215" dirty="0">
                <a:solidFill>
                  <a:srgbClr val="FFFFFF"/>
                </a:solidFill>
              </a:rPr>
              <a:t>T</a:t>
            </a:r>
            <a:r>
              <a:rPr sz="2800" spc="50" dirty="0">
                <a:solidFill>
                  <a:srgbClr val="FFFFFF"/>
                </a:solidFill>
              </a:rPr>
              <a:t>AB</a:t>
            </a:r>
            <a:r>
              <a:rPr sz="2800" spc="35" dirty="0">
                <a:solidFill>
                  <a:srgbClr val="FFFFFF"/>
                </a:solidFill>
              </a:rPr>
              <a:t>L</a:t>
            </a:r>
            <a:r>
              <a:rPr sz="2800" spc="-105" dirty="0">
                <a:solidFill>
                  <a:srgbClr val="FFFFFF"/>
                </a:solidFill>
              </a:rPr>
              <a:t>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5" dirty="0">
                <a:solidFill>
                  <a:srgbClr val="FFFFFF"/>
                </a:solidFill>
              </a:rPr>
              <a:t>SP</a:t>
            </a:r>
            <a:r>
              <a:rPr sz="2800" spc="-100" dirty="0">
                <a:solidFill>
                  <a:srgbClr val="FFFFFF"/>
                </a:solidFill>
              </a:rPr>
              <a:t>E</a:t>
            </a:r>
            <a:r>
              <a:rPr sz="2800" spc="-5" dirty="0">
                <a:solidFill>
                  <a:srgbClr val="FFFFFF"/>
                </a:solidFill>
              </a:rPr>
              <a:t>CIF</a:t>
            </a:r>
            <a:r>
              <a:rPr sz="2800" spc="-15" dirty="0">
                <a:solidFill>
                  <a:srgbClr val="FFFFFF"/>
                </a:solidFill>
              </a:rPr>
              <a:t>I</a:t>
            </a:r>
            <a:r>
              <a:rPr sz="2800" spc="365" dirty="0">
                <a:solidFill>
                  <a:srgbClr val="FFFFFF"/>
                </a:solidFill>
              </a:rPr>
              <a:t>C</a:t>
            </a:r>
            <a:r>
              <a:rPr sz="2800" spc="-70" dirty="0">
                <a:solidFill>
                  <a:srgbClr val="FFFFFF"/>
                </a:solidFill>
              </a:rPr>
              <a:t>A</a:t>
            </a:r>
            <a:r>
              <a:rPr sz="2800" spc="145" dirty="0">
                <a:solidFill>
                  <a:srgbClr val="FFFFFF"/>
                </a:solidFill>
              </a:rPr>
              <a:t>TIONS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155" dirty="0">
                <a:solidFill>
                  <a:srgbClr val="FFFFFF"/>
                </a:solidFill>
              </a:rPr>
              <a:t>IN</a:t>
            </a:r>
            <a:r>
              <a:rPr sz="2800" spc="-405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THE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-165" dirty="0">
                <a:solidFill>
                  <a:srgbClr val="FFFFFF"/>
                </a:solidFill>
              </a:rPr>
              <a:t>F</a:t>
            </a:r>
            <a:r>
              <a:rPr sz="2800" spc="-114" dirty="0">
                <a:solidFill>
                  <a:srgbClr val="FFFFFF"/>
                </a:solidFill>
              </a:rPr>
              <a:t>R</a:t>
            </a:r>
            <a:r>
              <a:rPr sz="2800" spc="290" dirty="0">
                <a:solidFill>
                  <a:srgbClr val="FFFFFF"/>
                </a:solidFill>
              </a:rPr>
              <a:t>O</a:t>
            </a:r>
            <a:r>
              <a:rPr sz="2800" spc="310" dirty="0">
                <a:solidFill>
                  <a:srgbClr val="FFFFFF"/>
                </a:solidFill>
              </a:rPr>
              <a:t>M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8410"/>
            <a:ext cx="6920865" cy="327025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a.last_name)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 Actor,</a:t>
            </a:r>
            <a:endParaRPr sz="1800">
              <a:latin typeface="Consolas"/>
              <a:cs typeface="Consolas"/>
            </a:endParaRPr>
          </a:p>
          <a:p>
            <a:pPr marL="889000" marR="401701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m.name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Movie,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1800">
              <a:latin typeface="Consolas"/>
              <a:cs typeface="Consolas"/>
            </a:endParaRPr>
          </a:p>
          <a:p>
            <a:pPr marL="638810" marR="4770755" indent="-626745" algn="just">
              <a:lnSpc>
                <a:spcPct val="147800"/>
              </a:lnSpc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a, </a:t>
            </a:r>
            <a:r>
              <a:rPr sz="1800" b="1" spc="-98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r>
              <a:rPr sz="1800" b="1" spc="-4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6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m, </a:t>
            </a:r>
            <a:r>
              <a:rPr sz="1800" b="1" spc="-98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r</a:t>
            </a:r>
            <a:endParaRPr sz="1800">
              <a:latin typeface="Consolas"/>
              <a:cs typeface="Consolas"/>
            </a:endParaRPr>
          </a:p>
          <a:p>
            <a:pPr marL="12700" marR="4017645" algn="just">
              <a:lnSpc>
                <a:spcPct val="147800"/>
              </a:lnSpc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18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a.id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r.actor_id </a:t>
            </a:r>
            <a:r>
              <a:rPr sz="1800" b="1" spc="-98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AND</a:t>
            </a:r>
            <a:r>
              <a:rPr sz="1800" b="1" spc="-3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m.id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r.movie_id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5803" y="2686811"/>
            <a:ext cx="7845552" cy="39669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60" dirty="0">
                <a:solidFill>
                  <a:srgbClr val="FFFFFF"/>
                </a:solidFill>
              </a:rPr>
              <a:t>EX</a:t>
            </a:r>
            <a:r>
              <a:rPr sz="2800" spc="65" dirty="0">
                <a:solidFill>
                  <a:srgbClr val="FFFFFF"/>
                </a:solidFill>
              </a:rPr>
              <a:t>P</a:t>
            </a:r>
            <a:r>
              <a:rPr sz="2800" spc="20" dirty="0">
                <a:solidFill>
                  <a:srgbClr val="FFFFFF"/>
                </a:solidFill>
              </a:rPr>
              <a:t>LICI</a:t>
            </a:r>
            <a:r>
              <a:rPr sz="2800" spc="40" dirty="0">
                <a:solidFill>
                  <a:srgbClr val="FFFFFF"/>
                </a:solidFill>
              </a:rPr>
              <a:t>T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5" dirty="0">
                <a:solidFill>
                  <a:srgbClr val="FFFFFF"/>
                </a:solidFill>
              </a:rPr>
              <a:t>JOINS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155" dirty="0">
                <a:solidFill>
                  <a:srgbClr val="FFFFFF"/>
                </a:solidFill>
              </a:rPr>
              <a:t>IN</a:t>
            </a:r>
            <a:r>
              <a:rPr sz="2800" spc="-415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THE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-165" dirty="0">
                <a:solidFill>
                  <a:srgbClr val="FFFFFF"/>
                </a:solidFill>
              </a:rPr>
              <a:t>F</a:t>
            </a:r>
            <a:r>
              <a:rPr sz="2800" spc="-114" dirty="0">
                <a:solidFill>
                  <a:srgbClr val="FFFFFF"/>
                </a:solidFill>
              </a:rPr>
              <a:t>R</a:t>
            </a:r>
            <a:r>
              <a:rPr sz="2800" spc="290" dirty="0">
                <a:solidFill>
                  <a:srgbClr val="FFFFFF"/>
                </a:solidFill>
              </a:rPr>
              <a:t>O</a:t>
            </a:r>
            <a:r>
              <a:rPr sz="2800" spc="310" dirty="0">
                <a:solidFill>
                  <a:srgbClr val="FFFFFF"/>
                </a:solidFill>
              </a:rPr>
              <a:t>M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8410"/>
            <a:ext cx="6920865" cy="164846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a.last_name)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 Actor,</a:t>
            </a:r>
            <a:endParaRPr sz="1800">
              <a:latin typeface="Consolas"/>
              <a:cs typeface="Consolas"/>
            </a:endParaRPr>
          </a:p>
          <a:p>
            <a:pPr marL="12700" marR="4267200" indent="87630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r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4590B8"/>
                </a:solidFill>
                <a:latin typeface="Consolas"/>
                <a:cs typeface="Consolas"/>
              </a:rPr>
              <a:t>ON</a:t>
            </a:r>
            <a:r>
              <a:rPr sz="18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(a.id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r.actor_id)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1679" y="2680716"/>
            <a:ext cx="5789676" cy="38770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60" dirty="0">
                <a:solidFill>
                  <a:srgbClr val="FFFFFF"/>
                </a:solidFill>
                <a:latin typeface="Trebuchet MS"/>
                <a:cs typeface="Trebuchet MS"/>
              </a:rPr>
              <a:t>EX</a:t>
            </a:r>
            <a:r>
              <a:rPr sz="2800" spc="6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2800" spc="20" dirty="0">
                <a:solidFill>
                  <a:srgbClr val="FFFFFF"/>
                </a:solidFill>
                <a:latin typeface="Trebuchet MS"/>
                <a:cs typeface="Trebuchet MS"/>
              </a:rPr>
              <a:t>LICI</a:t>
            </a:r>
            <a:r>
              <a:rPr sz="2800" spc="4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5" dirty="0">
                <a:solidFill>
                  <a:srgbClr val="FFFFFF"/>
                </a:solidFill>
                <a:latin typeface="Trebuchet MS"/>
                <a:cs typeface="Trebuchet MS"/>
              </a:rPr>
              <a:t>JOINS</a:t>
            </a:r>
            <a:r>
              <a:rPr sz="2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5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800" spc="-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2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2800" spc="-114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800" spc="29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2800" spc="31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50" dirty="0">
                <a:solidFill>
                  <a:srgbClr val="FFFFFF"/>
                </a:solidFill>
                <a:latin typeface="Trebuchet MS"/>
                <a:cs typeface="Trebuchet MS"/>
              </a:rPr>
              <a:t>CL</a:t>
            </a:r>
            <a:r>
              <a:rPr sz="2800" spc="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800" spc="-5" dirty="0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93" y="2730333"/>
            <a:ext cx="10766425" cy="2378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9855" marR="5080" indent="-1367790">
              <a:lnSpc>
                <a:spcPct val="1379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‘ ’, a.last_name) AS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Actor, </a:t>
            </a:r>
            <a:r>
              <a:rPr sz="2800" b="1" spc="-15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8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2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INNER 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JOIN</a:t>
            </a: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 r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ON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(a.id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= r.actor_id)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60" dirty="0">
                <a:solidFill>
                  <a:srgbClr val="FFFFFF"/>
                </a:solidFill>
              </a:rPr>
              <a:t>EX</a:t>
            </a:r>
            <a:r>
              <a:rPr sz="2800" spc="65" dirty="0">
                <a:solidFill>
                  <a:srgbClr val="FFFFFF"/>
                </a:solidFill>
              </a:rPr>
              <a:t>P</a:t>
            </a:r>
            <a:r>
              <a:rPr sz="2800" spc="20" dirty="0">
                <a:solidFill>
                  <a:srgbClr val="FFFFFF"/>
                </a:solidFill>
              </a:rPr>
              <a:t>LICI</a:t>
            </a:r>
            <a:r>
              <a:rPr sz="2800" spc="40" dirty="0">
                <a:solidFill>
                  <a:srgbClr val="FFFFFF"/>
                </a:solidFill>
              </a:rPr>
              <a:t>T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5" dirty="0">
                <a:solidFill>
                  <a:srgbClr val="FFFFFF"/>
                </a:solidFill>
              </a:rPr>
              <a:t>JOINS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155" dirty="0">
                <a:solidFill>
                  <a:srgbClr val="FFFFFF"/>
                </a:solidFill>
              </a:rPr>
              <a:t>IN</a:t>
            </a:r>
            <a:r>
              <a:rPr sz="2800" spc="-415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THE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spc="-165" dirty="0">
                <a:solidFill>
                  <a:srgbClr val="FFFFFF"/>
                </a:solidFill>
              </a:rPr>
              <a:t>F</a:t>
            </a:r>
            <a:r>
              <a:rPr sz="2800" spc="-114" dirty="0">
                <a:solidFill>
                  <a:srgbClr val="FFFFFF"/>
                </a:solidFill>
              </a:rPr>
              <a:t>R</a:t>
            </a:r>
            <a:r>
              <a:rPr sz="2800" spc="290" dirty="0">
                <a:solidFill>
                  <a:srgbClr val="FFFFFF"/>
                </a:solidFill>
              </a:rPr>
              <a:t>O</a:t>
            </a:r>
            <a:r>
              <a:rPr sz="2800" spc="310" dirty="0">
                <a:solidFill>
                  <a:srgbClr val="FFFFFF"/>
                </a:solidFill>
              </a:rPr>
              <a:t>M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150" dirty="0">
                <a:solidFill>
                  <a:srgbClr val="FFFFFF"/>
                </a:solidFill>
              </a:rPr>
              <a:t>CL</a:t>
            </a:r>
            <a:r>
              <a:rPr sz="2800" spc="95" dirty="0">
                <a:solidFill>
                  <a:srgbClr val="FFFFFF"/>
                </a:solidFill>
              </a:rPr>
              <a:t>A</a:t>
            </a:r>
            <a:r>
              <a:rPr sz="2800" spc="-5" dirty="0">
                <a:solidFill>
                  <a:srgbClr val="FFFFFF"/>
                </a:solidFill>
              </a:rPr>
              <a:t>USE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8410"/>
            <a:ext cx="6920865" cy="327025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a.last_name)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 Actor,</a:t>
            </a:r>
            <a:endParaRPr sz="1800">
              <a:latin typeface="Consolas"/>
              <a:cs typeface="Consolas"/>
            </a:endParaRPr>
          </a:p>
          <a:p>
            <a:pPr marL="889000" marR="401701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m.name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Movie,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1800">
              <a:latin typeface="Consolas"/>
              <a:cs typeface="Consolas"/>
            </a:endParaRPr>
          </a:p>
          <a:p>
            <a:pPr marL="12700" marR="4895215">
              <a:lnSpc>
                <a:spcPts val="3190"/>
              </a:lnSpc>
              <a:spcBef>
                <a:spcPts val="28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</a:t>
            </a:r>
            <a:r>
              <a:rPr sz="18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r</a:t>
            </a:r>
            <a:endParaRPr sz="1800">
              <a:latin typeface="Consolas"/>
              <a:cs typeface="Consolas"/>
            </a:endParaRPr>
          </a:p>
          <a:p>
            <a:pPr marL="12700" marR="4142104">
              <a:lnSpc>
                <a:spcPts val="3190"/>
              </a:lnSpc>
              <a:spcBef>
                <a:spcPts val="10"/>
              </a:spcBef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ON</a:t>
            </a:r>
            <a:r>
              <a:rPr sz="1800" b="1" spc="-4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(a.id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r.actor_id)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m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ON</a:t>
            </a:r>
            <a:r>
              <a:rPr sz="18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(m.id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r.movie_id)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9603" y="2604516"/>
            <a:ext cx="7921752" cy="404926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70" dirty="0">
                <a:solidFill>
                  <a:srgbClr val="FFFFFF"/>
                </a:solidFill>
              </a:rPr>
              <a:t>REPLACING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20" dirty="0">
                <a:solidFill>
                  <a:srgbClr val="FFFFFF"/>
                </a:solidFill>
              </a:rPr>
              <a:t>JOIN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210" dirty="0">
                <a:solidFill>
                  <a:srgbClr val="FFFFFF"/>
                </a:solidFill>
              </a:rPr>
              <a:t>CONDITIONS</a:t>
            </a:r>
            <a:r>
              <a:rPr sz="2800" spc="-390" dirty="0">
                <a:solidFill>
                  <a:srgbClr val="FFFFFF"/>
                </a:solidFill>
              </a:rPr>
              <a:t> </a:t>
            </a:r>
            <a:r>
              <a:rPr sz="2800" spc="175" dirty="0">
                <a:solidFill>
                  <a:srgbClr val="FFFFFF"/>
                </a:solidFill>
              </a:rPr>
              <a:t>WITH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114" dirty="0">
                <a:solidFill>
                  <a:srgbClr val="FFFFFF"/>
                </a:solidFill>
              </a:rPr>
              <a:t>USING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99843"/>
            <a:ext cx="69208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a.last_name)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 Actor,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0943" y="2677310"/>
          <a:ext cx="2946400" cy="1039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91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m.name</a:t>
                      </a:r>
                      <a:r>
                        <a:rPr sz="1800" b="1" spc="-70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695"/>
                        </a:lnSpc>
                      </a:pPr>
                      <a:r>
                        <a:rPr sz="1800" b="1" spc="-5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Movie,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r.role</a:t>
                      </a:r>
                      <a:r>
                        <a:rPr sz="1800" b="1" spc="-70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Role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solidFill>
                            <a:srgbClr val="4590B8"/>
                          </a:solidFill>
                          <a:latin typeface="Consolas"/>
                          <a:cs typeface="Consolas"/>
                        </a:rPr>
                        <a:t>FROM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actors_copy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AS</a:t>
                      </a:r>
                      <a:r>
                        <a:rPr sz="1800" b="1" spc="-65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="1" dirty="0">
                          <a:solidFill>
                            <a:srgbClr val="3C3C3C"/>
                          </a:solidFill>
                          <a:latin typeface="Consolas"/>
                          <a:cs typeface="Consolas"/>
                        </a:rPr>
                        <a:t>a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59993" y="3691254"/>
            <a:ext cx="4914265" cy="83629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r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USING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(actor_id)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movies_copy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m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USING</a:t>
            </a:r>
            <a:r>
              <a:rPr sz="18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(movie_id)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38543" y="2644139"/>
            <a:ext cx="4973320" cy="4043679"/>
            <a:chOff x="6638543" y="2644139"/>
            <a:chExt cx="4973320" cy="404367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8543" y="2644139"/>
              <a:ext cx="4972811" cy="40431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23709" y="3323081"/>
              <a:ext cx="3526790" cy="2592705"/>
            </a:xfrm>
            <a:custGeom>
              <a:avLst/>
              <a:gdLst/>
              <a:ahLst/>
              <a:cxnLst/>
              <a:rect l="l" t="t" r="r" b="b"/>
              <a:pathLst>
                <a:path w="3526790" h="2592704">
                  <a:moveTo>
                    <a:pt x="0" y="23367"/>
                  </a:moveTo>
                  <a:lnTo>
                    <a:pt x="1829" y="14251"/>
                  </a:lnTo>
                  <a:lnTo>
                    <a:pt x="6826" y="6826"/>
                  </a:lnTo>
                  <a:lnTo>
                    <a:pt x="14251" y="1829"/>
                  </a:lnTo>
                  <a:lnTo>
                    <a:pt x="23368" y="0"/>
                  </a:lnTo>
                  <a:lnTo>
                    <a:pt x="3503168" y="0"/>
                  </a:lnTo>
                  <a:lnTo>
                    <a:pt x="3512284" y="1829"/>
                  </a:lnTo>
                  <a:lnTo>
                    <a:pt x="3519709" y="6826"/>
                  </a:lnTo>
                  <a:lnTo>
                    <a:pt x="3524706" y="14251"/>
                  </a:lnTo>
                  <a:lnTo>
                    <a:pt x="3526536" y="23367"/>
                  </a:lnTo>
                  <a:lnTo>
                    <a:pt x="3526536" y="116839"/>
                  </a:lnTo>
                  <a:lnTo>
                    <a:pt x="3524706" y="125956"/>
                  </a:lnTo>
                  <a:lnTo>
                    <a:pt x="3519709" y="133381"/>
                  </a:lnTo>
                  <a:lnTo>
                    <a:pt x="3512284" y="138378"/>
                  </a:lnTo>
                  <a:lnTo>
                    <a:pt x="3503168" y="140207"/>
                  </a:lnTo>
                  <a:lnTo>
                    <a:pt x="23368" y="140207"/>
                  </a:lnTo>
                  <a:lnTo>
                    <a:pt x="14251" y="138378"/>
                  </a:lnTo>
                  <a:lnTo>
                    <a:pt x="6826" y="133381"/>
                  </a:lnTo>
                  <a:lnTo>
                    <a:pt x="1829" y="125956"/>
                  </a:lnTo>
                  <a:lnTo>
                    <a:pt x="0" y="116839"/>
                  </a:lnTo>
                  <a:lnTo>
                    <a:pt x="0" y="23367"/>
                  </a:lnTo>
                  <a:close/>
                </a:path>
                <a:path w="3526790" h="2592704">
                  <a:moveTo>
                    <a:pt x="0" y="2395473"/>
                  </a:moveTo>
                  <a:lnTo>
                    <a:pt x="3097" y="2380149"/>
                  </a:lnTo>
                  <a:lnTo>
                    <a:pt x="11541" y="2367635"/>
                  </a:lnTo>
                  <a:lnTo>
                    <a:pt x="24056" y="2359198"/>
                  </a:lnTo>
                  <a:lnTo>
                    <a:pt x="39370" y="2356104"/>
                  </a:lnTo>
                  <a:lnTo>
                    <a:pt x="3487166" y="2356104"/>
                  </a:lnTo>
                  <a:lnTo>
                    <a:pt x="3502479" y="2359198"/>
                  </a:lnTo>
                  <a:lnTo>
                    <a:pt x="3514994" y="2367635"/>
                  </a:lnTo>
                  <a:lnTo>
                    <a:pt x="3523438" y="2380149"/>
                  </a:lnTo>
                  <a:lnTo>
                    <a:pt x="3526536" y="2395473"/>
                  </a:lnTo>
                  <a:lnTo>
                    <a:pt x="3526536" y="2552954"/>
                  </a:lnTo>
                  <a:lnTo>
                    <a:pt x="3523438" y="2568278"/>
                  </a:lnTo>
                  <a:lnTo>
                    <a:pt x="3514994" y="2580792"/>
                  </a:lnTo>
                  <a:lnTo>
                    <a:pt x="3502479" y="2589229"/>
                  </a:lnTo>
                  <a:lnTo>
                    <a:pt x="3487166" y="2592323"/>
                  </a:lnTo>
                  <a:lnTo>
                    <a:pt x="39370" y="2592323"/>
                  </a:lnTo>
                  <a:lnTo>
                    <a:pt x="24056" y="2589229"/>
                  </a:lnTo>
                  <a:lnTo>
                    <a:pt x="11541" y="2580792"/>
                  </a:lnTo>
                  <a:lnTo>
                    <a:pt x="3097" y="2568278"/>
                  </a:lnTo>
                  <a:lnTo>
                    <a:pt x="0" y="2552954"/>
                  </a:lnTo>
                  <a:lnTo>
                    <a:pt x="0" y="2395473"/>
                  </a:lnTo>
                  <a:close/>
                </a:path>
                <a:path w="3526790" h="2592704">
                  <a:moveTo>
                    <a:pt x="0" y="1248917"/>
                  </a:moveTo>
                  <a:lnTo>
                    <a:pt x="1851" y="1239708"/>
                  </a:lnTo>
                  <a:lnTo>
                    <a:pt x="6905" y="1232201"/>
                  </a:lnTo>
                  <a:lnTo>
                    <a:pt x="14412" y="1227147"/>
                  </a:lnTo>
                  <a:lnTo>
                    <a:pt x="23622" y="1225295"/>
                  </a:lnTo>
                  <a:lnTo>
                    <a:pt x="3502914" y="1225295"/>
                  </a:lnTo>
                  <a:lnTo>
                    <a:pt x="3512123" y="1227147"/>
                  </a:lnTo>
                  <a:lnTo>
                    <a:pt x="3519630" y="1232201"/>
                  </a:lnTo>
                  <a:lnTo>
                    <a:pt x="3524684" y="1239708"/>
                  </a:lnTo>
                  <a:lnTo>
                    <a:pt x="3526536" y="1248917"/>
                  </a:lnTo>
                  <a:lnTo>
                    <a:pt x="3526536" y="1343405"/>
                  </a:lnTo>
                  <a:lnTo>
                    <a:pt x="3524684" y="1352615"/>
                  </a:lnTo>
                  <a:lnTo>
                    <a:pt x="3519630" y="1360122"/>
                  </a:lnTo>
                  <a:lnTo>
                    <a:pt x="3512123" y="1365176"/>
                  </a:lnTo>
                  <a:lnTo>
                    <a:pt x="3502914" y="1367027"/>
                  </a:lnTo>
                  <a:lnTo>
                    <a:pt x="23622" y="1367027"/>
                  </a:lnTo>
                  <a:lnTo>
                    <a:pt x="14412" y="1365176"/>
                  </a:lnTo>
                  <a:lnTo>
                    <a:pt x="6905" y="1360122"/>
                  </a:lnTo>
                  <a:lnTo>
                    <a:pt x="1851" y="1352615"/>
                  </a:lnTo>
                  <a:lnTo>
                    <a:pt x="0" y="1343405"/>
                  </a:lnTo>
                  <a:lnTo>
                    <a:pt x="0" y="1248917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70" dirty="0">
                <a:solidFill>
                  <a:srgbClr val="FFFFFF"/>
                </a:solidFill>
              </a:rPr>
              <a:t>REPLACING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20" dirty="0">
                <a:solidFill>
                  <a:srgbClr val="FFFFFF"/>
                </a:solidFill>
              </a:rPr>
              <a:t>JOIN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210" dirty="0">
                <a:solidFill>
                  <a:srgbClr val="FFFFFF"/>
                </a:solidFill>
              </a:rPr>
              <a:t>CONDITIONS</a:t>
            </a:r>
            <a:r>
              <a:rPr sz="2800" spc="-390" dirty="0">
                <a:solidFill>
                  <a:srgbClr val="FFFFFF"/>
                </a:solidFill>
              </a:rPr>
              <a:t> </a:t>
            </a:r>
            <a:r>
              <a:rPr sz="2800" spc="175" dirty="0">
                <a:solidFill>
                  <a:srgbClr val="FFFFFF"/>
                </a:solidFill>
              </a:rPr>
              <a:t>WITH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114" dirty="0">
                <a:solidFill>
                  <a:srgbClr val="FFFFFF"/>
                </a:solidFill>
              </a:rPr>
              <a:t>USING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644" y="2180844"/>
            <a:ext cx="7943088" cy="40172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10" dirty="0">
                <a:solidFill>
                  <a:srgbClr val="FFFFFF"/>
                </a:solidFill>
              </a:rPr>
              <a:t>NATURAL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spc="20" dirty="0">
                <a:solidFill>
                  <a:srgbClr val="FFFFFF"/>
                </a:solidFill>
              </a:rPr>
              <a:t>JOIN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8410"/>
            <a:ext cx="6920865" cy="245935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a.last_name)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 Actor,</a:t>
            </a:r>
            <a:endParaRPr sz="1800">
              <a:latin typeface="Consolas"/>
              <a:cs typeface="Consolas"/>
            </a:endParaRPr>
          </a:p>
          <a:p>
            <a:pPr marL="889000" marR="401701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m.name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Movie,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1800">
              <a:latin typeface="Consolas"/>
              <a:cs typeface="Consolas"/>
            </a:endParaRPr>
          </a:p>
          <a:p>
            <a:pPr marL="12700" marR="4017010">
              <a:lnSpc>
                <a:spcPts val="3190"/>
              </a:lnSpc>
              <a:spcBef>
                <a:spcPts val="28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actors_copy AS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 </a:t>
            </a:r>
            <a:r>
              <a:rPr sz="1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NATURAL</a:t>
            </a:r>
            <a:r>
              <a:rPr sz="18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r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NATURAL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movies_copy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m</a:t>
            </a:r>
            <a:r>
              <a:rPr sz="1800" b="1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3900" y="2744723"/>
            <a:ext cx="7077456" cy="357835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35" dirty="0">
                <a:solidFill>
                  <a:srgbClr val="FFFFFF"/>
                </a:solidFill>
              </a:rPr>
              <a:t>OUT</a:t>
            </a:r>
            <a:r>
              <a:rPr sz="2800" spc="120" dirty="0">
                <a:solidFill>
                  <a:srgbClr val="FFFFFF"/>
                </a:solidFill>
              </a:rPr>
              <a:t>E</a:t>
            </a:r>
            <a:r>
              <a:rPr sz="2800" spc="55" dirty="0">
                <a:solidFill>
                  <a:srgbClr val="FFFFFF"/>
                </a:solidFill>
              </a:rPr>
              <a:t>R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650" dirty="0">
                <a:solidFill>
                  <a:srgbClr val="FFFFFF"/>
                </a:solidFill>
              </a:rPr>
              <a:t>J</a:t>
            </a:r>
            <a:r>
              <a:rPr sz="2800" spc="45" dirty="0">
                <a:solidFill>
                  <a:srgbClr val="FFFFFF"/>
                </a:solidFill>
              </a:rPr>
              <a:t>OINS</a:t>
            </a:r>
            <a:r>
              <a:rPr sz="2800" spc="35" dirty="0">
                <a:solidFill>
                  <a:srgbClr val="FFFFFF"/>
                </a:solidFill>
              </a:rPr>
              <a:t>:</a:t>
            </a:r>
            <a:r>
              <a:rPr sz="2800" spc="-345" dirty="0">
                <a:solidFill>
                  <a:srgbClr val="FFFFFF"/>
                </a:solidFill>
              </a:rPr>
              <a:t> </a:t>
            </a:r>
            <a:r>
              <a:rPr sz="2800" spc="-65" dirty="0">
                <a:solidFill>
                  <a:srgbClr val="FFFFFF"/>
                </a:solidFill>
              </a:rPr>
              <a:t>LEF</a:t>
            </a:r>
            <a:r>
              <a:rPr sz="2800" spc="-70" dirty="0">
                <a:solidFill>
                  <a:srgbClr val="FFFFFF"/>
                </a:solidFill>
              </a:rPr>
              <a:t>T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135" dirty="0">
                <a:solidFill>
                  <a:srgbClr val="FFFFFF"/>
                </a:solidFill>
              </a:rPr>
              <a:t>OUT</a:t>
            </a:r>
            <a:r>
              <a:rPr sz="2800" spc="120" dirty="0">
                <a:solidFill>
                  <a:srgbClr val="FFFFFF"/>
                </a:solidFill>
              </a:rPr>
              <a:t>E</a:t>
            </a:r>
            <a:r>
              <a:rPr sz="2800" spc="55" dirty="0">
                <a:solidFill>
                  <a:srgbClr val="FFFFFF"/>
                </a:solidFill>
              </a:rPr>
              <a:t>R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650" dirty="0">
                <a:solidFill>
                  <a:srgbClr val="FFFFFF"/>
                </a:solidFill>
              </a:rPr>
              <a:t>J</a:t>
            </a:r>
            <a:r>
              <a:rPr sz="2800" spc="235" dirty="0">
                <a:solidFill>
                  <a:srgbClr val="FFFFFF"/>
                </a:solidFill>
              </a:rPr>
              <a:t>OIN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1411"/>
            <a:ext cx="7708900" cy="223710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000" b="1" spc="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2000" b="1" spc="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20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 a.last_name)</a:t>
            </a:r>
            <a:r>
              <a:rPr sz="2000" b="1" spc="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Actor,</a:t>
            </a:r>
            <a:endParaRPr sz="2000">
              <a:latin typeface="Consolas"/>
              <a:cs typeface="Consolas"/>
            </a:endParaRPr>
          </a:p>
          <a:p>
            <a:pPr marL="12700" marR="4752975" indent="978535">
              <a:lnSpc>
                <a:spcPct val="145000"/>
              </a:lnSpc>
            </a:pP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Role </a:t>
            </a:r>
            <a:r>
              <a:rPr sz="2000" b="1" spc="-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000" b="1" spc="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2000" b="1" spc="108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110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 </a:t>
            </a:r>
            <a:r>
              <a:rPr sz="20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LEFT</a:t>
            </a:r>
            <a:r>
              <a:rPr sz="20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JOIN</a:t>
            </a:r>
            <a:r>
              <a:rPr sz="20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20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0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r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000" b="1" dirty="0">
                <a:solidFill>
                  <a:srgbClr val="4590B8"/>
                </a:solidFill>
                <a:latin typeface="Consolas"/>
                <a:cs typeface="Consolas"/>
              </a:rPr>
              <a:t>ON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(a.id </a:t>
            </a:r>
            <a:r>
              <a:rPr sz="20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20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Consolas"/>
                <a:cs typeface="Consolas"/>
              </a:rPr>
              <a:t>r.actor_id)</a:t>
            </a:r>
            <a:r>
              <a:rPr sz="20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2535" y="2633470"/>
            <a:ext cx="5798820" cy="4113529"/>
            <a:chOff x="5812535" y="2633470"/>
            <a:chExt cx="5798820" cy="411352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2535" y="2633470"/>
              <a:ext cx="5798820" cy="41132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02273" y="5833109"/>
              <a:ext cx="3726179" cy="273050"/>
            </a:xfrm>
            <a:custGeom>
              <a:avLst/>
              <a:gdLst/>
              <a:ahLst/>
              <a:cxnLst/>
              <a:rect l="l" t="t" r="r" b="b"/>
              <a:pathLst>
                <a:path w="3726179" h="273050">
                  <a:moveTo>
                    <a:pt x="0" y="45465"/>
                  </a:moveTo>
                  <a:lnTo>
                    <a:pt x="3567" y="27769"/>
                  </a:lnTo>
                  <a:lnTo>
                    <a:pt x="13303" y="13317"/>
                  </a:lnTo>
                  <a:lnTo>
                    <a:pt x="27753" y="3573"/>
                  </a:lnTo>
                  <a:lnTo>
                    <a:pt x="45465" y="0"/>
                  </a:lnTo>
                  <a:lnTo>
                    <a:pt x="3680714" y="0"/>
                  </a:lnTo>
                  <a:lnTo>
                    <a:pt x="3698426" y="3573"/>
                  </a:lnTo>
                  <a:lnTo>
                    <a:pt x="3712876" y="13317"/>
                  </a:lnTo>
                  <a:lnTo>
                    <a:pt x="3722612" y="27769"/>
                  </a:lnTo>
                  <a:lnTo>
                    <a:pt x="3726179" y="45465"/>
                  </a:lnTo>
                  <a:lnTo>
                    <a:pt x="3726179" y="227329"/>
                  </a:lnTo>
                  <a:lnTo>
                    <a:pt x="3722612" y="245026"/>
                  </a:lnTo>
                  <a:lnTo>
                    <a:pt x="3712876" y="259478"/>
                  </a:lnTo>
                  <a:lnTo>
                    <a:pt x="3698426" y="269222"/>
                  </a:lnTo>
                  <a:lnTo>
                    <a:pt x="3680714" y="272795"/>
                  </a:lnTo>
                  <a:lnTo>
                    <a:pt x="45465" y="272795"/>
                  </a:lnTo>
                  <a:lnTo>
                    <a:pt x="27753" y="269222"/>
                  </a:lnTo>
                  <a:lnTo>
                    <a:pt x="13303" y="259478"/>
                  </a:lnTo>
                  <a:lnTo>
                    <a:pt x="3567" y="245026"/>
                  </a:lnTo>
                  <a:lnTo>
                    <a:pt x="0" y="227329"/>
                  </a:lnTo>
                  <a:lnTo>
                    <a:pt x="0" y="45465"/>
                  </a:lnTo>
                  <a:close/>
                </a:path>
              </a:pathLst>
            </a:custGeom>
            <a:ln w="28574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35" dirty="0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r>
              <a:rPr sz="2800" spc="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650" dirty="0">
                <a:solidFill>
                  <a:srgbClr val="FFFFFF"/>
                </a:solidFill>
                <a:latin typeface="Trebuchet MS"/>
                <a:cs typeface="Trebuchet MS"/>
              </a:rPr>
              <a:t>J</a:t>
            </a:r>
            <a:r>
              <a:rPr sz="2800" spc="45" dirty="0">
                <a:solidFill>
                  <a:srgbClr val="FFFFFF"/>
                </a:solidFill>
                <a:latin typeface="Trebuchet MS"/>
                <a:cs typeface="Trebuchet MS"/>
              </a:rPr>
              <a:t>OINS</a:t>
            </a:r>
            <a:r>
              <a:rPr sz="2800" spc="3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2800" spc="-3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Trebuchet MS"/>
                <a:cs typeface="Trebuchet MS"/>
              </a:rPr>
              <a:t>LEF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2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135" dirty="0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r>
              <a:rPr sz="2800" spc="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650" dirty="0">
                <a:solidFill>
                  <a:srgbClr val="FFFFFF"/>
                </a:solidFill>
                <a:latin typeface="Trebuchet MS"/>
                <a:cs typeface="Trebuchet MS"/>
              </a:rPr>
              <a:t>J</a:t>
            </a:r>
            <a:r>
              <a:rPr sz="2800" spc="235" dirty="0">
                <a:solidFill>
                  <a:srgbClr val="FFFFFF"/>
                </a:solidFill>
                <a:latin typeface="Trebuchet MS"/>
                <a:cs typeface="Trebuchet MS"/>
              </a:rPr>
              <a:t>OIN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93" y="2730333"/>
            <a:ext cx="10766425" cy="2378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9855" marR="5080" indent="-1367790">
              <a:lnSpc>
                <a:spcPct val="1379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‘ ’, a.last_name) AS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Actor, </a:t>
            </a:r>
            <a:r>
              <a:rPr sz="2800" b="1" spc="-15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800" b="1" spc="-2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2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LEFT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 OUTER JOIN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2800" b="1" spc="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 r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ON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(a.id</a:t>
            </a:r>
            <a:r>
              <a:rPr sz="2800" b="1" spc="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= r.actor_id)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35" dirty="0">
                <a:solidFill>
                  <a:srgbClr val="FFFFFF"/>
                </a:solidFill>
              </a:rPr>
              <a:t>OUT</a:t>
            </a:r>
            <a:r>
              <a:rPr sz="2800" spc="120" dirty="0">
                <a:solidFill>
                  <a:srgbClr val="FFFFFF"/>
                </a:solidFill>
              </a:rPr>
              <a:t>E</a:t>
            </a:r>
            <a:r>
              <a:rPr sz="2800" spc="55" dirty="0">
                <a:solidFill>
                  <a:srgbClr val="FFFFFF"/>
                </a:solidFill>
              </a:rPr>
              <a:t>R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650" dirty="0">
                <a:solidFill>
                  <a:srgbClr val="FFFFFF"/>
                </a:solidFill>
              </a:rPr>
              <a:t>J</a:t>
            </a:r>
            <a:r>
              <a:rPr sz="2800" spc="45" dirty="0">
                <a:solidFill>
                  <a:srgbClr val="FFFFFF"/>
                </a:solidFill>
              </a:rPr>
              <a:t>OINS</a:t>
            </a:r>
            <a:r>
              <a:rPr sz="2800" spc="35" dirty="0">
                <a:solidFill>
                  <a:srgbClr val="FFFFFF"/>
                </a:solidFill>
              </a:rPr>
              <a:t>:</a:t>
            </a:r>
            <a:r>
              <a:rPr sz="2800" spc="-345" dirty="0">
                <a:solidFill>
                  <a:srgbClr val="FFFFFF"/>
                </a:solidFill>
              </a:rPr>
              <a:t> </a:t>
            </a:r>
            <a:r>
              <a:rPr sz="2800" spc="80" dirty="0">
                <a:solidFill>
                  <a:srgbClr val="FFFFFF"/>
                </a:solidFill>
              </a:rPr>
              <a:t>RIGHT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415" dirty="0">
                <a:solidFill>
                  <a:srgbClr val="FFFFFF"/>
                </a:solidFill>
              </a:rPr>
              <a:t>O</a:t>
            </a:r>
            <a:r>
              <a:rPr sz="2800" spc="40" dirty="0">
                <a:solidFill>
                  <a:srgbClr val="FFFFFF"/>
                </a:solidFill>
              </a:rPr>
              <a:t>UTE</a:t>
            </a:r>
            <a:r>
              <a:rPr sz="2800" spc="55" dirty="0">
                <a:solidFill>
                  <a:srgbClr val="FFFFFF"/>
                </a:solidFill>
              </a:rPr>
              <a:t>R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-650" dirty="0">
                <a:solidFill>
                  <a:srgbClr val="FFFFFF"/>
                </a:solidFill>
              </a:rPr>
              <a:t>J</a:t>
            </a:r>
            <a:r>
              <a:rPr sz="2800" spc="235" dirty="0">
                <a:solidFill>
                  <a:srgbClr val="FFFFFF"/>
                </a:solidFill>
              </a:rPr>
              <a:t>OIN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068410"/>
            <a:ext cx="6920865" cy="327025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1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‘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’,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a.last_name)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 Actor,</a:t>
            </a:r>
            <a:endParaRPr sz="1800">
              <a:latin typeface="Consolas"/>
              <a:cs typeface="Consolas"/>
            </a:endParaRPr>
          </a:p>
          <a:p>
            <a:pPr marL="889000" marR="401701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m.name</a:t>
            </a:r>
            <a:r>
              <a:rPr sz="1800" b="1" spc="-5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Movie,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</a:t>
            </a:r>
            <a:endParaRPr sz="1800">
              <a:latin typeface="Consolas"/>
              <a:cs typeface="Consolas"/>
            </a:endParaRPr>
          </a:p>
          <a:p>
            <a:pPr marL="12700" marR="4895215">
              <a:lnSpc>
                <a:spcPts val="3190"/>
              </a:lnSpc>
              <a:spcBef>
                <a:spcPts val="28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JOIN</a:t>
            </a:r>
            <a:r>
              <a:rPr sz="18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r</a:t>
            </a:r>
            <a:endParaRPr sz="1800">
              <a:latin typeface="Consolas"/>
              <a:cs typeface="Consolas"/>
            </a:endParaRPr>
          </a:p>
          <a:p>
            <a:pPr marL="12700" marR="4017010" algn="just">
              <a:lnSpc>
                <a:spcPts val="3190"/>
              </a:lnSpc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ON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(a.id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r.actor_id)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RIGHT 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JOIN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movies AS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m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ON</a:t>
            </a:r>
            <a:r>
              <a:rPr sz="1800" b="1" spc="-4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(m.id</a:t>
            </a:r>
            <a:r>
              <a:rPr sz="1800" b="1" spc="-3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r.movie_id)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92652" y="2596894"/>
            <a:ext cx="7919084" cy="4160520"/>
            <a:chOff x="3692652" y="2596894"/>
            <a:chExt cx="7919084" cy="4160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2652" y="2596894"/>
              <a:ext cx="7918704" cy="41605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83914" y="5977889"/>
              <a:ext cx="6469380" cy="167640"/>
            </a:xfrm>
            <a:custGeom>
              <a:avLst/>
              <a:gdLst/>
              <a:ahLst/>
              <a:cxnLst/>
              <a:rect l="l" t="t" r="r" b="b"/>
              <a:pathLst>
                <a:path w="6469380" h="167639">
                  <a:moveTo>
                    <a:pt x="0" y="27940"/>
                  </a:moveTo>
                  <a:lnTo>
                    <a:pt x="2186" y="17064"/>
                  </a:lnTo>
                  <a:lnTo>
                    <a:pt x="8159" y="8183"/>
                  </a:lnTo>
                  <a:lnTo>
                    <a:pt x="17037" y="2195"/>
                  </a:lnTo>
                  <a:lnTo>
                    <a:pt x="27939" y="0"/>
                  </a:lnTo>
                  <a:lnTo>
                    <a:pt x="6441440" y="0"/>
                  </a:lnTo>
                  <a:lnTo>
                    <a:pt x="6452288" y="2195"/>
                  </a:lnTo>
                  <a:lnTo>
                    <a:pt x="6461172" y="8183"/>
                  </a:lnTo>
                  <a:lnTo>
                    <a:pt x="6467175" y="17064"/>
                  </a:lnTo>
                  <a:lnTo>
                    <a:pt x="6469380" y="27940"/>
                  </a:lnTo>
                  <a:lnTo>
                    <a:pt x="6469380" y="139700"/>
                  </a:lnTo>
                  <a:lnTo>
                    <a:pt x="6467175" y="150575"/>
                  </a:lnTo>
                  <a:lnTo>
                    <a:pt x="6461172" y="159456"/>
                  </a:lnTo>
                  <a:lnTo>
                    <a:pt x="6452288" y="165444"/>
                  </a:lnTo>
                  <a:lnTo>
                    <a:pt x="6441440" y="167640"/>
                  </a:lnTo>
                  <a:lnTo>
                    <a:pt x="27939" y="167640"/>
                  </a:lnTo>
                  <a:lnTo>
                    <a:pt x="17037" y="165444"/>
                  </a:lnTo>
                  <a:lnTo>
                    <a:pt x="8159" y="159456"/>
                  </a:lnTo>
                  <a:lnTo>
                    <a:pt x="2186" y="150575"/>
                  </a:lnTo>
                  <a:lnTo>
                    <a:pt x="0" y="139700"/>
                  </a:lnTo>
                  <a:lnTo>
                    <a:pt x="0" y="27940"/>
                  </a:lnTo>
                  <a:close/>
                </a:path>
              </a:pathLst>
            </a:custGeom>
            <a:ln w="28575">
              <a:solidFill>
                <a:srgbClr val="4590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35" dirty="0">
                <a:solidFill>
                  <a:srgbClr val="FFFFFF"/>
                </a:solidFill>
                <a:latin typeface="Trebuchet MS"/>
                <a:cs typeface="Trebuchet MS"/>
              </a:rPr>
              <a:t>OUT</a:t>
            </a:r>
            <a:r>
              <a:rPr sz="2800" spc="12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650" dirty="0">
                <a:solidFill>
                  <a:srgbClr val="FFFFFF"/>
                </a:solidFill>
                <a:latin typeface="Trebuchet MS"/>
                <a:cs typeface="Trebuchet MS"/>
              </a:rPr>
              <a:t>J</a:t>
            </a:r>
            <a:r>
              <a:rPr sz="2800" spc="45" dirty="0">
                <a:solidFill>
                  <a:srgbClr val="FFFFFF"/>
                </a:solidFill>
                <a:latin typeface="Trebuchet MS"/>
                <a:cs typeface="Trebuchet MS"/>
              </a:rPr>
              <a:t>OINS</a:t>
            </a:r>
            <a:r>
              <a:rPr sz="2800" spc="3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2800" spc="-3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80" dirty="0">
                <a:solidFill>
                  <a:srgbClr val="FFFFFF"/>
                </a:solidFill>
                <a:latin typeface="Trebuchet MS"/>
                <a:cs typeface="Trebuchet MS"/>
              </a:rPr>
              <a:t>RIGHT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41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2800" spc="40" dirty="0">
                <a:solidFill>
                  <a:srgbClr val="FFFFFF"/>
                </a:solidFill>
                <a:latin typeface="Trebuchet MS"/>
                <a:cs typeface="Trebuchet MS"/>
              </a:rPr>
              <a:t>UTE</a:t>
            </a:r>
            <a:r>
              <a:rPr sz="2800" spc="5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2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650" dirty="0">
                <a:solidFill>
                  <a:srgbClr val="FFFFFF"/>
                </a:solidFill>
                <a:latin typeface="Trebuchet MS"/>
                <a:cs typeface="Trebuchet MS"/>
              </a:rPr>
              <a:t>J</a:t>
            </a:r>
            <a:r>
              <a:rPr sz="2800" spc="235" dirty="0">
                <a:solidFill>
                  <a:srgbClr val="FFFFFF"/>
                </a:solidFill>
                <a:latin typeface="Trebuchet MS"/>
                <a:cs typeface="Trebuchet MS"/>
              </a:rPr>
              <a:t>OIN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93" y="2141626"/>
            <a:ext cx="10766425" cy="355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9855" marR="5080" indent="-1367790">
              <a:lnSpc>
                <a:spcPct val="1379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2800" b="1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CONCAT(a.first_name,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‘ ’, a.last_name) AS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Actor, </a:t>
            </a:r>
            <a:r>
              <a:rPr sz="2800" b="1" spc="-15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m.name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 Movie,</a:t>
            </a:r>
            <a:endParaRPr sz="2800">
              <a:latin typeface="Consolas"/>
              <a:cs typeface="Consolas"/>
            </a:endParaRPr>
          </a:p>
          <a:p>
            <a:pPr marL="12700" marR="6645275" indent="1367155">
              <a:lnSpc>
                <a:spcPts val="4630"/>
              </a:lnSpc>
              <a:spcBef>
                <a:spcPts val="365"/>
              </a:spcBef>
            </a:pP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r.role</a:t>
            </a:r>
            <a:r>
              <a:rPr sz="2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800" b="1" spc="-4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Role </a:t>
            </a:r>
            <a:r>
              <a:rPr sz="2800" b="1" spc="-15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2800" b="1" spc="-1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r>
              <a:rPr sz="2800" b="1" spc="-1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 a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JOIN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roles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800" b="1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 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ON</a:t>
            </a:r>
            <a:r>
              <a:rPr sz="2800" b="1" spc="-1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(a.id =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r.actor_id)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RIGHT OUTER JOIN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movies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AS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m</a:t>
            </a:r>
            <a:r>
              <a:rPr sz="2800" b="1" spc="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ON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(m.id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2800" b="1" spc="-1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2800" b="1" spc="-5" dirty="0">
                <a:solidFill>
                  <a:srgbClr val="3C3C3C"/>
                </a:solidFill>
                <a:latin typeface="Consolas"/>
                <a:cs typeface="Consolas"/>
              </a:rPr>
              <a:t>r.movie_id)</a:t>
            </a:r>
            <a:r>
              <a:rPr sz="2800" b="1" spc="-5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-80" dirty="0">
                <a:solidFill>
                  <a:srgbClr val="FFFFFF"/>
                </a:solidFill>
              </a:rPr>
              <a:t>S</a:t>
            </a:r>
            <a:r>
              <a:rPr sz="2800" spc="-85" dirty="0">
                <a:solidFill>
                  <a:srgbClr val="FFFFFF"/>
                </a:solidFill>
              </a:rPr>
              <a:t>E</a:t>
            </a:r>
            <a:r>
              <a:rPr sz="2800" spc="60" dirty="0">
                <a:solidFill>
                  <a:srgbClr val="FFFFFF"/>
                </a:solidFill>
              </a:rPr>
              <a:t>T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0" dirty="0">
                <a:solidFill>
                  <a:srgbClr val="FFFFFF"/>
                </a:solidFill>
              </a:rPr>
              <a:t>OPER</a:t>
            </a:r>
            <a:r>
              <a:rPr sz="2800" spc="-65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5" dirty="0">
                <a:solidFill>
                  <a:srgbClr val="FFFFFF"/>
                </a:solidFill>
              </a:rPr>
              <a:t>OR</a:t>
            </a:r>
            <a:r>
              <a:rPr sz="2800" spc="10" dirty="0">
                <a:solidFill>
                  <a:srgbClr val="FFFFFF"/>
                </a:solidFill>
              </a:rPr>
              <a:t>:</a:t>
            </a:r>
            <a:r>
              <a:rPr sz="2800" spc="-375" dirty="0">
                <a:solidFill>
                  <a:srgbClr val="FFFFFF"/>
                </a:solidFill>
              </a:rPr>
              <a:t> </a:t>
            </a:r>
            <a:r>
              <a:rPr sz="2800" spc="254" dirty="0">
                <a:solidFill>
                  <a:srgbClr val="FFFFFF"/>
                </a:solidFill>
              </a:rPr>
              <a:t>UNION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28774"/>
            <a:ext cx="4036695" cy="3674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0" marR="381000" indent="-876935">
              <a:lnSpc>
                <a:spcPct val="1478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first_name,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last_name,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18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‘F’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UNION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first_name,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last_name,</a:t>
            </a:r>
            <a:endParaRPr sz="1800">
              <a:latin typeface="Consolas"/>
              <a:cs typeface="Consolas"/>
            </a:endParaRPr>
          </a:p>
          <a:p>
            <a:pPr marL="12700" marR="882015" indent="87630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1800" b="1" spc="-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&gt;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‘1992-01-01’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2688" y="2087879"/>
            <a:ext cx="6868667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425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-80" dirty="0">
                <a:solidFill>
                  <a:srgbClr val="FFFFFF"/>
                </a:solidFill>
              </a:rPr>
              <a:t>S</a:t>
            </a:r>
            <a:r>
              <a:rPr sz="2800" spc="-85" dirty="0">
                <a:solidFill>
                  <a:srgbClr val="FFFFFF"/>
                </a:solidFill>
              </a:rPr>
              <a:t>E</a:t>
            </a:r>
            <a:r>
              <a:rPr sz="2800" spc="60" dirty="0">
                <a:solidFill>
                  <a:srgbClr val="FFFFFF"/>
                </a:solidFill>
              </a:rPr>
              <a:t>T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spc="50" dirty="0">
                <a:solidFill>
                  <a:srgbClr val="FFFFFF"/>
                </a:solidFill>
              </a:rPr>
              <a:t>OPER</a:t>
            </a:r>
            <a:r>
              <a:rPr sz="2800" spc="-65" dirty="0">
                <a:solidFill>
                  <a:srgbClr val="FFFFFF"/>
                </a:solidFill>
              </a:rPr>
              <a:t>A</a:t>
            </a:r>
            <a:r>
              <a:rPr sz="2800" spc="-120" dirty="0">
                <a:solidFill>
                  <a:srgbClr val="FFFFFF"/>
                </a:solidFill>
              </a:rPr>
              <a:t>T</a:t>
            </a:r>
            <a:r>
              <a:rPr sz="2800" spc="15" dirty="0">
                <a:solidFill>
                  <a:srgbClr val="FFFFFF"/>
                </a:solidFill>
              </a:rPr>
              <a:t>OR</a:t>
            </a:r>
            <a:r>
              <a:rPr sz="2800" spc="10" dirty="0">
                <a:solidFill>
                  <a:srgbClr val="FFFFFF"/>
                </a:solidFill>
              </a:rPr>
              <a:t>:</a:t>
            </a:r>
            <a:r>
              <a:rPr sz="2800" spc="-375" dirty="0">
                <a:solidFill>
                  <a:srgbClr val="FFFFFF"/>
                </a:solidFill>
              </a:rPr>
              <a:t> </a:t>
            </a:r>
            <a:r>
              <a:rPr sz="2800" spc="254" dirty="0">
                <a:solidFill>
                  <a:srgbClr val="FFFFFF"/>
                </a:solidFill>
              </a:rPr>
              <a:t>UNION</a:t>
            </a:r>
            <a:r>
              <a:rPr sz="2800" spc="-340" dirty="0">
                <a:solidFill>
                  <a:srgbClr val="FFFFFF"/>
                </a:solidFill>
              </a:rPr>
              <a:t> </a:t>
            </a:r>
            <a:r>
              <a:rPr sz="2800" spc="35" dirty="0">
                <a:solidFill>
                  <a:srgbClr val="FFFFFF"/>
                </a:solidFill>
              </a:rPr>
              <a:t>ALL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128774"/>
            <a:ext cx="4036695" cy="3674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0" marR="381000" indent="-876935">
              <a:lnSpc>
                <a:spcPct val="1478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4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first_name,</a:t>
            </a:r>
            <a:r>
              <a:rPr sz="1800" b="1" spc="-4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last_name,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1800" b="1" spc="-2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1800" b="1" spc="-2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=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‘F’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UNION</a:t>
            </a:r>
            <a:r>
              <a:rPr sz="1800" b="1" spc="-5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ALL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SELECT</a:t>
            </a:r>
            <a:r>
              <a:rPr sz="1800" b="1" spc="-30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first_name,</a:t>
            </a:r>
            <a:r>
              <a:rPr sz="1800" b="1" spc="-3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last_name,</a:t>
            </a:r>
            <a:endParaRPr sz="1800">
              <a:latin typeface="Consolas"/>
              <a:cs typeface="Consolas"/>
            </a:endParaRPr>
          </a:p>
          <a:p>
            <a:pPr marL="12700" marR="882015" indent="876300">
              <a:lnSpc>
                <a:spcPct val="147800"/>
              </a:lnSpc>
            </a:pP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gender,</a:t>
            </a:r>
            <a:r>
              <a:rPr sz="1800" b="1" spc="-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spc="-975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FROM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actors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WHERE</a:t>
            </a:r>
            <a:r>
              <a:rPr sz="1800" b="1" spc="-5" dirty="0">
                <a:solidFill>
                  <a:srgbClr val="4590B8"/>
                </a:solidFill>
                <a:latin typeface="Consolas"/>
                <a:cs typeface="Consolas"/>
              </a:rPr>
              <a:t> </a:t>
            </a:r>
            <a:r>
              <a:rPr sz="1800" b="1" spc="-5" dirty="0">
                <a:solidFill>
                  <a:srgbClr val="3C3C3C"/>
                </a:solidFill>
                <a:latin typeface="Consolas"/>
                <a:cs typeface="Consolas"/>
              </a:rPr>
              <a:t>birth_date </a:t>
            </a:r>
            <a:r>
              <a:rPr sz="1800" b="1" dirty="0">
                <a:solidFill>
                  <a:srgbClr val="3C3C3C"/>
                </a:solidFill>
                <a:latin typeface="Consolas"/>
                <a:cs typeface="Consolas"/>
              </a:rPr>
              <a:t>&gt;</a:t>
            </a:r>
            <a:r>
              <a:rPr sz="1800" b="1" spc="-20" dirty="0">
                <a:solidFill>
                  <a:srgbClr val="3C3C3C"/>
                </a:solidFill>
                <a:latin typeface="Consolas"/>
                <a:cs typeface="Consola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Consolas"/>
                <a:cs typeface="Consolas"/>
              </a:rPr>
              <a:t>‘1992-01-01’</a:t>
            </a:r>
            <a:r>
              <a:rPr sz="1800" b="1" spc="-10" dirty="0">
                <a:solidFill>
                  <a:srgbClr val="4590B8"/>
                </a:solidFill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2688" y="2011679"/>
            <a:ext cx="6868667" cy="406603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42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5" dirty="0">
                <a:solidFill>
                  <a:srgbClr val="FFFFFF"/>
                </a:solidFill>
              </a:rPr>
              <a:t>REFERENCES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09193" y="2913379"/>
            <a:ext cx="10791190" cy="219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9570" indent="-306705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69570" algn="l"/>
                <a:tab pos="370205" algn="l"/>
              </a:tabLst>
            </a:pP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Elmasri,</a:t>
            </a:r>
            <a:r>
              <a:rPr sz="1800" spc="-2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Ramez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Shamkant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3C3C3C"/>
                </a:solidFill>
                <a:latin typeface="Trebuchet MS"/>
                <a:cs typeface="Trebuchet MS"/>
              </a:rPr>
              <a:t>B.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Navathe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(2016),</a:t>
            </a:r>
            <a:r>
              <a:rPr sz="1800" spc="-1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Fundamentals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Database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Systems,</a:t>
            </a:r>
            <a:r>
              <a:rPr sz="1800" spc="-2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7</a:t>
            </a:r>
            <a:r>
              <a:rPr sz="1800" spc="-89" baseline="25462" dirty="0">
                <a:solidFill>
                  <a:srgbClr val="3C3C3C"/>
                </a:solidFill>
                <a:latin typeface="Trebuchet MS"/>
                <a:cs typeface="Trebuchet MS"/>
              </a:rPr>
              <a:t>th</a:t>
            </a:r>
            <a:r>
              <a:rPr sz="1800" spc="232" baseline="25462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edition,</a:t>
            </a:r>
            <a:r>
              <a:rPr sz="1800" spc="-3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Addison</a:t>
            </a:r>
            <a:r>
              <a:rPr sz="1800" spc="-2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Wesley.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590B8"/>
              </a:buClr>
              <a:buFont typeface="Cambria"/>
              <a:buChar char="◾"/>
            </a:pPr>
            <a:endParaRPr sz="2100">
              <a:latin typeface="Trebuchet MS"/>
              <a:cs typeface="Trebuchet MS"/>
            </a:endParaRPr>
          </a:p>
          <a:p>
            <a:pPr marL="369570" indent="-306705">
              <a:lnSpc>
                <a:spcPct val="100000"/>
              </a:lnSpc>
              <a:spcBef>
                <a:spcPts val="178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69570" algn="l"/>
                <a:tab pos="370205" algn="l"/>
              </a:tabLst>
            </a:pP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Rick </a:t>
            </a:r>
            <a:r>
              <a:rPr sz="1800" spc="-315" dirty="0">
                <a:solidFill>
                  <a:srgbClr val="3C3C3C"/>
                </a:solidFill>
                <a:latin typeface="Trebuchet MS"/>
                <a:cs typeface="Trebuchet MS"/>
              </a:rPr>
              <a:t>F.</a:t>
            </a:r>
            <a:r>
              <a:rPr sz="1800" spc="-2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van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der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Lans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(2007),</a:t>
            </a:r>
            <a:r>
              <a:rPr sz="1800" spc="-19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3C3C3C"/>
                </a:solidFill>
                <a:latin typeface="Trebuchet MS"/>
                <a:cs typeface="Trebuchet MS"/>
              </a:rPr>
              <a:t>SQL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for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3C3C3C"/>
                </a:solidFill>
                <a:latin typeface="Trebuchet MS"/>
                <a:cs typeface="Trebuchet MS"/>
              </a:rPr>
              <a:t>MySQL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Developers,</a:t>
            </a:r>
            <a:r>
              <a:rPr sz="1800" spc="-4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Addison</a:t>
            </a:r>
            <a:r>
              <a:rPr sz="1800" spc="-28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Wesley.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590B8"/>
              </a:buClr>
              <a:buFont typeface="Cambria"/>
              <a:buChar char="◾"/>
            </a:pPr>
            <a:endParaRPr sz="2100">
              <a:latin typeface="Trebuchet MS"/>
              <a:cs typeface="Trebuchet MS"/>
            </a:endParaRPr>
          </a:p>
          <a:p>
            <a:pPr marL="369570" marR="165735" indent="-306705">
              <a:lnSpc>
                <a:spcPct val="100000"/>
              </a:lnSpc>
              <a:spcBef>
                <a:spcPts val="1785"/>
              </a:spcBef>
              <a:buClr>
                <a:srgbClr val="4590B8"/>
              </a:buClr>
              <a:buSzPct val="91666"/>
              <a:buFont typeface="Cambria"/>
              <a:buChar char="◾"/>
              <a:tabLst>
                <a:tab pos="369570" algn="l"/>
                <a:tab pos="370205" algn="l"/>
              </a:tabLst>
            </a:pP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Connolly,Thomas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Carolyn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Begg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(2015),</a:t>
            </a:r>
            <a:r>
              <a:rPr sz="1800" spc="-19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Database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Systems</a:t>
            </a:r>
            <a:r>
              <a:rPr sz="1800" spc="-2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Practical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Approach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Design,</a:t>
            </a:r>
            <a:r>
              <a:rPr sz="1800" spc="-2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Implementation, </a:t>
            </a:r>
            <a:r>
              <a:rPr sz="1800" spc="-5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Management,</a:t>
            </a:r>
            <a:r>
              <a:rPr sz="1800" spc="-2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6</a:t>
            </a:r>
            <a:r>
              <a:rPr sz="1800" spc="-97" baseline="25462" dirty="0">
                <a:solidFill>
                  <a:srgbClr val="3C3C3C"/>
                </a:solidFill>
                <a:latin typeface="Trebuchet MS"/>
                <a:cs typeface="Trebuchet MS"/>
              </a:rPr>
              <a:t>th</a:t>
            </a:r>
            <a:r>
              <a:rPr sz="1800" spc="217" baseline="25462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edition,</a:t>
            </a:r>
            <a:r>
              <a:rPr sz="1800" spc="-2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Pearson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Education,</a:t>
            </a:r>
            <a:r>
              <a:rPr sz="1800" spc="-229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3C3C3C"/>
                </a:solidFill>
                <a:latin typeface="Trebuchet MS"/>
                <a:cs typeface="Trebuchet MS"/>
              </a:rPr>
              <a:t>ISBN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13:</a:t>
            </a:r>
            <a:r>
              <a:rPr sz="1800" spc="-2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978-1-292-06118-4,</a:t>
            </a:r>
            <a:r>
              <a:rPr sz="1800" spc="-1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Essex,</a:t>
            </a:r>
            <a:r>
              <a:rPr sz="1800" spc="-2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England.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8055" y="5141976"/>
            <a:ext cx="11291570" cy="1259205"/>
          </a:xfrm>
          <a:custGeom>
            <a:avLst/>
            <a:gdLst/>
            <a:ahLst/>
            <a:cxnLst/>
            <a:rect l="l" t="t" r="r" b="b"/>
            <a:pathLst>
              <a:path w="11291570" h="1259204">
                <a:moveTo>
                  <a:pt x="11291316" y="0"/>
                </a:moveTo>
                <a:lnTo>
                  <a:pt x="0" y="0"/>
                </a:lnTo>
                <a:lnTo>
                  <a:pt x="0" y="1258824"/>
                </a:lnTo>
                <a:lnTo>
                  <a:pt x="11291316" y="1258824"/>
                </a:lnTo>
                <a:lnTo>
                  <a:pt x="112913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18253" y="1190066"/>
            <a:ext cx="433451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6906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1A315F"/>
                </a:solidFill>
                <a:latin typeface="Trebuchet MS"/>
                <a:cs typeface="Trebuchet MS"/>
              </a:rPr>
              <a:t>SELECT </a:t>
            </a:r>
            <a:r>
              <a:rPr sz="3600" spc="180" dirty="0">
                <a:solidFill>
                  <a:srgbClr val="4590B8"/>
                </a:solidFill>
                <a:latin typeface="Trebuchet MS"/>
                <a:cs typeface="Trebuchet MS"/>
              </a:rPr>
              <a:t>* </a:t>
            </a:r>
            <a:r>
              <a:rPr sz="3600" spc="18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3600" spc="-210" dirty="0">
                <a:solidFill>
                  <a:srgbClr val="1A315F"/>
                </a:solidFill>
                <a:latin typeface="Trebuchet MS"/>
                <a:cs typeface="Trebuchet MS"/>
              </a:rPr>
              <a:t>F</a:t>
            </a:r>
            <a:r>
              <a:rPr sz="3600" spc="-145" dirty="0">
                <a:solidFill>
                  <a:srgbClr val="1A315F"/>
                </a:solidFill>
                <a:latin typeface="Trebuchet MS"/>
                <a:cs typeface="Trebuchet MS"/>
              </a:rPr>
              <a:t>R</a:t>
            </a:r>
            <a:r>
              <a:rPr sz="3600" spc="380" dirty="0">
                <a:solidFill>
                  <a:srgbClr val="1A315F"/>
                </a:solidFill>
                <a:latin typeface="Trebuchet MS"/>
                <a:cs typeface="Trebuchet MS"/>
              </a:rPr>
              <a:t>O</a:t>
            </a:r>
            <a:r>
              <a:rPr sz="3600" spc="405" dirty="0">
                <a:solidFill>
                  <a:srgbClr val="1A315F"/>
                </a:solidFill>
                <a:latin typeface="Trebuchet MS"/>
                <a:cs typeface="Trebuchet MS"/>
              </a:rPr>
              <a:t>M</a:t>
            </a:r>
            <a:r>
              <a:rPr sz="3600" spc="-53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535" dirty="0">
                <a:solidFill>
                  <a:srgbClr val="4590B8"/>
                </a:solidFill>
                <a:latin typeface="Trebuchet MS"/>
                <a:cs typeface="Trebuchet MS"/>
              </a:rPr>
              <a:t>W</a:t>
            </a:r>
            <a:r>
              <a:rPr sz="3600" spc="254" dirty="0">
                <a:solidFill>
                  <a:srgbClr val="4590B8"/>
                </a:solidFill>
                <a:latin typeface="Trebuchet MS"/>
                <a:cs typeface="Trebuchet MS"/>
              </a:rPr>
              <a:t>ORLD</a:t>
            </a:r>
            <a:endParaRPr sz="3600">
              <a:latin typeface="Trebuchet MS"/>
              <a:cs typeface="Trebuchet MS"/>
            </a:endParaRPr>
          </a:p>
          <a:p>
            <a:pPr marL="12700" marR="509905">
              <a:lnSpc>
                <a:spcPct val="100000"/>
              </a:lnSpc>
              <a:spcBef>
                <a:spcPts val="5"/>
              </a:spcBef>
            </a:pPr>
            <a:r>
              <a:rPr sz="3600" spc="155" dirty="0">
                <a:solidFill>
                  <a:srgbClr val="1A315F"/>
                </a:solidFill>
                <a:latin typeface="Trebuchet MS"/>
                <a:cs typeface="Trebuchet MS"/>
              </a:rPr>
              <a:t>WHERE</a:t>
            </a:r>
            <a:r>
              <a:rPr sz="3600" spc="-18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215" dirty="0">
                <a:solidFill>
                  <a:srgbClr val="4590B8"/>
                </a:solidFill>
                <a:latin typeface="Trebuchet MS"/>
                <a:cs typeface="Trebuchet MS"/>
              </a:rPr>
              <a:t>SOMEONE </a:t>
            </a:r>
            <a:r>
              <a:rPr sz="3600" spc="-1070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1A315F"/>
                </a:solidFill>
                <a:latin typeface="Trebuchet MS"/>
                <a:cs typeface="Trebuchet MS"/>
              </a:rPr>
              <a:t>LIK</a:t>
            </a:r>
            <a:r>
              <a:rPr sz="3600" dirty="0">
                <a:solidFill>
                  <a:srgbClr val="1A315F"/>
                </a:solidFill>
                <a:latin typeface="Trebuchet MS"/>
                <a:cs typeface="Trebuchet MS"/>
              </a:rPr>
              <a:t>E</a:t>
            </a:r>
            <a:r>
              <a:rPr sz="3600" spc="-450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-135" dirty="0">
                <a:solidFill>
                  <a:srgbClr val="4590B8"/>
                </a:solidFill>
                <a:latin typeface="Trebuchet MS"/>
                <a:cs typeface="Trebuchet MS"/>
              </a:rPr>
              <a:t>‘%</a:t>
            </a:r>
            <a:r>
              <a:rPr sz="3600" spc="-170" dirty="0">
                <a:solidFill>
                  <a:srgbClr val="4590B8"/>
                </a:solidFill>
                <a:latin typeface="Trebuchet MS"/>
                <a:cs typeface="Trebuchet MS"/>
              </a:rPr>
              <a:t>Y</a:t>
            </a:r>
            <a:r>
              <a:rPr sz="3600" spc="130" dirty="0">
                <a:solidFill>
                  <a:srgbClr val="4590B8"/>
                </a:solidFill>
                <a:latin typeface="Trebuchet MS"/>
                <a:cs typeface="Trebuchet MS"/>
              </a:rPr>
              <a:t>OU%</a:t>
            </a:r>
            <a:r>
              <a:rPr sz="3600" spc="75" dirty="0">
                <a:solidFill>
                  <a:srgbClr val="4590B8"/>
                </a:solidFill>
                <a:latin typeface="Trebuchet MS"/>
                <a:cs typeface="Trebuchet MS"/>
              </a:rPr>
              <a:t>’</a:t>
            </a:r>
            <a:r>
              <a:rPr sz="3600" spc="-500" dirty="0">
                <a:solidFill>
                  <a:srgbClr val="1A315F"/>
                </a:solidFill>
                <a:latin typeface="Trebuchet MS"/>
                <a:cs typeface="Trebuchet MS"/>
              </a:rPr>
              <a:t>;</a:t>
            </a:r>
            <a:endParaRPr sz="3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600" spc="30" dirty="0">
                <a:solidFill>
                  <a:srgbClr val="1A315F"/>
                </a:solidFill>
                <a:latin typeface="Trebuchet MS"/>
                <a:cs typeface="Trebuchet MS"/>
              </a:rPr>
              <a:t>EMPTY</a:t>
            </a:r>
            <a:r>
              <a:rPr sz="3600" spc="-8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1A315F"/>
                </a:solidFill>
                <a:latin typeface="Trebuchet MS"/>
                <a:cs typeface="Trebuchet MS"/>
              </a:rPr>
              <a:t>SET</a:t>
            </a:r>
            <a:r>
              <a:rPr sz="3600" spc="-8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-190" dirty="0">
                <a:solidFill>
                  <a:srgbClr val="1A315F"/>
                </a:solidFill>
                <a:latin typeface="Trebuchet MS"/>
                <a:cs typeface="Trebuchet MS"/>
              </a:rPr>
              <a:t>(0.0</a:t>
            </a:r>
            <a:r>
              <a:rPr sz="3600" spc="-220" dirty="0">
                <a:solidFill>
                  <a:srgbClr val="1A315F"/>
                </a:solidFill>
                <a:latin typeface="Trebuchet MS"/>
                <a:cs typeface="Trebuchet MS"/>
              </a:rPr>
              <a:t>0</a:t>
            </a:r>
            <a:r>
              <a:rPr sz="3600" spc="-90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5" dirty="0">
                <a:solidFill>
                  <a:srgbClr val="1A315F"/>
                </a:solidFill>
                <a:latin typeface="Trebuchet MS"/>
                <a:cs typeface="Trebuchet MS"/>
              </a:rPr>
              <a:t>SEC)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25" dirty="0"/>
              <a:t>Vis</a:t>
            </a:r>
            <a:r>
              <a:rPr spc="-280" dirty="0"/>
              <a:t>i</a:t>
            </a:r>
            <a:r>
              <a:rPr spc="-185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86727" y="3114294"/>
            <a:ext cx="4467860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0" spc="-65" dirty="0">
                <a:solidFill>
                  <a:srgbClr val="3C3C3C"/>
                </a:solidFill>
                <a:latin typeface="Trebuchet MS"/>
                <a:cs typeface="Trebuchet MS"/>
              </a:rPr>
              <a:t>Mi</a:t>
            </a:r>
            <a:r>
              <a:rPr sz="11500" spc="-5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1500" spc="-23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1500" spc="-765" dirty="0">
                <a:solidFill>
                  <a:srgbClr val="3C3C3C"/>
                </a:solidFill>
                <a:latin typeface="Trebuchet MS"/>
                <a:cs typeface="Trebuchet MS"/>
              </a:rPr>
              <a:t>i</a:t>
            </a:r>
            <a:r>
              <a:rPr sz="11500" spc="-180" dirty="0">
                <a:solidFill>
                  <a:srgbClr val="3C3C3C"/>
                </a:solidFill>
                <a:latin typeface="Trebuchet MS"/>
                <a:cs typeface="Trebuchet MS"/>
              </a:rPr>
              <a:t>on</a:t>
            </a:r>
            <a:endParaRPr sz="115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104644"/>
            <a:ext cx="8595360" cy="1047115"/>
          </a:xfrm>
          <a:custGeom>
            <a:avLst/>
            <a:gdLst/>
            <a:ahLst/>
            <a:cxnLst/>
            <a:rect l="l" t="t" r="r" b="b"/>
            <a:pathLst>
              <a:path w="8595360" h="1047114">
                <a:moveTo>
                  <a:pt x="8595360" y="0"/>
                </a:moveTo>
                <a:lnTo>
                  <a:pt x="0" y="0"/>
                </a:lnTo>
                <a:lnTo>
                  <a:pt x="0" y="1046988"/>
                </a:lnTo>
                <a:lnTo>
                  <a:pt x="8595360" y="1046988"/>
                </a:lnTo>
                <a:lnTo>
                  <a:pt x="8595360" y="0"/>
                </a:lnTo>
                <a:close/>
              </a:path>
            </a:pathLst>
          </a:custGeom>
          <a:solidFill>
            <a:srgbClr val="D9D9D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9986" y="2164460"/>
            <a:ext cx="80695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To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become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an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outstanding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undergraduate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Computer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Science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program 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that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produces 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international-minded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graduates 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who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are </a:t>
            </a:r>
            <a:r>
              <a:rPr sz="1800" b="1" spc="10" dirty="0">
                <a:solidFill>
                  <a:srgbClr val="3C3C3C"/>
                </a:solidFill>
                <a:latin typeface="Trebuchet MS"/>
                <a:cs typeface="Trebuchet MS"/>
              </a:rPr>
              <a:t>competent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in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software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engineering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3C3C3C"/>
                </a:solidFill>
                <a:latin typeface="Trebuchet MS"/>
                <a:cs typeface="Trebuchet MS"/>
              </a:rPr>
              <a:t>h</a:t>
            </a:r>
            <a:r>
              <a:rPr sz="1800" spc="-195" dirty="0">
                <a:solidFill>
                  <a:srgbClr val="3C3C3C"/>
                </a:solidFill>
                <a:latin typeface="Trebuchet MS"/>
                <a:cs typeface="Trebuchet MS"/>
              </a:rPr>
              <a:t>a</a:t>
            </a:r>
            <a:r>
              <a:rPr sz="1800" spc="-130" dirty="0">
                <a:solidFill>
                  <a:srgbClr val="3C3C3C"/>
                </a:solidFill>
                <a:latin typeface="Trebuchet MS"/>
                <a:cs typeface="Trebuchet MS"/>
              </a:rPr>
              <a:t>v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e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rebuchet MS"/>
                <a:cs typeface="Trebuchet MS"/>
              </a:rPr>
              <a:t>ent</a:t>
            </a:r>
            <a:r>
              <a:rPr sz="1800" b="1" spc="-4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ep</a:t>
            </a:r>
            <a:r>
              <a:rPr sz="1800" b="1" spc="-50" dirty="0">
                <a:solidFill>
                  <a:srgbClr val="3C3C3C"/>
                </a:solidFill>
                <a:latin typeface="Trebuchet MS"/>
                <a:cs typeface="Trebuchet MS"/>
              </a:rPr>
              <a:t>r</a:t>
            </a:r>
            <a:r>
              <a:rPr sz="1800" b="1" spc="-30" dirty="0">
                <a:solidFill>
                  <a:srgbClr val="3C3C3C"/>
                </a:solidFill>
                <a:latin typeface="Trebuchet MS"/>
                <a:cs typeface="Trebuchet MS"/>
              </a:rPr>
              <a:t>ene</a:t>
            </a:r>
            <a:r>
              <a:rPr sz="1800" b="1" spc="-35" dirty="0">
                <a:solidFill>
                  <a:srgbClr val="3C3C3C"/>
                </a:solidFill>
                <a:latin typeface="Trebuchet MS"/>
                <a:cs typeface="Trebuchet MS"/>
              </a:rPr>
              <a:t>u</a:t>
            </a: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ria</a:t>
            </a:r>
            <a:r>
              <a:rPr sz="1800" b="1" spc="-45" dirty="0">
                <a:solidFill>
                  <a:srgbClr val="3C3C3C"/>
                </a:solidFill>
                <a:latin typeface="Trebuchet MS"/>
                <a:cs typeface="Trebuchet MS"/>
              </a:rPr>
              <a:t>l 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s</a:t>
            </a:r>
            <a:r>
              <a:rPr sz="1800" b="1" spc="-10" dirty="0">
                <a:solidFill>
                  <a:srgbClr val="3C3C3C"/>
                </a:solidFill>
                <a:latin typeface="Trebuchet MS"/>
                <a:cs typeface="Trebuchet MS"/>
              </a:rPr>
              <a:t>p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iri</a:t>
            </a:r>
            <a:r>
              <a:rPr sz="1800" b="1" spc="15" dirty="0">
                <a:solidFill>
                  <a:srgbClr val="3C3C3C"/>
                </a:solidFill>
                <a:latin typeface="Trebuchet MS"/>
                <a:cs typeface="Trebuchet MS"/>
              </a:rPr>
              <a:t>t</a:t>
            </a:r>
            <a:r>
              <a:rPr sz="1800" b="1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3C3C3C"/>
                </a:solidFill>
                <a:latin typeface="Trebuchet MS"/>
                <a:cs typeface="Trebuchet MS"/>
              </a:rPr>
              <a:t>n</a:t>
            </a:r>
            <a:r>
              <a:rPr sz="1800" b="1" spc="20" dirty="0">
                <a:solidFill>
                  <a:srgbClr val="3C3C3C"/>
                </a:solidFill>
                <a:latin typeface="Trebuchet MS"/>
                <a:cs typeface="Trebuchet MS"/>
              </a:rPr>
              <a:t>o</a:t>
            </a:r>
            <a:r>
              <a:rPr sz="1800" b="1" spc="5" dirty="0">
                <a:solidFill>
                  <a:srgbClr val="3C3C3C"/>
                </a:solidFill>
                <a:latin typeface="Trebuchet MS"/>
                <a:cs typeface="Trebuchet MS"/>
              </a:rPr>
              <a:t>b</a:t>
            </a:r>
            <a:r>
              <a:rPr sz="1800" b="1" spc="-45" dirty="0">
                <a:solidFill>
                  <a:srgbClr val="3C3C3C"/>
                </a:solidFill>
                <a:latin typeface="Trebuchet MS"/>
                <a:cs typeface="Trebuchet MS"/>
              </a:rPr>
              <a:t>le </a:t>
            </a:r>
            <a:r>
              <a:rPr sz="1800" b="1" spc="-20" dirty="0">
                <a:solidFill>
                  <a:srgbClr val="3C3C3C"/>
                </a:solidFill>
                <a:latin typeface="Trebuchet MS"/>
                <a:cs typeface="Trebuchet MS"/>
              </a:rPr>
              <a:t>c</a:t>
            </a:r>
            <a:r>
              <a:rPr sz="1800" b="1" spc="-35" dirty="0">
                <a:solidFill>
                  <a:srgbClr val="3C3C3C"/>
                </a:solidFill>
                <a:latin typeface="Trebuchet MS"/>
                <a:cs typeface="Trebuchet MS"/>
              </a:rPr>
              <a:t>h</a:t>
            </a:r>
            <a:r>
              <a:rPr sz="1800" b="1" spc="10" dirty="0">
                <a:solidFill>
                  <a:srgbClr val="3C3C3C"/>
                </a:solidFill>
                <a:latin typeface="Trebuchet MS"/>
                <a:cs typeface="Trebuchet MS"/>
              </a:rPr>
              <a:t>ara</a:t>
            </a:r>
            <a:r>
              <a:rPr sz="1800" b="1" spc="-5" dirty="0">
                <a:solidFill>
                  <a:srgbClr val="3C3C3C"/>
                </a:solidFill>
                <a:latin typeface="Trebuchet MS"/>
                <a:cs typeface="Trebuchet MS"/>
              </a:rPr>
              <a:t>cter</a:t>
            </a:r>
            <a:r>
              <a:rPr sz="1800" spc="-270" dirty="0">
                <a:solidFill>
                  <a:srgbClr val="3C3C3C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81883" y="4785359"/>
            <a:ext cx="9311640" cy="1750060"/>
          </a:xfrm>
          <a:custGeom>
            <a:avLst/>
            <a:gdLst/>
            <a:ahLst/>
            <a:cxnLst/>
            <a:rect l="l" t="t" r="r" b="b"/>
            <a:pathLst>
              <a:path w="9311640" h="1750059">
                <a:moveTo>
                  <a:pt x="9311640" y="0"/>
                </a:moveTo>
                <a:lnTo>
                  <a:pt x="0" y="0"/>
                </a:lnTo>
                <a:lnTo>
                  <a:pt x="0" y="1749552"/>
                </a:lnTo>
                <a:lnTo>
                  <a:pt x="9311640" y="1749552"/>
                </a:lnTo>
                <a:lnTo>
                  <a:pt x="9311640" y="0"/>
                </a:lnTo>
                <a:close/>
              </a:path>
            </a:pathLst>
          </a:custGeom>
          <a:solidFill>
            <a:srgbClr val="D9D9D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61258" y="4858004"/>
            <a:ext cx="8519160" cy="155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conduct</a:t>
            </a:r>
            <a:r>
              <a:rPr sz="1800" spc="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studies</a:t>
            </a:r>
            <a:r>
              <a:rPr sz="1800" spc="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with</a:t>
            </a:r>
            <a:r>
              <a:rPr sz="1800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3C3C3C"/>
                </a:solidFill>
                <a:latin typeface="Trebuchet MS"/>
                <a:cs typeface="Trebuchet MS"/>
              </a:rPr>
              <a:t>the</a:t>
            </a:r>
            <a:r>
              <a:rPr sz="1800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best</a:t>
            </a:r>
            <a:r>
              <a:rPr sz="1800" spc="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technology</a:t>
            </a:r>
            <a:r>
              <a:rPr sz="1800" spc="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1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curriculum,</a:t>
            </a:r>
            <a:r>
              <a:rPr sz="1800" spc="-1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supported</a:t>
            </a:r>
            <a:r>
              <a:rPr sz="1800" spc="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by</a:t>
            </a:r>
            <a:r>
              <a:rPr sz="1800" spc="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professional </a:t>
            </a:r>
            <a:r>
              <a:rPr sz="1800" spc="-5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lecturer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conduct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research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in</a:t>
            </a:r>
            <a:r>
              <a:rPr sz="1800" spc="-4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C3C3C"/>
                </a:solidFill>
                <a:latin typeface="Trebuchet MS"/>
                <a:cs typeface="Trebuchet MS"/>
              </a:rPr>
              <a:t>Informatics</a:t>
            </a:r>
            <a:r>
              <a:rPr sz="1800" spc="-7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5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3C3C3C"/>
                </a:solidFill>
                <a:latin typeface="Trebuchet MS"/>
                <a:cs typeface="Trebuchet MS"/>
              </a:rPr>
              <a:t>promote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science</a:t>
            </a:r>
            <a:r>
              <a:rPr sz="1800" spc="-6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3C3C3C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technology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10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deliver</a:t>
            </a:r>
            <a:r>
              <a:rPr sz="1800" spc="-3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C3C3C"/>
                </a:solidFill>
                <a:latin typeface="Trebuchet MS"/>
                <a:cs typeface="Trebuchet MS"/>
              </a:rPr>
              <a:t>science-and-technology-based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3C3C3C"/>
                </a:solidFill>
                <a:latin typeface="Trebuchet MS"/>
                <a:cs typeface="Trebuchet MS"/>
              </a:rPr>
              <a:t>society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3C3C3C"/>
                </a:solidFill>
                <a:latin typeface="Trebuchet MS"/>
                <a:cs typeface="Trebuchet MS"/>
              </a:rPr>
              <a:t>services</a:t>
            </a:r>
            <a:r>
              <a:rPr sz="1800" spc="-5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3C3C3C"/>
                </a:solidFill>
                <a:latin typeface="Trebuchet MS"/>
                <a:cs typeface="Trebuchet MS"/>
              </a:rPr>
              <a:t>to</a:t>
            </a:r>
            <a:r>
              <a:rPr sz="1800" spc="40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C3C3C"/>
                </a:solidFill>
                <a:latin typeface="Trebuchet MS"/>
                <a:cs typeface="Trebuchet MS"/>
              </a:rPr>
              <a:t>implement</a:t>
            </a:r>
            <a:r>
              <a:rPr sz="1800" spc="-1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3C3C3C"/>
                </a:solidFill>
                <a:latin typeface="Trebuchet MS"/>
                <a:cs typeface="Trebuchet MS"/>
              </a:rPr>
              <a:t>science</a:t>
            </a:r>
            <a:r>
              <a:rPr sz="1800" spc="-25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3C3C3C"/>
                </a:solidFill>
                <a:latin typeface="Trebuchet MS"/>
                <a:cs typeface="Trebuchet MS"/>
              </a:rPr>
              <a:t>and </a:t>
            </a:r>
            <a:r>
              <a:rPr sz="1800" spc="-530" dirty="0">
                <a:solidFill>
                  <a:srgbClr val="3C3C3C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3C3C3C"/>
                </a:solidFill>
                <a:latin typeface="Trebuchet MS"/>
                <a:cs typeface="Trebuchet MS"/>
              </a:rPr>
              <a:t>technology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74530" y="1002791"/>
            <a:ext cx="1277620" cy="2148840"/>
            <a:chOff x="10274530" y="1002791"/>
            <a:chExt cx="1277620" cy="21488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74530" y="1002791"/>
              <a:ext cx="1198418" cy="214884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838688" y="1446275"/>
              <a:ext cx="713740" cy="723900"/>
            </a:xfrm>
            <a:custGeom>
              <a:avLst/>
              <a:gdLst/>
              <a:ahLst/>
              <a:cxnLst/>
              <a:rect l="l" t="t" r="r" b="b"/>
              <a:pathLst>
                <a:path w="713740" h="723900">
                  <a:moveTo>
                    <a:pt x="131064" y="188976"/>
                  </a:moveTo>
                  <a:lnTo>
                    <a:pt x="0" y="188976"/>
                  </a:lnTo>
                  <a:lnTo>
                    <a:pt x="0" y="723900"/>
                  </a:lnTo>
                  <a:lnTo>
                    <a:pt x="131064" y="723900"/>
                  </a:lnTo>
                  <a:lnTo>
                    <a:pt x="131064" y="188976"/>
                  </a:lnTo>
                  <a:close/>
                </a:path>
                <a:path w="713740" h="723900">
                  <a:moveTo>
                    <a:pt x="713232" y="0"/>
                  </a:moveTo>
                  <a:lnTo>
                    <a:pt x="342900" y="0"/>
                  </a:lnTo>
                  <a:lnTo>
                    <a:pt x="213360" y="0"/>
                  </a:lnTo>
                  <a:lnTo>
                    <a:pt x="213360" y="673608"/>
                  </a:lnTo>
                  <a:lnTo>
                    <a:pt x="342900" y="673608"/>
                  </a:lnTo>
                  <a:lnTo>
                    <a:pt x="342900" y="315468"/>
                  </a:lnTo>
                  <a:lnTo>
                    <a:pt x="713232" y="315468"/>
                  </a:lnTo>
                  <a:lnTo>
                    <a:pt x="713232" y="188988"/>
                  </a:lnTo>
                  <a:lnTo>
                    <a:pt x="342900" y="188988"/>
                  </a:lnTo>
                  <a:lnTo>
                    <a:pt x="342900" y="128016"/>
                  </a:lnTo>
                  <a:lnTo>
                    <a:pt x="713232" y="128016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270363" y="2113533"/>
            <a:ext cx="12071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I</a:t>
            </a:r>
            <a:r>
              <a:rPr sz="1100" spc="2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N</a:t>
            </a:r>
            <a:r>
              <a:rPr sz="1100" spc="2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F</a:t>
            </a:r>
            <a:r>
              <a:rPr sz="1100" spc="20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O</a:t>
            </a:r>
            <a:r>
              <a:rPr sz="1100" spc="30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R</a:t>
            </a:r>
            <a:r>
              <a:rPr sz="1100" spc="2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M</a:t>
            </a:r>
            <a:r>
              <a:rPr sz="1100" spc="3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A</a:t>
            </a:r>
            <a:r>
              <a:rPr sz="1100" spc="2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T</a:t>
            </a:r>
            <a:r>
              <a:rPr sz="1100" spc="3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I</a:t>
            </a:r>
            <a:r>
              <a:rPr sz="1100" spc="2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K</a:t>
            </a:r>
            <a:r>
              <a:rPr sz="1100" spc="35" dirty="0">
                <a:solidFill>
                  <a:srgbClr val="003A7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3A75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2093</Words>
  <Application>Microsoft Office PowerPoint</Application>
  <PresentationFormat>Widescreen</PresentationFormat>
  <Paragraphs>313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Calibri</vt:lpstr>
      <vt:lpstr>Cambria</vt:lpstr>
      <vt:lpstr>Consolas</vt:lpstr>
      <vt:lpstr>Times New Roman</vt:lpstr>
      <vt:lpstr>Trebuchet MS</vt:lpstr>
      <vt:lpstr>Wingdings</vt:lpstr>
      <vt:lpstr>Office Theme</vt:lpstr>
      <vt:lpstr>IF351 DATABASE SYSTEMS 07 SELECT STATEMENT 2 &amp; 3</vt:lpstr>
      <vt:lpstr> REVIEW: SELECT STATEMENT 1</vt:lpstr>
      <vt:lpstr> COURSE SUB LEARNING OUTCOMES (SUB-CLO)</vt:lpstr>
      <vt:lpstr> OUTLINE</vt:lpstr>
      <vt:lpstr> GROUP BY CLAUSE</vt:lpstr>
      <vt:lpstr> GROUP BY CLAUSE: GROUP_CONCAT FUNCTION</vt:lpstr>
      <vt:lpstr> GROUP BY CLAUSE</vt:lpstr>
      <vt:lpstr> GROUP BY CLAUSE:WITH ROLLUP</vt:lpstr>
      <vt:lpstr> HAVING CLAUSE</vt:lpstr>
      <vt:lpstr> HAVING CLAUSE</vt:lpstr>
      <vt:lpstr> HAVING CLAUSE</vt:lpstr>
      <vt:lpstr> ORDER BY CLAUSE: SORTING ON COLUMN NAMES</vt:lpstr>
      <vt:lpstr> ORDER BY CLAUSE: SORTING WITH SEQUENCE NUMBERS</vt:lpstr>
      <vt:lpstr> ORDER BY CLAUSE</vt:lpstr>
      <vt:lpstr>PowerPoint Presentation</vt:lpstr>
      <vt:lpstr>PowerPoint Presentation</vt:lpstr>
      <vt:lpstr> LIMIT CLAUSE</vt:lpstr>
      <vt:lpstr> LIMIT CLAUSE: LIMIT WITH AN OFFSET</vt:lpstr>
      <vt:lpstr> LIMIT CLAUSE: LIMIT WITH AN OFFSET</vt:lpstr>
      <vt:lpstr> CASE EXPRESSION</vt:lpstr>
      <vt:lpstr> CASE EXPRESSION</vt:lpstr>
      <vt:lpstr> USER VARIABLE &amp; SET STATEMENT</vt:lpstr>
      <vt:lpstr> SUBQUERY</vt:lpstr>
      <vt:lpstr> SUBQUERY</vt:lpstr>
      <vt:lpstr> SUBQUERY: ALL &amp; ANY OPERATORS</vt:lpstr>
      <vt:lpstr> SUBQUERY: ALL &amp; ANY OPERATORS</vt:lpstr>
      <vt:lpstr> SUBQUERY: ALL &amp; ANY OPERATORS</vt:lpstr>
      <vt:lpstr> SUBQUERY: ALL &amp; ANY OPERATORS</vt:lpstr>
      <vt:lpstr> SUBQUERY: ALL &amp; ANY OPERATORS</vt:lpstr>
      <vt:lpstr> SUBQUERY: ALL &amp; ANY OPERATORS</vt:lpstr>
      <vt:lpstr> SUBQUERY: ALL &amp; ANY OPERATORS</vt:lpstr>
      <vt:lpstr> SUBQUERY: ALL &amp; ANY OPERATORS</vt:lpstr>
      <vt:lpstr> SUBQUERY: ALL &amp; ANY OPERATORS</vt:lpstr>
      <vt:lpstr> SUBQUERY: ALL &amp; ANY OPERATORS</vt:lpstr>
      <vt:lpstr> SUBQUERY: ALL &amp; ANY OPERATORS</vt:lpstr>
      <vt:lpstr>IF351 DATABASE SYSTEMS 07 SELECT STATEMENT 3</vt:lpstr>
      <vt:lpstr> OUTLINE</vt:lpstr>
      <vt:lpstr>PowerPoint Presentation</vt:lpstr>
      <vt:lpstr> MULTIPLE TABLE SPECIFICATIONS IN THE FROM CLAUSE</vt:lpstr>
      <vt:lpstr>MULTIPLE TABLE SPECIFICATIONS IN THE FROM CLAUSE:  PSEUDONYMS FOR TABLE NAMES</vt:lpstr>
      <vt:lpstr> MULTIPLE TABLE SPECIFICATIONS IN THE FROM CLAUSE</vt:lpstr>
      <vt:lpstr> EXPLICIT JOINS IN THE FROM CLAUSE</vt:lpstr>
      <vt:lpstr>PowerPoint Presentation</vt:lpstr>
      <vt:lpstr> EXPLICIT JOINS IN THE FROM CLAUSE</vt:lpstr>
      <vt:lpstr> REPLACING JOIN CONDITIONS WITH USING</vt:lpstr>
      <vt:lpstr> REPLACING JOIN CONDITIONS WITH USING</vt:lpstr>
      <vt:lpstr> NATURAL JOIN</vt:lpstr>
      <vt:lpstr> OUTER JOINS: LEFT OUTER JOIN</vt:lpstr>
      <vt:lpstr>PowerPoint Presentation</vt:lpstr>
      <vt:lpstr> OUTER JOINS: RIGHT OUTER JOIN</vt:lpstr>
      <vt:lpstr>PowerPoint Presentation</vt:lpstr>
      <vt:lpstr> SET OPERATOR: UNION</vt:lpstr>
      <vt:lpstr> SET OPERATOR: UNION ALL</vt:lpstr>
      <vt:lpstr> REFERENCES</vt:lpstr>
      <vt:lpstr>PowerPoint Presentation</vt:lpstr>
      <vt:lpstr>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Security</dc:title>
  <dc:creator>Dennis Gunawan</dc:creator>
  <cp:lastModifiedBy>Vincentius K</cp:lastModifiedBy>
  <cp:revision>2</cp:revision>
  <dcterms:created xsi:type="dcterms:W3CDTF">2023-10-02T23:22:39Z</dcterms:created>
  <dcterms:modified xsi:type="dcterms:W3CDTF">2025-08-22T08:22:07Z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2021-08-09T00:00:00Z</vt:filetime>
  </property>
  <property fmtid="{D5CDD505-2E9C-101B-9397-08002B2CF9AE}" pid="3" name="Creator">
    <vt:lpwstr>Foxit Software Inc.</vt:lpwstr>
  </property>
  <property fmtid="{D5CDD505-2E9C-101B-9397-08002B2CF9AE}" pid="4" name="LastSaved">
    <vt:filetime>2023-10-02T00:00:00Z</vt:filetime>
  </property>
</Properties>
</file>